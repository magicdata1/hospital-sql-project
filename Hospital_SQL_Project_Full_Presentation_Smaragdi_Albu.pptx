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4"/>
  </p:sldMasterIdLst>
  <p:notesMasterIdLst>
    <p:notesMasterId r:id="rId3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 id="2586" r:id="rId30"/>
    <p:sldId id="2587"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spital Management SQL Project: Schema Build and Analytics" id="{9953892C-6717-4CA3-95BC-37154CA2E080}">
          <p14:sldIdLst>
            <p14:sldId id="2561"/>
          </p14:sldIdLst>
        </p14:section>
        <p14:section name="Data Definition &amp; Schema Setup" id="{A9625DEC-0F2B-4ED8-8D2C-EF51167C7DC4}">
          <p14:sldIdLst>
            <p14:sldId id="2562"/>
            <p14:sldId id="2563"/>
            <p14:sldId id="2564"/>
            <p14:sldId id="2565"/>
          </p14:sldIdLst>
        </p14:section>
        <p14:section name="Data Standardization &amp; Cleaning" id="{AC4A9110-B9DF-41C3-831E-F80E843F0784}">
          <p14:sldIdLst>
            <p14:sldId id="2566"/>
            <p14:sldId id="2567"/>
            <p14:sldId id="2568"/>
          </p14:sldIdLst>
        </p14:section>
        <p14:section name="Data Transformation" id="{5F306A36-6F62-432F-B92F-12C414DC5795}">
          <p14:sldIdLst>
            <p14:sldId id="2569"/>
            <p14:sldId id="2570"/>
          </p14:sldIdLst>
        </p14:section>
        <p14:section name="Operational Efficiency &amp; Hospital Performance" id="{E37F0E30-A259-4738-9F91-8E844A7ED406}">
          <p14:sldIdLst>
            <p14:sldId id="2571"/>
            <p14:sldId id="2572"/>
            <p14:sldId id="2573"/>
            <p14:sldId id="2574"/>
            <p14:sldId id="2575"/>
          </p14:sldIdLst>
        </p14:section>
        <p14:section name="Financial &amp; Insurance Performance" id="{F108E345-6A15-4F4D-A6B5-2F2D47E1F690}">
          <p14:sldIdLst>
            <p14:sldId id="2576"/>
            <p14:sldId id="2577"/>
            <p14:sldId id="2578"/>
            <p14:sldId id="2579"/>
          </p14:sldIdLst>
        </p14:section>
        <p14:section name="Patient &amp; Clinical Insights" id="{D0965C15-F132-49E8-8B16-0FE6C51A2B7C}">
          <p14:sldIdLst>
            <p14:sldId id="2580"/>
            <p14:sldId id="2581"/>
            <p14:sldId id="2582"/>
            <p14:sldId id="2583"/>
          </p14:sldIdLst>
        </p14:section>
        <p14:section name="Strategic Planning &amp; Quality Control" id="{D9337107-7E82-4FF3-B671-0EF652EBD803}">
          <p14:sldIdLst>
            <p14:sldId id="2584"/>
            <p14:sldId id="2585"/>
            <p14:sldId id="2586"/>
            <p14:sldId id="25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E6F8AD-AABE-48F2-BABD-2BCC75952EA8}" v="25" dt="2025-12-19T16:16:13.5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88862" autoAdjust="0"/>
  </p:normalViewPr>
  <p:slideViewPr>
    <p:cSldViewPr>
      <p:cViewPr varScale="1">
        <p:scale>
          <a:sx n="98" d="100"/>
          <a:sy n="98" d="100"/>
        </p:scale>
        <p:origin x="78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_rels/data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diagrams/_rels/data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20.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jpe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096F05-129C-4007-987E-D45DFBFA3B34}" type="doc">
      <dgm:prSet loTypeId="urn:microsoft.com/office/officeart/2024/3/layout/verticalVisualTextBlock1" loCatId="Picture" qsTypeId="urn:microsoft.com/office/officeart/2005/8/quickstyle/simple4" qsCatId="simple" csTypeId="urn:microsoft.com/office/officeart/2005/8/colors/accent3_2" csCatId="accent3" phldr="1"/>
      <dgm:spPr/>
      <dgm:t>
        <a:bodyPr/>
        <a:lstStyle/>
        <a:p>
          <a:endParaRPr lang="en-US"/>
        </a:p>
      </dgm:t>
    </dgm:pt>
    <dgm:pt modelId="{9F7B314C-FCB8-4E0F-84B4-81410E9D0604}">
      <dgm:prSet/>
      <dgm:spPr/>
      <dgm:t>
        <a:bodyPr/>
        <a:lstStyle/>
        <a:p>
          <a:pPr>
            <a:defRPr b="1"/>
          </a:pPr>
          <a:r>
            <a:rPr lang="en-US">
              <a:solidFill>
                <a:schemeClr val="bg1"/>
              </a:solidFill>
              <a:latin typeface="Arial" panose="020B0604020202020204" pitchFamily="34" charset="0"/>
              <a:cs typeface="Arial" panose="020B0604020202020204" pitchFamily="34" charset="0"/>
            </a:rPr>
            <a:t>Operational Efficiency Impact</a:t>
          </a:r>
        </a:p>
      </dgm:t>
    </dgm:pt>
    <dgm:pt modelId="{CA661D2B-D0B1-4F4D-BAE3-A4769385DDCB}" type="parTrans" cxnId="{BAF5F0DA-2A80-4C1E-8414-14F88BC21077}">
      <dgm:prSet/>
      <dgm:spPr/>
      <dgm:t>
        <a:bodyPr/>
        <a:lstStyle/>
        <a:p>
          <a:endParaRPr lang="en-US">
            <a:solidFill>
              <a:schemeClr val="bg1"/>
            </a:solidFill>
          </a:endParaRPr>
        </a:p>
      </dgm:t>
    </dgm:pt>
    <dgm:pt modelId="{1259403E-0CD9-4E4E-A229-41B4EBC6A7A7}" type="sibTrans" cxnId="{BAF5F0DA-2A80-4C1E-8414-14F88BC21077}">
      <dgm:prSet/>
      <dgm:spPr/>
      <dgm:t>
        <a:bodyPr/>
        <a:lstStyle/>
        <a:p>
          <a:pPr>
            <a:defRPr b="1"/>
          </a:pPr>
          <a:endParaRPr lang="en-US">
            <a:solidFill>
              <a:schemeClr val="bg1"/>
            </a:solidFill>
          </a:endParaRPr>
        </a:p>
      </dgm:t>
    </dgm:pt>
    <dgm:pt modelId="{06F29A0B-1F4A-4292-9A1D-15B73E512B87}">
      <dgm:prSet/>
      <dgm:spPr/>
      <dgm:t>
        <a:bodyPr/>
        <a:lstStyle/>
        <a:p>
          <a:r>
            <a:rPr lang="en-US">
              <a:solidFill>
                <a:schemeClr val="bg1"/>
              </a:solidFill>
              <a:latin typeface="Arial" panose="020B0604020202020204" pitchFamily="34" charset="0"/>
              <a:cs typeface="Arial" panose="020B0604020202020204" pitchFamily="34" charset="0"/>
            </a:rPr>
            <a:t>No-shows and cancellations disrupt hospital operations and reduce efficiency in patient scheduling and resource allocation.</a:t>
          </a:r>
        </a:p>
      </dgm:t>
    </dgm:pt>
    <dgm:pt modelId="{BD5810E3-3DD3-4286-BF03-8BE521CFC341}" type="parTrans" cxnId="{8DAF8D87-D90E-4544-A669-5C20003B349E}">
      <dgm:prSet/>
      <dgm:spPr/>
      <dgm:t>
        <a:bodyPr/>
        <a:lstStyle/>
        <a:p>
          <a:endParaRPr lang="en-US">
            <a:solidFill>
              <a:schemeClr val="bg1"/>
            </a:solidFill>
          </a:endParaRPr>
        </a:p>
      </dgm:t>
    </dgm:pt>
    <dgm:pt modelId="{BE67ABBC-79AE-4F3B-8486-B8259DFB008D}" type="sibTrans" cxnId="{8DAF8D87-D90E-4544-A669-5C20003B349E}">
      <dgm:prSet/>
      <dgm:spPr/>
      <dgm:t>
        <a:bodyPr/>
        <a:lstStyle/>
        <a:p>
          <a:endParaRPr lang="en-US">
            <a:solidFill>
              <a:schemeClr val="bg1"/>
            </a:solidFill>
          </a:endParaRPr>
        </a:p>
      </dgm:t>
    </dgm:pt>
    <dgm:pt modelId="{3ED99003-2935-4E56-8C84-D8DF6B145B9A}">
      <dgm:prSet/>
      <dgm:spPr/>
      <dgm:t>
        <a:bodyPr/>
        <a:lstStyle/>
        <a:p>
          <a:pPr>
            <a:defRPr b="1"/>
          </a:pPr>
          <a:r>
            <a:rPr lang="en-US">
              <a:solidFill>
                <a:schemeClr val="bg1"/>
              </a:solidFill>
              <a:latin typeface="Arial" panose="020B0604020202020204" pitchFamily="34" charset="0"/>
              <a:cs typeface="Arial" panose="020B0604020202020204" pitchFamily="34" charset="0"/>
            </a:rPr>
            <a:t>Quantifying Missed Appointments</a:t>
          </a:r>
        </a:p>
      </dgm:t>
    </dgm:pt>
    <dgm:pt modelId="{080D572A-AD37-4754-BFEB-785AAA673F4B}" type="parTrans" cxnId="{4AF4C37F-E3B9-4044-AEAD-45E0F111E331}">
      <dgm:prSet/>
      <dgm:spPr/>
      <dgm:t>
        <a:bodyPr/>
        <a:lstStyle/>
        <a:p>
          <a:endParaRPr lang="en-US">
            <a:solidFill>
              <a:schemeClr val="bg1"/>
            </a:solidFill>
          </a:endParaRPr>
        </a:p>
      </dgm:t>
    </dgm:pt>
    <dgm:pt modelId="{DFFC9568-02AE-4E12-88C7-81B1E2CCBA6D}" type="sibTrans" cxnId="{4AF4C37F-E3B9-4044-AEAD-45E0F111E331}">
      <dgm:prSet/>
      <dgm:spPr/>
      <dgm:t>
        <a:bodyPr/>
        <a:lstStyle/>
        <a:p>
          <a:pPr>
            <a:defRPr b="1"/>
          </a:pPr>
          <a:endParaRPr lang="en-US">
            <a:solidFill>
              <a:schemeClr val="bg1"/>
            </a:solidFill>
          </a:endParaRPr>
        </a:p>
      </dgm:t>
    </dgm:pt>
    <dgm:pt modelId="{503D419E-0082-428F-B946-5CE77857C495}">
      <dgm:prSet/>
      <dgm:spPr/>
      <dgm:t>
        <a:bodyPr/>
        <a:lstStyle/>
        <a:p>
          <a:r>
            <a:rPr lang="en-US">
              <a:solidFill>
                <a:schemeClr val="bg1"/>
              </a:solidFill>
              <a:latin typeface="Arial" panose="020B0604020202020204" pitchFamily="34" charset="0"/>
              <a:cs typeface="Arial" panose="020B0604020202020204" pitchFamily="34" charset="0"/>
            </a:rPr>
            <a:t>Analyzing missed appointments per physician helps identify problem areas for targeted intervention and improvement.</a:t>
          </a:r>
        </a:p>
      </dgm:t>
    </dgm:pt>
    <dgm:pt modelId="{203284E8-7743-4965-B0B5-B8ADA799F2F4}" type="parTrans" cxnId="{EE303B48-818B-49B5-AD4D-F719066447B7}">
      <dgm:prSet/>
      <dgm:spPr/>
      <dgm:t>
        <a:bodyPr/>
        <a:lstStyle/>
        <a:p>
          <a:endParaRPr lang="en-US">
            <a:solidFill>
              <a:schemeClr val="bg1"/>
            </a:solidFill>
          </a:endParaRPr>
        </a:p>
      </dgm:t>
    </dgm:pt>
    <dgm:pt modelId="{A130FAC5-17DB-4395-A75D-50C723D47985}" type="sibTrans" cxnId="{EE303B48-818B-49B5-AD4D-F719066447B7}">
      <dgm:prSet/>
      <dgm:spPr/>
      <dgm:t>
        <a:bodyPr/>
        <a:lstStyle/>
        <a:p>
          <a:endParaRPr lang="en-US">
            <a:solidFill>
              <a:schemeClr val="bg1"/>
            </a:solidFill>
          </a:endParaRPr>
        </a:p>
      </dgm:t>
    </dgm:pt>
    <dgm:pt modelId="{7719BDE4-496D-4691-8E2C-86F717107FA0}">
      <dgm:prSet/>
      <dgm:spPr/>
      <dgm:t>
        <a:bodyPr/>
        <a:lstStyle/>
        <a:p>
          <a:pPr>
            <a:defRPr b="1"/>
          </a:pPr>
          <a:r>
            <a:rPr lang="en-US">
              <a:solidFill>
                <a:schemeClr val="bg1"/>
              </a:solidFill>
              <a:latin typeface="Arial" panose="020B0604020202020204" pitchFamily="34" charset="0"/>
              <a:cs typeface="Arial" panose="020B0604020202020204" pitchFamily="34" charset="0"/>
            </a:rPr>
            <a:t>Improving Financial Performance</a:t>
          </a:r>
        </a:p>
      </dgm:t>
    </dgm:pt>
    <dgm:pt modelId="{8B13C8C6-46F5-4920-90C9-34AAD0EE25EB}" type="parTrans" cxnId="{E910CD59-2728-46A3-8FB1-DEF3050F7127}">
      <dgm:prSet/>
      <dgm:spPr/>
      <dgm:t>
        <a:bodyPr/>
        <a:lstStyle/>
        <a:p>
          <a:endParaRPr lang="en-US">
            <a:solidFill>
              <a:schemeClr val="bg1"/>
            </a:solidFill>
          </a:endParaRPr>
        </a:p>
      </dgm:t>
    </dgm:pt>
    <dgm:pt modelId="{97D248FA-2CAB-4367-AA17-6AB3BE436450}" type="sibTrans" cxnId="{E910CD59-2728-46A3-8FB1-DEF3050F7127}">
      <dgm:prSet/>
      <dgm:spPr/>
      <dgm:t>
        <a:bodyPr/>
        <a:lstStyle/>
        <a:p>
          <a:endParaRPr lang="en-US">
            <a:solidFill>
              <a:schemeClr val="bg1"/>
            </a:solidFill>
          </a:endParaRPr>
        </a:p>
      </dgm:t>
    </dgm:pt>
    <dgm:pt modelId="{4242C388-6C2A-48F4-8F68-CA5FF46F25A4}">
      <dgm:prSet/>
      <dgm:spPr/>
      <dgm:t>
        <a:bodyPr/>
        <a:lstStyle/>
        <a:p>
          <a:r>
            <a:rPr lang="en-US">
              <a:solidFill>
                <a:schemeClr val="bg1"/>
              </a:solidFill>
              <a:latin typeface="Arial" panose="020B0604020202020204" pitchFamily="34" charset="0"/>
              <a:cs typeface="Arial" panose="020B0604020202020204" pitchFamily="34" charset="0"/>
            </a:rPr>
            <a:t>Reducing no-shows through reminders or overbooking optimizes resource use and boosts hospital revenue.</a:t>
          </a:r>
        </a:p>
      </dgm:t>
    </dgm:pt>
    <dgm:pt modelId="{DCB855BE-92BE-4361-8750-44631076DFC9}" type="parTrans" cxnId="{153BB679-23D3-48CF-ABDA-56F9305A2472}">
      <dgm:prSet/>
      <dgm:spPr/>
      <dgm:t>
        <a:bodyPr/>
        <a:lstStyle/>
        <a:p>
          <a:endParaRPr lang="en-US">
            <a:solidFill>
              <a:schemeClr val="bg1"/>
            </a:solidFill>
          </a:endParaRPr>
        </a:p>
      </dgm:t>
    </dgm:pt>
    <dgm:pt modelId="{E1D3D30D-CBF8-422E-81BC-9533C2ECFD7E}" type="sibTrans" cxnId="{153BB679-23D3-48CF-ABDA-56F9305A2472}">
      <dgm:prSet/>
      <dgm:spPr/>
      <dgm:t>
        <a:bodyPr/>
        <a:lstStyle/>
        <a:p>
          <a:endParaRPr lang="en-US">
            <a:solidFill>
              <a:schemeClr val="bg1"/>
            </a:solidFill>
          </a:endParaRPr>
        </a:p>
      </dgm:t>
    </dgm:pt>
    <dgm:pt modelId="{FE999594-6E7A-47BC-89EF-2A8F66D379F3}" type="pres">
      <dgm:prSet presAssocID="{71096F05-129C-4007-987E-D45DFBFA3B34}" presName="Root" presStyleCnt="0">
        <dgm:presLayoutVars>
          <dgm:dir/>
          <dgm:resizeHandles val="exact"/>
        </dgm:presLayoutVars>
      </dgm:prSet>
      <dgm:spPr/>
    </dgm:pt>
    <dgm:pt modelId="{AD669C23-C472-4C5E-8023-9ED8DF108177}" type="pres">
      <dgm:prSet presAssocID="{9F7B314C-FCB8-4E0F-84B4-81410E9D0604}" presName="Composite" presStyleCnt="0"/>
      <dgm:spPr/>
    </dgm:pt>
    <dgm:pt modelId="{998AAEC4-F702-4796-8F63-8B8E4D3BB57B}" type="pres">
      <dgm:prSet presAssocID="{9F7B314C-FCB8-4E0F-84B4-81410E9D0604}"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1596" r="21653" b="-2"/>
          <a:stretch>
            <a:fillRect l="-25000" r="-25000"/>
          </a:stretch>
        </a:blipFill>
      </dgm:spPr>
      <dgm:extLst>
        <a:ext uri="{E40237B7-FDA0-4F09-8148-C483321AD2D9}">
          <dgm14:cNvPr xmlns:dgm14="http://schemas.microsoft.com/office/drawing/2010/diagram" id="0" name="" descr="Waiting room in a hospital with comfortable chairs.  There are no people in the picture that was taken with a Canon 5D Mark 3 camera.  rm"/>
        </a:ext>
      </dgm:extLst>
    </dgm:pt>
    <dgm:pt modelId="{7C6DA639-2356-48A1-AF19-92441905DD8F}" type="pres">
      <dgm:prSet presAssocID="{9F7B314C-FCB8-4E0F-84B4-81410E9D0604}" presName="Subtitle" presStyleLbl="revTx" presStyleIdx="0" presStyleCnt="6">
        <dgm:presLayoutVars>
          <dgm:chMax val="0"/>
          <dgm:bulletEnabled/>
        </dgm:presLayoutVars>
      </dgm:prSet>
      <dgm:spPr/>
    </dgm:pt>
    <dgm:pt modelId="{63E968E8-8F25-474A-A9CC-946B32411510}" type="pres">
      <dgm:prSet presAssocID="{9F7B314C-FCB8-4E0F-84B4-81410E9D0604}" presName="Description" presStyleLbl="revTx" presStyleIdx="1" presStyleCnt="6">
        <dgm:presLayoutVars>
          <dgm:bulletEnabled/>
        </dgm:presLayoutVars>
      </dgm:prSet>
      <dgm:spPr/>
    </dgm:pt>
    <dgm:pt modelId="{AC5033D8-B5E2-4C25-85DB-95458F785369}" type="pres">
      <dgm:prSet presAssocID="{1259403E-0CD9-4E4E-A229-41B4EBC6A7A7}" presName="sibTrans" presStyleLbl="sibTrans2D1" presStyleIdx="0" presStyleCnt="0"/>
      <dgm:spPr/>
    </dgm:pt>
    <dgm:pt modelId="{E3030647-7CE4-4671-9E5E-5AC40F68FA33}" type="pres">
      <dgm:prSet presAssocID="{3ED99003-2935-4E56-8C84-D8DF6B145B9A}" presName="Composite" presStyleCnt="0"/>
      <dgm:spPr/>
    </dgm:pt>
    <dgm:pt modelId="{65E191C7-9B67-4A9E-9BEC-C19FD98A05EA}" type="pres">
      <dgm:prSet presAssocID="{3ED99003-2935-4E56-8C84-D8DF6B145B9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6716" r="20779" b="-8"/>
          <a:stretch>
            <a:fillRect l="-30000" r="-30000"/>
          </a:stretch>
        </a:blipFill>
      </dgm:spPr>
      <dgm:extLst>
        <a:ext uri="{E40237B7-FDA0-4F09-8148-C483321AD2D9}">
          <dgm14:cNvPr xmlns:dgm14="http://schemas.microsoft.com/office/drawing/2010/diagram" id="0" name="" descr="Stethoscope on the printed report"/>
        </a:ext>
      </dgm:extLst>
    </dgm:pt>
    <dgm:pt modelId="{2E27031C-71F4-44F2-BB9F-CBEF83C681ED}" type="pres">
      <dgm:prSet presAssocID="{3ED99003-2935-4E56-8C84-D8DF6B145B9A}" presName="Subtitle" presStyleLbl="revTx" presStyleIdx="2" presStyleCnt="6">
        <dgm:presLayoutVars>
          <dgm:chMax val="0"/>
          <dgm:bulletEnabled/>
        </dgm:presLayoutVars>
      </dgm:prSet>
      <dgm:spPr/>
    </dgm:pt>
    <dgm:pt modelId="{495AE440-77B0-4130-BFE4-A9C50003C485}" type="pres">
      <dgm:prSet presAssocID="{3ED99003-2935-4E56-8C84-D8DF6B145B9A}" presName="Description" presStyleLbl="revTx" presStyleIdx="3" presStyleCnt="6">
        <dgm:presLayoutVars>
          <dgm:bulletEnabled/>
        </dgm:presLayoutVars>
      </dgm:prSet>
      <dgm:spPr/>
    </dgm:pt>
    <dgm:pt modelId="{C9358128-22DF-40FC-B38C-B939EA10AD33}" type="pres">
      <dgm:prSet presAssocID="{DFFC9568-02AE-4E12-88C7-81B1E2CCBA6D}" presName="sibTrans" presStyleLbl="sibTrans2D1" presStyleIdx="0" presStyleCnt="0"/>
      <dgm:spPr/>
    </dgm:pt>
    <dgm:pt modelId="{0FAF0E3A-A68B-4D84-8F15-9D2EC204BBC4}" type="pres">
      <dgm:prSet presAssocID="{7719BDE4-496D-4691-8E2C-86F717107FA0}" presName="Composite" presStyleCnt="0"/>
      <dgm:spPr/>
    </dgm:pt>
    <dgm:pt modelId="{B9F2E7B2-0F7E-4757-A566-1C0A9A47B376}" type="pres">
      <dgm:prSet presAssocID="{7719BDE4-496D-4691-8E2C-86F717107FA0}"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0824" r="12424" b="-2"/>
          <a:stretch>
            <a:fillRect l="-25000" r="-25000"/>
          </a:stretch>
        </a:blipFill>
      </dgm:spPr>
      <dgm:extLst>
        <a:ext uri="{E40237B7-FDA0-4F09-8148-C483321AD2D9}">
          <dgm14:cNvPr xmlns:dgm14="http://schemas.microsoft.com/office/drawing/2010/diagram" id="0" name="" descr="Business Working"/>
        </a:ext>
      </dgm:extLst>
    </dgm:pt>
    <dgm:pt modelId="{3AC492A7-4709-41D0-AF4F-F6C2F5B5AA38}" type="pres">
      <dgm:prSet presAssocID="{7719BDE4-496D-4691-8E2C-86F717107FA0}" presName="Subtitle" presStyleLbl="revTx" presStyleIdx="4" presStyleCnt="6">
        <dgm:presLayoutVars>
          <dgm:chMax val="0"/>
          <dgm:bulletEnabled/>
        </dgm:presLayoutVars>
      </dgm:prSet>
      <dgm:spPr/>
    </dgm:pt>
    <dgm:pt modelId="{BCCCEC0D-0E53-4602-8EFF-3346DBA5C127}" type="pres">
      <dgm:prSet presAssocID="{7719BDE4-496D-4691-8E2C-86F717107FA0}" presName="Description" presStyleLbl="revTx" presStyleIdx="5" presStyleCnt="6">
        <dgm:presLayoutVars>
          <dgm:bulletEnabled/>
        </dgm:presLayoutVars>
      </dgm:prSet>
      <dgm:spPr/>
    </dgm:pt>
  </dgm:ptLst>
  <dgm:cxnLst>
    <dgm:cxn modelId="{35BB4329-D4B8-4874-8456-B7DF09B6447E}" type="presOf" srcId="{503D419E-0082-428F-B946-5CE77857C495}" destId="{495AE440-77B0-4130-BFE4-A9C50003C485}" srcOrd="0" destOrd="0" presId="urn:microsoft.com/office/officeart/2024/3/layout/verticalVisualTextBlock1"/>
    <dgm:cxn modelId="{BBFAE934-6A73-43A9-8FA8-F73E25DD4E30}" type="presOf" srcId="{3ED99003-2935-4E56-8C84-D8DF6B145B9A}" destId="{2E27031C-71F4-44F2-BB9F-CBEF83C681ED}" srcOrd="0" destOrd="0" presId="urn:microsoft.com/office/officeart/2024/3/layout/verticalVisualTextBlock1"/>
    <dgm:cxn modelId="{43B94C5D-3A1B-4331-BB4C-AD634F98F760}" type="presOf" srcId="{71096F05-129C-4007-987E-D45DFBFA3B34}" destId="{FE999594-6E7A-47BC-89EF-2A8F66D379F3}" srcOrd="0" destOrd="0" presId="urn:microsoft.com/office/officeart/2024/3/layout/verticalVisualTextBlock1"/>
    <dgm:cxn modelId="{EE303B48-818B-49B5-AD4D-F719066447B7}" srcId="{3ED99003-2935-4E56-8C84-D8DF6B145B9A}" destId="{503D419E-0082-428F-B946-5CE77857C495}" srcOrd="0" destOrd="0" parTransId="{203284E8-7743-4965-B0B5-B8ADA799F2F4}" sibTransId="{A130FAC5-17DB-4395-A75D-50C723D47985}"/>
    <dgm:cxn modelId="{153BB679-23D3-48CF-ABDA-56F9305A2472}" srcId="{7719BDE4-496D-4691-8E2C-86F717107FA0}" destId="{4242C388-6C2A-48F4-8F68-CA5FF46F25A4}" srcOrd="0" destOrd="0" parTransId="{DCB855BE-92BE-4361-8750-44631076DFC9}" sibTransId="{E1D3D30D-CBF8-422E-81BC-9533C2ECFD7E}"/>
    <dgm:cxn modelId="{E910CD59-2728-46A3-8FB1-DEF3050F7127}" srcId="{71096F05-129C-4007-987E-D45DFBFA3B34}" destId="{7719BDE4-496D-4691-8E2C-86F717107FA0}" srcOrd="2" destOrd="0" parTransId="{8B13C8C6-46F5-4920-90C9-34AAD0EE25EB}" sibTransId="{97D248FA-2CAB-4367-AA17-6AB3BE436450}"/>
    <dgm:cxn modelId="{4AF4C37F-E3B9-4044-AEAD-45E0F111E331}" srcId="{71096F05-129C-4007-987E-D45DFBFA3B34}" destId="{3ED99003-2935-4E56-8C84-D8DF6B145B9A}" srcOrd="1" destOrd="0" parTransId="{080D572A-AD37-4754-BFEB-785AAA673F4B}" sibTransId="{DFFC9568-02AE-4E12-88C7-81B1E2CCBA6D}"/>
    <dgm:cxn modelId="{8DAF8D87-D90E-4544-A669-5C20003B349E}" srcId="{9F7B314C-FCB8-4E0F-84B4-81410E9D0604}" destId="{06F29A0B-1F4A-4292-9A1D-15B73E512B87}" srcOrd="0" destOrd="0" parTransId="{BD5810E3-3DD3-4286-BF03-8BE521CFC341}" sibTransId="{BE67ABBC-79AE-4F3B-8486-B8259DFB008D}"/>
    <dgm:cxn modelId="{72891196-18E0-474B-B9D2-039681538728}" type="presOf" srcId="{06F29A0B-1F4A-4292-9A1D-15B73E512B87}" destId="{63E968E8-8F25-474A-A9CC-946B32411510}" srcOrd="0" destOrd="0" presId="urn:microsoft.com/office/officeart/2024/3/layout/verticalVisualTextBlock1"/>
    <dgm:cxn modelId="{51A31E9C-17DE-4756-BFE1-DEED9E5C9E6C}" type="presOf" srcId="{1259403E-0CD9-4E4E-A229-41B4EBC6A7A7}" destId="{AC5033D8-B5E2-4C25-85DB-95458F785369}" srcOrd="0" destOrd="0" presId="urn:microsoft.com/office/officeart/2024/3/layout/verticalVisualTextBlock1"/>
    <dgm:cxn modelId="{FD89159D-E5F5-4DE7-BAA3-034FD33DE529}" type="presOf" srcId="{4242C388-6C2A-48F4-8F68-CA5FF46F25A4}" destId="{BCCCEC0D-0E53-4602-8EFF-3346DBA5C127}" srcOrd="0" destOrd="0" presId="urn:microsoft.com/office/officeart/2024/3/layout/verticalVisualTextBlock1"/>
    <dgm:cxn modelId="{7DD6FBA8-7AC0-4422-B171-1618DA9ED09B}" type="presOf" srcId="{7719BDE4-496D-4691-8E2C-86F717107FA0}" destId="{3AC492A7-4709-41D0-AF4F-F6C2F5B5AA38}" srcOrd="0" destOrd="0" presId="urn:microsoft.com/office/officeart/2024/3/layout/verticalVisualTextBlock1"/>
    <dgm:cxn modelId="{B226A7C3-E0BB-4C44-BFA8-F3E69032425F}" type="presOf" srcId="{DFFC9568-02AE-4E12-88C7-81B1E2CCBA6D}" destId="{C9358128-22DF-40FC-B38C-B939EA10AD33}" srcOrd="0" destOrd="0" presId="urn:microsoft.com/office/officeart/2024/3/layout/verticalVisualTextBlock1"/>
    <dgm:cxn modelId="{679004D6-A099-4B59-8C2F-EE1E73ABF8CC}" type="presOf" srcId="{9F7B314C-FCB8-4E0F-84B4-81410E9D0604}" destId="{7C6DA639-2356-48A1-AF19-92441905DD8F}" srcOrd="0" destOrd="0" presId="urn:microsoft.com/office/officeart/2024/3/layout/verticalVisualTextBlock1"/>
    <dgm:cxn modelId="{BAF5F0DA-2A80-4C1E-8414-14F88BC21077}" srcId="{71096F05-129C-4007-987E-D45DFBFA3B34}" destId="{9F7B314C-FCB8-4E0F-84B4-81410E9D0604}" srcOrd="0" destOrd="0" parTransId="{CA661D2B-D0B1-4F4D-BAE3-A4769385DDCB}" sibTransId="{1259403E-0CD9-4E4E-A229-41B4EBC6A7A7}"/>
    <dgm:cxn modelId="{EAB2A011-3BD9-42FC-A298-D847D439A08C}" type="presParOf" srcId="{FE999594-6E7A-47BC-89EF-2A8F66D379F3}" destId="{AD669C23-C472-4C5E-8023-9ED8DF108177}" srcOrd="0" destOrd="0" presId="urn:microsoft.com/office/officeart/2024/3/layout/verticalVisualTextBlock1"/>
    <dgm:cxn modelId="{E685C0D8-9C5D-4260-813F-843D4E2BE1E8}" type="presParOf" srcId="{AD669C23-C472-4C5E-8023-9ED8DF108177}" destId="{998AAEC4-F702-4796-8F63-8B8E4D3BB57B}" srcOrd="0" destOrd="0" presId="urn:microsoft.com/office/officeart/2024/3/layout/verticalVisualTextBlock1"/>
    <dgm:cxn modelId="{D7AA3501-CABD-42DA-926B-771C5A1A1E0A}" type="presParOf" srcId="{AD669C23-C472-4C5E-8023-9ED8DF108177}" destId="{7C6DA639-2356-48A1-AF19-92441905DD8F}" srcOrd="1" destOrd="0" presId="urn:microsoft.com/office/officeart/2024/3/layout/verticalVisualTextBlock1"/>
    <dgm:cxn modelId="{968773C8-94E3-4502-9C32-3A513F7F9150}" type="presParOf" srcId="{AD669C23-C472-4C5E-8023-9ED8DF108177}" destId="{63E968E8-8F25-474A-A9CC-946B32411510}" srcOrd="2" destOrd="0" presId="urn:microsoft.com/office/officeart/2024/3/layout/verticalVisualTextBlock1"/>
    <dgm:cxn modelId="{5DC0B06F-F031-49FC-A8E0-1C0C22F40546}" type="presParOf" srcId="{FE999594-6E7A-47BC-89EF-2A8F66D379F3}" destId="{AC5033D8-B5E2-4C25-85DB-95458F785369}" srcOrd="1" destOrd="0" presId="urn:microsoft.com/office/officeart/2024/3/layout/verticalVisualTextBlock1"/>
    <dgm:cxn modelId="{6F92A40D-5406-443B-9EEC-290177FF25C2}" type="presParOf" srcId="{FE999594-6E7A-47BC-89EF-2A8F66D379F3}" destId="{E3030647-7CE4-4671-9E5E-5AC40F68FA33}" srcOrd="2" destOrd="0" presId="urn:microsoft.com/office/officeart/2024/3/layout/verticalVisualTextBlock1"/>
    <dgm:cxn modelId="{AF2E0E9C-ECE8-451E-BDCF-DFEB04F463B5}" type="presParOf" srcId="{E3030647-7CE4-4671-9E5E-5AC40F68FA33}" destId="{65E191C7-9B67-4A9E-9BEC-C19FD98A05EA}" srcOrd="0" destOrd="0" presId="urn:microsoft.com/office/officeart/2024/3/layout/verticalVisualTextBlock1"/>
    <dgm:cxn modelId="{144EBB8E-7158-4028-8994-89839887421B}" type="presParOf" srcId="{E3030647-7CE4-4671-9E5E-5AC40F68FA33}" destId="{2E27031C-71F4-44F2-BB9F-CBEF83C681ED}" srcOrd="1" destOrd="0" presId="urn:microsoft.com/office/officeart/2024/3/layout/verticalVisualTextBlock1"/>
    <dgm:cxn modelId="{7F898D04-74A0-485C-ABA1-37CDC3BB0717}" type="presParOf" srcId="{E3030647-7CE4-4671-9E5E-5AC40F68FA33}" destId="{495AE440-77B0-4130-BFE4-A9C50003C485}" srcOrd="2" destOrd="0" presId="urn:microsoft.com/office/officeart/2024/3/layout/verticalVisualTextBlock1"/>
    <dgm:cxn modelId="{8760DBF8-0708-4E27-B6BD-E474190F2A84}" type="presParOf" srcId="{FE999594-6E7A-47BC-89EF-2A8F66D379F3}" destId="{C9358128-22DF-40FC-B38C-B939EA10AD33}" srcOrd="3" destOrd="0" presId="urn:microsoft.com/office/officeart/2024/3/layout/verticalVisualTextBlock1"/>
    <dgm:cxn modelId="{A70AA39B-07EA-478B-8602-8E30C62AA619}" type="presParOf" srcId="{FE999594-6E7A-47BC-89EF-2A8F66D379F3}" destId="{0FAF0E3A-A68B-4D84-8F15-9D2EC204BBC4}" srcOrd="4" destOrd="0" presId="urn:microsoft.com/office/officeart/2024/3/layout/verticalVisualTextBlock1"/>
    <dgm:cxn modelId="{AA10157F-FBF3-4D05-8E7D-3BBDB86EE81C}" type="presParOf" srcId="{0FAF0E3A-A68B-4D84-8F15-9D2EC204BBC4}" destId="{B9F2E7B2-0F7E-4757-A566-1C0A9A47B376}" srcOrd="0" destOrd="0" presId="urn:microsoft.com/office/officeart/2024/3/layout/verticalVisualTextBlock1"/>
    <dgm:cxn modelId="{3E4913AA-9733-44A5-BC2E-9138876915E8}" type="presParOf" srcId="{0FAF0E3A-A68B-4D84-8F15-9D2EC204BBC4}" destId="{3AC492A7-4709-41D0-AF4F-F6C2F5B5AA38}" srcOrd="1" destOrd="0" presId="urn:microsoft.com/office/officeart/2024/3/layout/verticalVisualTextBlock1"/>
    <dgm:cxn modelId="{EFBB7B63-9AD8-40DF-B247-751E9F3D7DBF}" type="presParOf" srcId="{0FAF0E3A-A68B-4D84-8F15-9D2EC204BBC4}" destId="{BCCCEC0D-0E53-4602-8EFF-3346DBA5C127}" srcOrd="2" destOrd="0" presId="urn:microsoft.com/office/officeart/2024/3/layout/verticalVisualTextBlock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84F28A-A78D-42B7-B412-A7DC4ED2F473}" type="doc">
      <dgm:prSet loTypeId="urn:microsoft.com/office/officeart/2024/3/layout/verticalVisualTextBlock1" loCatId="Picture" qsTypeId="urn:microsoft.com/office/officeart/2005/8/quickstyle/simple4" qsCatId="simple" csTypeId="urn:microsoft.com/office/officeart/2005/8/colors/accent3_2" csCatId="accent3" phldr="1"/>
      <dgm:spPr/>
      <dgm:t>
        <a:bodyPr/>
        <a:lstStyle/>
        <a:p>
          <a:endParaRPr lang="en-US"/>
        </a:p>
      </dgm:t>
    </dgm:pt>
    <dgm:pt modelId="{883BBDF5-1B9C-45A8-B227-685120C46F67}">
      <dgm:prSet custT="1"/>
      <dgm:spPr/>
      <dgm:t>
        <a:bodyPr/>
        <a:lstStyle/>
        <a:p>
          <a:pPr>
            <a:defRPr b="1"/>
          </a:pPr>
          <a:r>
            <a:rPr lang="en-US" sz="1200" dirty="0">
              <a:solidFill>
                <a:schemeClr val="bg1"/>
              </a:solidFill>
              <a:latin typeface="Arial" panose="020B0604020202020204" pitchFamily="34" charset="0"/>
              <a:cs typeface="Arial" panose="020B0604020202020204" pitchFamily="34" charset="0"/>
            </a:rPr>
            <a:t>Importance of Tracking Overdue Bills</a:t>
          </a:r>
        </a:p>
      </dgm:t>
    </dgm:pt>
    <dgm:pt modelId="{A1A89EBE-6FB3-4C17-A3B9-0E2A9997CDB2}" type="parTrans" cxnId="{598F4132-A237-49B1-BCB1-346622EBDDBF}">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0FFAC675-ABF2-488A-9E46-583E7D2CB7E9}" type="sibTrans" cxnId="{598F4132-A237-49B1-BCB1-346622EBDDBF}">
      <dgm:prSet/>
      <dgm:spPr/>
      <dgm:t>
        <a:bodyPr/>
        <a:lstStyle/>
        <a:p>
          <a:pPr>
            <a:defRPr b="1"/>
          </a:pPr>
          <a:endParaRPr lang="en-US" sz="1200">
            <a:solidFill>
              <a:schemeClr val="bg1"/>
            </a:solidFill>
            <a:latin typeface="Arial" panose="020B0604020202020204" pitchFamily="34" charset="0"/>
            <a:cs typeface="Arial" panose="020B0604020202020204" pitchFamily="34" charset="0"/>
          </a:endParaRPr>
        </a:p>
      </dgm:t>
    </dgm:pt>
    <dgm:pt modelId="{76BB676D-61AB-4232-ADD8-879ED6015EA8}">
      <dgm:prSet custT="1"/>
      <dgm:spPr/>
      <dgm:t>
        <a:bodyPr/>
        <a:lstStyle/>
        <a:p>
          <a:r>
            <a:rPr lang="en-US" sz="1200">
              <a:solidFill>
                <a:schemeClr val="bg1"/>
              </a:solidFill>
              <a:latin typeface="Arial" panose="020B0604020202020204" pitchFamily="34" charset="0"/>
              <a:cs typeface="Arial" panose="020B0604020202020204" pitchFamily="34" charset="0"/>
            </a:rPr>
            <a:t>Monitoring bills older than 30 days helps manage outstanding debt effectively and improve collection rates.</a:t>
          </a:r>
        </a:p>
      </dgm:t>
    </dgm:pt>
    <dgm:pt modelId="{3132A58F-7EEB-435F-B43B-7775AB6AA406}" type="parTrans" cxnId="{12BE4087-2DD3-43FE-99B2-5FB63326D630}">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27609E57-1F14-4F9A-B981-487260C54DFF}" type="sibTrans" cxnId="{12BE4087-2DD3-43FE-99B2-5FB63326D630}">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E994F9DC-B357-4B62-A38D-3C5C8920DBE9}">
      <dgm:prSet custT="1"/>
      <dgm:spPr/>
      <dgm:t>
        <a:bodyPr/>
        <a:lstStyle/>
        <a:p>
          <a:pPr>
            <a:defRPr b="1"/>
          </a:pPr>
          <a:r>
            <a:rPr lang="en-GB" sz="1200" noProof="0" dirty="0">
              <a:solidFill>
                <a:schemeClr val="bg1"/>
              </a:solidFill>
              <a:latin typeface="Arial" panose="020B0604020202020204" pitchFamily="34" charset="0"/>
              <a:cs typeface="Arial" panose="020B0604020202020204" pitchFamily="34" charset="0"/>
            </a:rPr>
            <a:t>Prioritising</a:t>
          </a:r>
          <a:r>
            <a:rPr lang="en-US" sz="1200" dirty="0">
              <a:solidFill>
                <a:schemeClr val="bg1"/>
              </a:solidFill>
              <a:latin typeface="Arial" panose="020B0604020202020204" pitchFamily="34" charset="0"/>
              <a:cs typeface="Arial" panose="020B0604020202020204" pitchFamily="34" charset="0"/>
            </a:rPr>
            <a:t> Follow-Up Actions</a:t>
          </a:r>
        </a:p>
      </dgm:t>
    </dgm:pt>
    <dgm:pt modelId="{30618F4E-F476-46E4-ACC3-BF816E5E1DF9}" type="parTrans" cxnId="{6C7490E6-6F81-4CA8-83A6-011B2131971F}">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D8C47F88-8CD6-4618-BD3D-2A38A0C806B5}" type="sibTrans" cxnId="{6C7490E6-6F81-4CA8-83A6-011B2131971F}">
      <dgm:prSet/>
      <dgm:spPr/>
      <dgm:t>
        <a:bodyPr/>
        <a:lstStyle/>
        <a:p>
          <a:pPr>
            <a:defRPr b="1"/>
          </a:pPr>
          <a:endParaRPr lang="en-US" sz="1200">
            <a:solidFill>
              <a:schemeClr val="bg1"/>
            </a:solidFill>
            <a:latin typeface="Arial" panose="020B0604020202020204" pitchFamily="34" charset="0"/>
            <a:cs typeface="Arial" panose="020B0604020202020204" pitchFamily="34" charset="0"/>
          </a:endParaRPr>
        </a:p>
      </dgm:t>
    </dgm:pt>
    <dgm:pt modelId="{5963B002-12BD-4214-8151-B5C0C4EA8AE3}">
      <dgm:prSet custT="1"/>
      <dgm:spPr/>
      <dgm:t>
        <a:bodyPr/>
        <a:lstStyle/>
        <a:p>
          <a:r>
            <a:rPr lang="en-US" sz="1200" dirty="0">
              <a:solidFill>
                <a:schemeClr val="bg1"/>
              </a:solidFill>
              <a:latin typeface="Arial" panose="020B0604020202020204" pitchFamily="34" charset="0"/>
              <a:cs typeface="Arial" panose="020B0604020202020204" pitchFamily="34" charset="0"/>
            </a:rPr>
            <a:t>The report helps </a:t>
          </a:r>
          <a:r>
            <a:rPr lang="en-GB" sz="1200" noProof="0" dirty="0">
              <a:solidFill>
                <a:schemeClr val="bg1"/>
              </a:solidFill>
              <a:latin typeface="Arial" panose="020B0604020202020204" pitchFamily="34" charset="0"/>
              <a:cs typeface="Arial" panose="020B0604020202020204" pitchFamily="34" charset="0"/>
            </a:rPr>
            <a:t>prioritise</a:t>
          </a:r>
          <a:r>
            <a:rPr lang="en-US" sz="1200" dirty="0">
              <a:solidFill>
                <a:schemeClr val="bg1"/>
              </a:solidFill>
              <a:latin typeface="Arial" panose="020B0604020202020204" pitchFamily="34" charset="0"/>
              <a:cs typeface="Arial" panose="020B0604020202020204" pitchFamily="34" charset="0"/>
            </a:rPr>
            <a:t> accounts for follow-up to reduce aging receivables and enhance cash flow.</a:t>
          </a:r>
        </a:p>
      </dgm:t>
    </dgm:pt>
    <dgm:pt modelId="{35919D0F-0DD8-4EFD-857B-C4A1EAF200A7}" type="parTrans" cxnId="{553E5743-50A6-4374-94B5-9D9205B841D0}">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2C635889-A907-4335-AB32-87B848399A0D}" type="sibTrans" cxnId="{553E5743-50A6-4374-94B5-9D9205B841D0}">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5AE2E8ED-C054-4126-9F9A-0A2EFEE765BC}">
      <dgm:prSet custT="1"/>
      <dgm:spPr/>
      <dgm:t>
        <a:bodyPr/>
        <a:lstStyle/>
        <a:p>
          <a:pPr>
            <a:defRPr b="1"/>
          </a:pPr>
          <a:r>
            <a:rPr lang="en-US" sz="1200" dirty="0">
              <a:solidFill>
                <a:schemeClr val="bg1"/>
              </a:solidFill>
              <a:latin typeface="Arial" panose="020B0604020202020204" pitchFamily="34" charset="0"/>
              <a:cs typeface="Arial" panose="020B0604020202020204" pitchFamily="34" charset="0"/>
            </a:rPr>
            <a:t>Mitigating Financial Risk</a:t>
          </a:r>
        </a:p>
      </dgm:t>
    </dgm:pt>
    <dgm:pt modelId="{14D7F147-1C69-4D41-9B0D-A651F7D32AA5}" type="parTrans" cxnId="{B5FD7EEB-C99A-4E09-A7A2-7ADD591DE111}">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A4F24A28-3330-4A04-ADEE-78557EA10D9A}" type="sibTrans" cxnId="{B5FD7EEB-C99A-4E09-A7A2-7ADD591DE111}">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82602F99-C452-4153-8A75-CC05F83D1FF6}">
      <dgm:prSet custT="1"/>
      <dgm:spPr/>
      <dgm:t>
        <a:bodyPr/>
        <a:lstStyle/>
        <a:p>
          <a:r>
            <a:rPr lang="en-US" sz="1200" dirty="0">
              <a:solidFill>
                <a:schemeClr val="bg1"/>
              </a:solidFill>
              <a:latin typeface="Arial" panose="020B0604020202020204" pitchFamily="34" charset="0"/>
              <a:cs typeface="Arial" panose="020B0604020202020204" pitchFamily="34" charset="0"/>
            </a:rPr>
            <a:t>Hospitals can mitigate financial risks by closely monitoring overdue accounts and </a:t>
          </a:r>
          <a:r>
            <a:rPr lang="en-GB" sz="1200" noProof="0" dirty="0">
              <a:solidFill>
                <a:schemeClr val="bg1"/>
              </a:solidFill>
              <a:latin typeface="Arial" panose="020B0604020202020204" pitchFamily="34" charset="0"/>
              <a:cs typeface="Arial" panose="020B0604020202020204" pitchFamily="34" charset="0"/>
            </a:rPr>
            <a:t>maintaining</a:t>
          </a:r>
          <a:r>
            <a:rPr lang="en-US" sz="1200" dirty="0">
              <a:solidFill>
                <a:schemeClr val="bg1"/>
              </a:solidFill>
              <a:latin typeface="Arial" panose="020B0604020202020204" pitchFamily="34" charset="0"/>
              <a:cs typeface="Arial" panose="020B0604020202020204" pitchFamily="34" charset="0"/>
            </a:rPr>
            <a:t> strong revenue cycles.</a:t>
          </a:r>
        </a:p>
      </dgm:t>
    </dgm:pt>
    <dgm:pt modelId="{D0C13441-3205-4653-A8F0-C2622396B408}" type="parTrans" cxnId="{42B46829-96A9-4BB6-BC25-808C2E548FE2}">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8F1F5742-CCB7-4216-9EA7-7B0E617D214B}" type="sibTrans" cxnId="{42B46829-96A9-4BB6-BC25-808C2E548FE2}">
      <dgm:prSet/>
      <dgm:spPr/>
      <dgm:t>
        <a:bodyPr/>
        <a:lstStyle/>
        <a:p>
          <a:endParaRPr lang="en-US" sz="1200">
            <a:solidFill>
              <a:schemeClr val="bg1"/>
            </a:solidFill>
            <a:latin typeface="Arial" panose="020B0604020202020204" pitchFamily="34" charset="0"/>
            <a:cs typeface="Arial" panose="020B0604020202020204" pitchFamily="34" charset="0"/>
          </a:endParaRPr>
        </a:p>
      </dgm:t>
    </dgm:pt>
    <dgm:pt modelId="{DF46DE76-10F5-4A9A-8B48-561798655106}" type="pres">
      <dgm:prSet presAssocID="{5B84F28A-A78D-42B7-B412-A7DC4ED2F473}" presName="Root" presStyleCnt="0">
        <dgm:presLayoutVars>
          <dgm:dir/>
          <dgm:resizeHandles val="exact"/>
        </dgm:presLayoutVars>
      </dgm:prSet>
      <dgm:spPr/>
    </dgm:pt>
    <dgm:pt modelId="{5CDD7701-8C12-40AB-8F3E-D07C9E3E05C0}" type="pres">
      <dgm:prSet presAssocID="{883BBDF5-1B9C-45A8-B227-685120C46F67}" presName="Composite" presStyleCnt="0"/>
      <dgm:spPr/>
    </dgm:pt>
    <dgm:pt modelId="{52412345-A90E-401F-8579-7E7384E09F33}" type="pres">
      <dgm:prSet presAssocID="{883BBDF5-1B9C-45A8-B227-685120C46F67}"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8077" r="15172" b="-2"/>
          <a:stretch>
            <a:fillRect l="-25000" r="-25000"/>
          </a:stretch>
        </a:blipFill>
      </dgm:spPr>
      <dgm:extLst>
        <a:ext uri="{E40237B7-FDA0-4F09-8148-C483321AD2D9}">
          <dgm14:cNvPr xmlns:dgm14="http://schemas.microsoft.com/office/drawing/2010/diagram" id="0" name="" descr="Applying for a job, filing a resume Experience, candidates stand the document with the company hr to get elected to work."/>
        </a:ext>
      </dgm:extLst>
    </dgm:pt>
    <dgm:pt modelId="{21AF2905-7503-42AB-9975-9233A48B0601}" type="pres">
      <dgm:prSet presAssocID="{883BBDF5-1B9C-45A8-B227-685120C46F67}" presName="Subtitle" presStyleLbl="revTx" presStyleIdx="0" presStyleCnt="6">
        <dgm:presLayoutVars>
          <dgm:chMax val="0"/>
          <dgm:bulletEnabled/>
        </dgm:presLayoutVars>
      </dgm:prSet>
      <dgm:spPr/>
    </dgm:pt>
    <dgm:pt modelId="{27F13D8E-B5F6-4291-8408-A5EF163E6883}" type="pres">
      <dgm:prSet presAssocID="{883BBDF5-1B9C-45A8-B227-685120C46F67}" presName="Description" presStyleLbl="revTx" presStyleIdx="1" presStyleCnt="6">
        <dgm:presLayoutVars>
          <dgm:bulletEnabled/>
        </dgm:presLayoutVars>
      </dgm:prSet>
      <dgm:spPr/>
    </dgm:pt>
    <dgm:pt modelId="{598677A0-06B9-49A3-A128-F93024F1B33B}" type="pres">
      <dgm:prSet presAssocID="{0FFAC675-ABF2-488A-9E46-583E7D2CB7E9}" presName="sibTrans" presStyleLbl="sibTrans2D1" presStyleIdx="0" presStyleCnt="0"/>
      <dgm:spPr/>
    </dgm:pt>
    <dgm:pt modelId="{EE412179-0492-4341-B9FC-70D7C0F72EB7}" type="pres">
      <dgm:prSet presAssocID="{E994F9DC-B357-4B62-A38D-3C5C8920DBE9}" presName="Composite" presStyleCnt="0"/>
      <dgm:spPr/>
    </dgm:pt>
    <dgm:pt modelId="{008719AF-0E8E-498A-B7A3-2A0CAE908F21}" type="pres">
      <dgm:prSet presAssocID="{E994F9DC-B357-4B62-A38D-3C5C8920DBE9}"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3001" r="20248" b="-2"/>
          <a:stretch>
            <a:fillRect l="-25000" r="-25000"/>
          </a:stretch>
        </a:blipFill>
      </dgm:spPr>
      <dgm:extLst>
        <a:ext uri="{E40237B7-FDA0-4F09-8148-C483321AD2D9}">
          <dgm14:cNvPr xmlns:dgm14="http://schemas.microsoft.com/office/drawing/2010/diagram" id="0" name="" descr="A Good Work Atmosphere Leads to Success"/>
        </a:ext>
      </dgm:extLst>
    </dgm:pt>
    <dgm:pt modelId="{0B613CA6-14D9-4821-866A-40DB8136879B}" type="pres">
      <dgm:prSet presAssocID="{E994F9DC-B357-4B62-A38D-3C5C8920DBE9}" presName="Subtitle" presStyleLbl="revTx" presStyleIdx="2" presStyleCnt="6">
        <dgm:presLayoutVars>
          <dgm:chMax val="0"/>
          <dgm:bulletEnabled/>
        </dgm:presLayoutVars>
      </dgm:prSet>
      <dgm:spPr/>
    </dgm:pt>
    <dgm:pt modelId="{FE0B739A-9CE9-415A-BFAD-3AA8B6A2ECCC}" type="pres">
      <dgm:prSet presAssocID="{E994F9DC-B357-4B62-A38D-3C5C8920DBE9}" presName="Description" presStyleLbl="revTx" presStyleIdx="3" presStyleCnt="6">
        <dgm:presLayoutVars>
          <dgm:bulletEnabled/>
        </dgm:presLayoutVars>
      </dgm:prSet>
      <dgm:spPr/>
    </dgm:pt>
    <dgm:pt modelId="{25D25C3B-6312-4ACC-AEDC-7EEC096EF68A}" type="pres">
      <dgm:prSet presAssocID="{D8C47F88-8CD6-4618-BD3D-2A38A0C806B5}" presName="sibTrans" presStyleLbl="sibTrans2D1" presStyleIdx="0" presStyleCnt="0"/>
      <dgm:spPr/>
    </dgm:pt>
    <dgm:pt modelId="{4DC48BC1-3E9B-4426-B90D-A03EBEB43350}" type="pres">
      <dgm:prSet presAssocID="{5AE2E8ED-C054-4126-9F9A-0A2EFEE765BC}" presName="Composite" presStyleCnt="0"/>
      <dgm:spPr/>
    </dgm:pt>
    <dgm:pt modelId="{F96DC232-A7B9-4EAC-9453-D08790821E53}" type="pres">
      <dgm:prSet presAssocID="{5AE2E8ED-C054-4126-9F9A-0A2EFEE765B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5749" r="5" b="6"/>
          <a:stretch>
            <a:fillRect l="-28000" r="-28000"/>
          </a:stretch>
        </a:blipFill>
      </dgm:spPr>
      <dgm:extLst>
        <a:ext uri="{E40237B7-FDA0-4F09-8148-C483321AD2D9}">
          <dgm14:cNvPr xmlns:dgm14="http://schemas.microsoft.com/office/drawing/2010/diagram" id="0" name="" descr="Stethoscope and coin jar on the table."/>
        </a:ext>
      </dgm:extLst>
    </dgm:pt>
    <dgm:pt modelId="{1579BC74-0CA7-434E-91FC-2844C87AEE3D}" type="pres">
      <dgm:prSet presAssocID="{5AE2E8ED-C054-4126-9F9A-0A2EFEE765BC}" presName="Subtitle" presStyleLbl="revTx" presStyleIdx="4" presStyleCnt="6">
        <dgm:presLayoutVars>
          <dgm:chMax val="0"/>
          <dgm:bulletEnabled/>
        </dgm:presLayoutVars>
      </dgm:prSet>
      <dgm:spPr/>
    </dgm:pt>
    <dgm:pt modelId="{99873808-2667-459A-9F0E-4BB30EFF1FE4}" type="pres">
      <dgm:prSet presAssocID="{5AE2E8ED-C054-4126-9F9A-0A2EFEE765BC}" presName="Description" presStyleLbl="revTx" presStyleIdx="5" presStyleCnt="6">
        <dgm:presLayoutVars>
          <dgm:bulletEnabled/>
        </dgm:presLayoutVars>
      </dgm:prSet>
      <dgm:spPr/>
    </dgm:pt>
  </dgm:ptLst>
  <dgm:cxnLst>
    <dgm:cxn modelId="{3E41B605-EE66-40CA-8B86-1EB108F30ECC}" type="presOf" srcId="{5AE2E8ED-C054-4126-9F9A-0A2EFEE765BC}" destId="{1579BC74-0CA7-434E-91FC-2844C87AEE3D}" srcOrd="0" destOrd="0" presId="urn:microsoft.com/office/officeart/2024/3/layout/verticalVisualTextBlock1"/>
    <dgm:cxn modelId="{EC013215-14CD-4C8B-80FA-BDF1243CDAE5}" type="presOf" srcId="{D8C47F88-8CD6-4618-BD3D-2A38A0C806B5}" destId="{25D25C3B-6312-4ACC-AEDC-7EEC096EF68A}" srcOrd="0" destOrd="0" presId="urn:microsoft.com/office/officeart/2024/3/layout/verticalVisualTextBlock1"/>
    <dgm:cxn modelId="{42B46829-96A9-4BB6-BC25-808C2E548FE2}" srcId="{5AE2E8ED-C054-4126-9F9A-0A2EFEE765BC}" destId="{82602F99-C452-4153-8A75-CC05F83D1FF6}" srcOrd="0" destOrd="0" parTransId="{D0C13441-3205-4653-A8F0-C2622396B408}" sibTransId="{8F1F5742-CCB7-4216-9EA7-7B0E617D214B}"/>
    <dgm:cxn modelId="{E5835B2F-4DF0-4DE5-A85A-FFD687F1E8B3}" type="presOf" srcId="{0FFAC675-ABF2-488A-9E46-583E7D2CB7E9}" destId="{598677A0-06B9-49A3-A128-F93024F1B33B}" srcOrd="0" destOrd="0" presId="urn:microsoft.com/office/officeart/2024/3/layout/verticalVisualTextBlock1"/>
    <dgm:cxn modelId="{598F4132-A237-49B1-BCB1-346622EBDDBF}" srcId="{5B84F28A-A78D-42B7-B412-A7DC4ED2F473}" destId="{883BBDF5-1B9C-45A8-B227-685120C46F67}" srcOrd="0" destOrd="0" parTransId="{A1A89EBE-6FB3-4C17-A3B9-0E2A9997CDB2}" sibTransId="{0FFAC675-ABF2-488A-9E46-583E7D2CB7E9}"/>
    <dgm:cxn modelId="{553E5743-50A6-4374-94B5-9D9205B841D0}" srcId="{E994F9DC-B357-4B62-A38D-3C5C8920DBE9}" destId="{5963B002-12BD-4214-8151-B5C0C4EA8AE3}" srcOrd="0" destOrd="0" parTransId="{35919D0F-0DD8-4EFD-857B-C4A1EAF200A7}" sibTransId="{2C635889-A907-4335-AB32-87B848399A0D}"/>
    <dgm:cxn modelId="{10F4BC44-6202-408F-A12B-1BE593C284A2}" type="presOf" srcId="{883BBDF5-1B9C-45A8-B227-685120C46F67}" destId="{21AF2905-7503-42AB-9975-9233A48B0601}" srcOrd="0" destOrd="0" presId="urn:microsoft.com/office/officeart/2024/3/layout/verticalVisualTextBlock1"/>
    <dgm:cxn modelId="{3687D068-C9E2-4040-ACE6-4EEFC3E198E2}" type="presOf" srcId="{5963B002-12BD-4214-8151-B5C0C4EA8AE3}" destId="{FE0B739A-9CE9-415A-BFAD-3AA8B6A2ECCC}" srcOrd="0" destOrd="0" presId="urn:microsoft.com/office/officeart/2024/3/layout/verticalVisualTextBlock1"/>
    <dgm:cxn modelId="{62A9606D-DA78-4A03-82D8-072ECB4E33F9}" type="presOf" srcId="{76BB676D-61AB-4232-ADD8-879ED6015EA8}" destId="{27F13D8E-B5F6-4291-8408-A5EF163E6883}" srcOrd="0" destOrd="0" presId="urn:microsoft.com/office/officeart/2024/3/layout/verticalVisualTextBlock1"/>
    <dgm:cxn modelId="{C1190B78-2336-4688-BABA-FF2CD4D936A3}" type="presOf" srcId="{E994F9DC-B357-4B62-A38D-3C5C8920DBE9}" destId="{0B613CA6-14D9-4821-866A-40DB8136879B}" srcOrd="0" destOrd="0" presId="urn:microsoft.com/office/officeart/2024/3/layout/verticalVisualTextBlock1"/>
    <dgm:cxn modelId="{12BE4087-2DD3-43FE-99B2-5FB63326D630}" srcId="{883BBDF5-1B9C-45A8-B227-685120C46F67}" destId="{76BB676D-61AB-4232-ADD8-879ED6015EA8}" srcOrd="0" destOrd="0" parTransId="{3132A58F-7EEB-435F-B43B-7775AB6AA406}" sibTransId="{27609E57-1F14-4F9A-B981-487260C54DFF}"/>
    <dgm:cxn modelId="{5188C19F-7635-43F6-8601-9A5FA74EB5FA}" type="presOf" srcId="{82602F99-C452-4153-8A75-CC05F83D1FF6}" destId="{99873808-2667-459A-9F0E-4BB30EFF1FE4}" srcOrd="0" destOrd="0" presId="urn:microsoft.com/office/officeart/2024/3/layout/verticalVisualTextBlock1"/>
    <dgm:cxn modelId="{75BB6CB5-62EF-4CAD-8A32-FBC19986CB1B}" type="presOf" srcId="{5B84F28A-A78D-42B7-B412-A7DC4ED2F473}" destId="{DF46DE76-10F5-4A9A-8B48-561798655106}" srcOrd="0" destOrd="0" presId="urn:microsoft.com/office/officeart/2024/3/layout/verticalVisualTextBlock1"/>
    <dgm:cxn modelId="{6C7490E6-6F81-4CA8-83A6-011B2131971F}" srcId="{5B84F28A-A78D-42B7-B412-A7DC4ED2F473}" destId="{E994F9DC-B357-4B62-A38D-3C5C8920DBE9}" srcOrd="1" destOrd="0" parTransId="{30618F4E-F476-46E4-ACC3-BF816E5E1DF9}" sibTransId="{D8C47F88-8CD6-4618-BD3D-2A38A0C806B5}"/>
    <dgm:cxn modelId="{B5FD7EEB-C99A-4E09-A7A2-7ADD591DE111}" srcId="{5B84F28A-A78D-42B7-B412-A7DC4ED2F473}" destId="{5AE2E8ED-C054-4126-9F9A-0A2EFEE765BC}" srcOrd="2" destOrd="0" parTransId="{14D7F147-1C69-4D41-9B0D-A651F7D32AA5}" sibTransId="{A4F24A28-3330-4A04-ADEE-78557EA10D9A}"/>
    <dgm:cxn modelId="{E298E2EE-67B2-4C47-BCC4-4E29EE152CC7}" type="presParOf" srcId="{DF46DE76-10F5-4A9A-8B48-561798655106}" destId="{5CDD7701-8C12-40AB-8F3E-D07C9E3E05C0}" srcOrd="0" destOrd="0" presId="urn:microsoft.com/office/officeart/2024/3/layout/verticalVisualTextBlock1"/>
    <dgm:cxn modelId="{BD301A57-D6C3-4702-8186-9E8698A3A0A6}" type="presParOf" srcId="{5CDD7701-8C12-40AB-8F3E-D07C9E3E05C0}" destId="{52412345-A90E-401F-8579-7E7384E09F33}" srcOrd="0" destOrd="0" presId="urn:microsoft.com/office/officeart/2024/3/layout/verticalVisualTextBlock1"/>
    <dgm:cxn modelId="{0E84F084-BDC6-4BB0-AB93-2C12881A9D83}" type="presParOf" srcId="{5CDD7701-8C12-40AB-8F3E-D07C9E3E05C0}" destId="{21AF2905-7503-42AB-9975-9233A48B0601}" srcOrd="1" destOrd="0" presId="urn:microsoft.com/office/officeart/2024/3/layout/verticalVisualTextBlock1"/>
    <dgm:cxn modelId="{6AC46B83-DB27-46B8-B353-CE54EE4CB83E}" type="presParOf" srcId="{5CDD7701-8C12-40AB-8F3E-D07C9E3E05C0}" destId="{27F13D8E-B5F6-4291-8408-A5EF163E6883}" srcOrd="2" destOrd="0" presId="urn:microsoft.com/office/officeart/2024/3/layout/verticalVisualTextBlock1"/>
    <dgm:cxn modelId="{D8D177F7-46E5-4CF6-9EEA-3483532A5647}" type="presParOf" srcId="{DF46DE76-10F5-4A9A-8B48-561798655106}" destId="{598677A0-06B9-49A3-A128-F93024F1B33B}" srcOrd="1" destOrd="0" presId="urn:microsoft.com/office/officeart/2024/3/layout/verticalVisualTextBlock1"/>
    <dgm:cxn modelId="{E1E51799-2150-4C1E-8F4E-C1506908E544}" type="presParOf" srcId="{DF46DE76-10F5-4A9A-8B48-561798655106}" destId="{EE412179-0492-4341-B9FC-70D7C0F72EB7}" srcOrd="2" destOrd="0" presId="urn:microsoft.com/office/officeart/2024/3/layout/verticalVisualTextBlock1"/>
    <dgm:cxn modelId="{1F00676B-1382-401D-B23E-B4908E38A78D}" type="presParOf" srcId="{EE412179-0492-4341-B9FC-70D7C0F72EB7}" destId="{008719AF-0E8E-498A-B7A3-2A0CAE908F21}" srcOrd="0" destOrd="0" presId="urn:microsoft.com/office/officeart/2024/3/layout/verticalVisualTextBlock1"/>
    <dgm:cxn modelId="{FA69AB63-C17E-4D3A-B38E-67C2CB48651C}" type="presParOf" srcId="{EE412179-0492-4341-B9FC-70D7C0F72EB7}" destId="{0B613CA6-14D9-4821-866A-40DB8136879B}" srcOrd="1" destOrd="0" presId="urn:microsoft.com/office/officeart/2024/3/layout/verticalVisualTextBlock1"/>
    <dgm:cxn modelId="{4A4764B1-97DE-4B5A-A942-449CC58B8E02}" type="presParOf" srcId="{EE412179-0492-4341-B9FC-70D7C0F72EB7}" destId="{FE0B739A-9CE9-415A-BFAD-3AA8B6A2ECCC}" srcOrd="2" destOrd="0" presId="urn:microsoft.com/office/officeart/2024/3/layout/verticalVisualTextBlock1"/>
    <dgm:cxn modelId="{AB5A2DEF-EFDF-4DE7-807C-6BF8B242D818}" type="presParOf" srcId="{DF46DE76-10F5-4A9A-8B48-561798655106}" destId="{25D25C3B-6312-4ACC-AEDC-7EEC096EF68A}" srcOrd="3" destOrd="0" presId="urn:microsoft.com/office/officeart/2024/3/layout/verticalVisualTextBlock1"/>
    <dgm:cxn modelId="{8B11E372-3651-4B2F-A73F-C489ACD335B0}" type="presParOf" srcId="{DF46DE76-10F5-4A9A-8B48-561798655106}" destId="{4DC48BC1-3E9B-4426-B90D-A03EBEB43350}" srcOrd="4" destOrd="0" presId="urn:microsoft.com/office/officeart/2024/3/layout/verticalVisualTextBlock1"/>
    <dgm:cxn modelId="{0A35D6F7-B20B-49F2-877A-1433DD3F9141}" type="presParOf" srcId="{4DC48BC1-3E9B-4426-B90D-A03EBEB43350}" destId="{F96DC232-A7B9-4EAC-9453-D08790821E53}" srcOrd="0" destOrd="0" presId="urn:microsoft.com/office/officeart/2024/3/layout/verticalVisualTextBlock1"/>
    <dgm:cxn modelId="{E4F4F320-4FB5-49AB-943B-A9199654DC74}" type="presParOf" srcId="{4DC48BC1-3E9B-4426-B90D-A03EBEB43350}" destId="{1579BC74-0CA7-434E-91FC-2844C87AEE3D}" srcOrd="1" destOrd="0" presId="urn:microsoft.com/office/officeart/2024/3/layout/verticalVisualTextBlock1"/>
    <dgm:cxn modelId="{5AB3F252-DE4B-4C08-8C0E-A7106EAF2FDF}" type="presParOf" srcId="{4DC48BC1-3E9B-4426-B90D-A03EBEB43350}" destId="{99873808-2667-459A-9F0E-4BB30EFF1FE4}" srcOrd="2" destOrd="0" presId="urn:microsoft.com/office/officeart/2024/3/layout/verticalVisualTextBlock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F012D7-BC18-477C-9A17-5475CE6838D8}" type="doc">
      <dgm:prSet loTypeId="urn:microsoft.com/office/officeart/2024/3/layout/verticalVisualTextBlock1" loCatId="Picture" qsTypeId="urn:microsoft.com/office/officeart/2005/8/quickstyle/simple4" qsCatId="simple" csTypeId="urn:microsoft.com/office/officeart/2005/8/colors/accent3_2" csCatId="accent3" phldr="1"/>
      <dgm:spPr/>
      <dgm:t>
        <a:bodyPr/>
        <a:lstStyle/>
        <a:p>
          <a:endParaRPr lang="en-US"/>
        </a:p>
      </dgm:t>
    </dgm:pt>
    <dgm:pt modelId="{E2393941-7757-44D6-810D-1C6658A8D49B}">
      <dgm:prSet/>
      <dgm:spPr/>
      <dgm:t>
        <a:bodyPr/>
        <a:lstStyle/>
        <a:p>
          <a:pPr>
            <a:defRPr b="1"/>
          </a:pPr>
          <a:r>
            <a:rPr lang="en-US" dirty="0">
              <a:solidFill>
                <a:schemeClr val="bg1"/>
              </a:solidFill>
              <a:latin typeface="Arial" panose="020B0604020202020204" pitchFamily="34" charset="0"/>
              <a:cs typeface="Arial" panose="020B0604020202020204" pitchFamily="34" charset="0"/>
            </a:rPr>
            <a:t>Equitable Care and Staffing</a:t>
          </a:r>
        </a:p>
      </dgm:t>
    </dgm:pt>
    <dgm:pt modelId="{30091B72-5179-445E-90B7-8AD925D1B60F}" type="parTrans" cxnId="{D3251EB3-95CA-4416-8398-ADCCA1EB962B}">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4B475006-0895-4576-A12D-82B3A213C018}" type="sibTrans" cxnId="{D3251EB3-95CA-4416-8398-ADCCA1EB962B}">
      <dgm:prSet/>
      <dgm:spPr/>
      <dgm:t>
        <a:bodyPr/>
        <a:lstStyle/>
        <a:p>
          <a:pPr>
            <a:defRPr b="1"/>
          </a:pPr>
          <a:endParaRPr lang="en-US">
            <a:solidFill>
              <a:schemeClr val="bg1"/>
            </a:solidFill>
            <a:latin typeface="Arial" panose="020B0604020202020204" pitchFamily="34" charset="0"/>
            <a:cs typeface="Arial" panose="020B0604020202020204" pitchFamily="34" charset="0"/>
          </a:endParaRPr>
        </a:p>
      </dgm:t>
    </dgm:pt>
    <dgm:pt modelId="{89D5A503-7A55-4719-8338-D0D35F43DF90}">
      <dgm:prSet/>
      <dgm:spPr/>
      <dgm:t>
        <a:bodyPr/>
        <a:lstStyle/>
        <a:p>
          <a:r>
            <a:rPr lang="en-GB" noProof="0" dirty="0">
              <a:solidFill>
                <a:schemeClr val="bg1"/>
              </a:solidFill>
              <a:latin typeface="Arial" panose="020B0604020202020204" pitchFamily="34" charset="0"/>
              <a:cs typeface="Arial" panose="020B0604020202020204" pitchFamily="34" charset="0"/>
            </a:rPr>
            <a:t>Analysing</a:t>
          </a:r>
          <a:r>
            <a:rPr lang="en-US" dirty="0">
              <a:solidFill>
                <a:schemeClr val="bg1"/>
              </a:solidFill>
              <a:latin typeface="Arial" panose="020B0604020202020204" pitchFamily="34" charset="0"/>
              <a:cs typeface="Arial" panose="020B0604020202020204" pitchFamily="34" charset="0"/>
            </a:rPr>
            <a:t> gender distribution ensures fair staffing and </a:t>
          </a:r>
          <a:r>
            <a:rPr lang="en-GB" noProof="0" dirty="0">
              <a:solidFill>
                <a:schemeClr val="bg1"/>
              </a:solidFill>
              <a:latin typeface="Arial" panose="020B0604020202020204" pitchFamily="34" charset="0"/>
              <a:cs typeface="Arial" panose="020B0604020202020204" pitchFamily="34" charset="0"/>
            </a:rPr>
            <a:t>equitable</a:t>
          </a:r>
          <a:r>
            <a:rPr lang="en-US" dirty="0">
              <a:solidFill>
                <a:schemeClr val="bg1"/>
              </a:solidFill>
              <a:latin typeface="Arial" panose="020B0604020202020204" pitchFamily="34" charset="0"/>
              <a:cs typeface="Arial" panose="020B0604020202020204" pitchFamily="34" charset="0"/>
            </a:rPr>
            <a:t> care in various medical specializations.</a:t>
          </a:r>
        </a:p>
      </dgm:t>
    </dgm:pt>
    <dgm:pt modelId="{70D6C53C-E631-49B9-B4CF-48D9B3CE6E22}" type="parTrans" cxnId="{9FD158F7-F3CE-42BC-BD87-C765155CB9F7}">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44D9CC8C-79E5-4745-8CB7-FE24A29CB6BC}" type="sibTrans" cxnId="{9FD158F7-F3CE-42BC-BD87-C765155CB9F7}">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3D621B0A-FE84-4886-BC72-E0E6F56DF115}">
      <dgm:prSet/>
      <dgm:spPr/>
      <dgm:t>
        <a:bodyPr/>
        <a:lstStyle/>
        <a:p>
          <a:pPr>
            <a:defRPr b="1"/>
          </a:pPr>
          <a:r>
            <a:rPr lang="en-US">
              <a:solidFill>
                <a:schemeClr val="bg1"/>
              </a:solidFill>
              <a:latin typeface="Arial" panose="020B0604020202020204" pitchFamily="34" charset="0"/>
              <a:cs typeface="Arial" panose="020B0604020202020204" pitchFamily="34" charset="0"/>
            </a:rPr>
            <a:t>Aligning Services with Demographics</a:t>
          </a:r>
        </a:p>
      </dgm:t>
    </dgm:pt>
    <dgm:pt modelId="{D5E49F2E-687A-4ECD-B042-CBE59E238E48}" type="parTrans" cxnId="{6CA73014-2375-4102-A9E0-53BA570E11C1}">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A699F36A-1275-4F2A-B23F-A404ABC02D6B}" type="sibTrans" cxnId="{6CA73014-2375-4102-A9E0-53BA570E11C1}">
      <dgm:prSet/>
      <dgm:spPr/>
      <dgm:t>
        <a:bodyPr/>
        <a:lstStyle/>
        <a:p>
          <a:pPr>
            <a:defRPr b="1"/>
          </a:pPr>
          <a:endParaRPr lang="en-US">
            <a:solidFill>
              <a:schemeClr val="bg1"/>
            </a:solidFill>
            <a:latin typeface="Arial" panose="020B0604020202020204" pitchFamily="34" charset="0"/>
            <a:cs typeface="Arial" panose="020B0604020202020204" pitchFamily="34" charset="0"/>
          </a:endParaRPr>
        </a:p>
      </dgm:t>
    </dgm:pt>
    <dgm:pt modelId="{19F3A15F-2782-48B8-A812-1307386ED109}">
      <dgm:prSet/>
      <dgm:spPr/>
      <dgm:t>
        <a:bodyPr/>
        <a:lstStyle/>
        <a:p>
          <a:r>
            <a:rPr lang="en-US" dirty="0">
              <a:solidFill>
                <a:schemeClr val="bg1"/>
              </a:solidFill>
              <a:latin typeface="Arial" panose="020B0604020202020204" pitchFamily="34" charset="0"/>
              <a:cs typeface="Arial" panose="020B0604020202020204" pitchFamily="34" charset="0"/>
            </a:rPr>
            <a:t>Gender insights help hospitals tailor services to meet diverse patient needs effectively.</a:t>
          </a:r>
        </a:p>
      </dgm:t>
    </dgm:pt>
    <dgm:pt modelId="{A598C8A3-37A4-47DC-A1E6-68AE49E766D6}" type="parTrans" cxnId="{78B1BA51-A4C7-4068-8155-C2E4F50C1A27}">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6AA75047-BBF6-4801-BA4E-ED9EF0914C25}" type="sibTrans" cxnId="{78B1BA51-A4C7-4068-8155-C2E4F50C1A27}">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44E5ACBB-E506-4AC3-929C-0C3469365771}">
      <dgm:prSet/>
      <dgm:spPr/>
      <dgm:t>
        <a:bodyPr/>
        <a:lstStyle/>
        <a:p>
          <a:pPr>
            <a:defRPr b="1"/>
          </a:pPr>
          <a:r>
            <a:rPr lang="en-US">
              <a:solidFill>
                <a:schemeClr val="bg1"/>
              </a:solidFill>
              <a:latin typeface="Arial" panose="020B0604020202020204" pitchFamily="34" charset="0"/>
              <a:cs typeface="Arial" panose="020B0604020202020204" pitchFamily="34" charset="0"/>
            </a:rPr>
            <a:t>Supporting Diversity and Inclusion</a:t>
          </a:r>
        </a:p>
      </dgm:t>
    </dgm:pt>
    <dgm:pt modelId="{E0674258-9F41-4E8B-B72C-08EBDF12E952}" type="parTrans" cxnId="{5877F3A0-8320-4CF1-8C8A-A98BA2D3615B}">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31C5A6ED-16F1-4C0F-986C-F23F64884247}" type="sibTrans" cxnId="{5877F3A0-8320-4CF1-8C8A-A98BA2D3615B}">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34B1454B-800E-4161-A3B3-106112D57311}">
      <dgm:prSet/>
      <dgm:spPr/>
      <dgm:t>
        <a:bodyPr/>
        <a:lstStyle/>
        <a:p>
          <a:r>
            <a:rPr lang="en-US" dirty="0">
              <a:solidFill>
                <a:schemeClr val="bg1"/>
              </a:solidFill>
              <a:latin typeface="Arial" panose="020B0604020202020204" pitchFamily="34" charset="0"/>
              <a:cs typeface="Arial" panose="020B0604020202020204" pitchFamily="34" charset="0"/>
            </a:rPr>
            <a:t>Gender-based analysis </a:t>
          </a:r>
          <a:r>
            <a:rPr lang="en-GB" noProof="0" dirty="0">
              <a:solidFill>
                <a:schemeClr val="bg1"/>
              </a:solidFill>
              <a:latin typeface="Arial" panose="020B0604020202020204" pitchFamily="34" charset="0"/>
              <a:cs typeface="Arial" panose="020B0604020202020204" pitchFamily="34" charset="0"/>
            </a:rPr>
            <a:t>supports</a:t>
          </a:r>
          <a:r>
            <a:rPr lang="en-US" dirty="0">
              <a:solidFill>
                <a:schemeClr val="bg1"/>
              </a:solidFill>
              <a:latin typeface="Arial" panose="020B0604020202020204" pitchFamily="34" charset="0"/>
              <a:cs typeface="Arial" panose="020B0604020202020204" pitchFamily="34" charset="0"/>
            </a:rPr>
            <a:t> compliance with diversity and inclusion goals in healthcare.</a:t>
          </a:r>
        </a:p>
      </dgm:t>
    </dgm:pt>
    <dgm:pt modelId="{87CE1380-0FB7-4343-9961-FA9B038A3387}" type="parTrans" cxnId="{1F05853B-3E19-409C-81D3-4D1217B3FD40}">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15927CC4-7575-47B2-8AE0-70E1958B0E35}" type="sibTrans" cxnId="{1F05853B-3E19-409C-81D3-4D1217B3FD40}">
      <dgm:prSet/>
      <dgm:spPr/>
      <dgm:t>
        <a:bodyPr/>
        <a:lstStyle/>
        <a:p>
          <a:endParaRPr lang="en-US">
            <a:solidFill>
              <a:schemeClr val="bg1"/>
            </a:solidFill>
            <a:latin typeface="Arial" panose="020B0604020202020204" pitchFamily="34" charset="0"/>
            <a:cs typeface="Arial" panose="020B0604020202020204" pitchFamily="34" charset="0"/>
          </a:endParaRPr>
        </a:p>
      </dgm:t>
    </dgm:pt>
    <dgm:pt modelId="{39458740-FCE8-40E6-A91A-E1AE116F7EEE}" type="pres">
      <dgm:prSet presAssocID="{A7F012D7-BC18-477C-9A17-5475CE6838D8}" presName="Root" presStyleCnt="0">
        <dgm:presLayoutVars>
          <dgm:dir/>
          <dgm:resizeHandles val="exact"/>
        </dgm:presLayoutVars>
      </dgm:prSet>
      <dgm:spPr/>
    </dgm:pt>
    <dgm:pt modelId="{36E2E1E1-9F49-4FBB-94B3-9E4AEFD4234C}" type="pres">
      <dgm:prSet presAssocID="{E2393941-7757-44D6-810D-1C6658A8D49B}" presName="Composite" presStyleCnt="0"/>
      <dgm:spPr/>
    </dgm:pt>
    <dgm:pt modelId="{41A090C7-8BD8-4E8D-AF39-3E4FC7CDADBF}" type="pres">
      <dgm:prSet presAssocID="{E2393941-7757-44D6-810D-1C6658A8D49B}"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31563" r="1686" b="-2"/>
          <a:stretch>
            <a:fillRect l="-25000" r="-25000"/>
          </a:stretch>
        </a:blipFill>
      </dgm:spPr>
      <dgm:extLst>
        <a:ext uri="{E40237B7-FDA0-4F09-8148-C483321AD2D9}">
          <dgm14:cNvPr xmlns:dgm14="http://schemas.microsoft.com/office/drawing/2010/diagram" id="0" name="" descr="Shot of a group of medical practitioners using a digital tablet together in a hospital"/>
        </a:ext>
      </dgm:extLst>
    </dgm:pt>
    <dgm:pt modelId="{3FC5ACD9-E640-44A4-80C1-02D63C4A1DED}" type="pres">
      <dgm:prSet presAssocID="{E2393941-7757-44D6-810D-1C6658A8D49B}" presName="Subtitle" presStyleLbl="revTx" presStyleIdx="0" presStyleCnt="6">
        <dgm:presLayoutVars>
          <dgm:chMax val="0"/>
          <dgm:bulletEnabled/>
        </dgm:presLayoutVars>
      </dgm:prSet>
      <dgm:spPr/>
    </dgm:pt>
    <dgm:pt modelId="{2D2CC29B-D505-47A0-A48F-85DAF72DEA1B}" type="pres">
      <dgm:prSet presAssocID="{E2393941-7757-44D6-810D-1C6658A8D49B}" presName="Description" presStyleLbl="revTx" presStyleIdx="1" presStyleCnt="6">
        <dgm:presLayoutVars>
          <dgm:bulletEnabled/>
        </dgm:presLayoutVars>
      </dgm:prSet>
      <dgm:spPr/>
    </dgm:pt>
    <dgm:pt modelId="{B3FC7259-B458-4516-B5AA-2AE21214D7CB}" type="pres">
      <dgm:prSet presAssocID="{4B475006-0895-4576-A12D-82B3A213C018}" presName="sibTrans" presStyleLbl="sibTrans2D1" presStyleIdx="0" presStyleCnt="0"/>
      <dgm:spPr/>
    </dgm:pt>
    <dgm:pt modelId="{18A5AD6E-01C0-4C15-A4F4-8A52AFFA6013}" type="pres">
      <dgm:prSet presAssocID="{3D621B0A-FE84-4886-BC72-E0E6F56DF115}" presName="Composite" presStyleCnt="0"/>
      <dgm:spPr/>
    </dgm:pt>
    <dgm:pt modelId="{E2967AD9-3471-4CE8-A79D-56752A383615}" type="pres">
      <dgm:prSet presAssocID="{3D621B0A-FE84-4886-BC72-E0E6F56DF115}"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4993" r="18256" b="-2"/>
          <a:stretch>
            <a:fillRect l="-25000" r="-25000"/>
          </a:stretch>
        </a:blipFill>
      </dgm:spPr>
      <dgm:extLst>
        <a:ext uri="{E40237B7-FDA0-4F09-8148-C483321AD2D9}">
          <dgm14:cNvPr xmlns:dgm14="http://schemas.microsoft.com/office/drawing/2010/diagram" id="0" name="" descr="Lots of paper women silhouettes standing in squares of dotted line mesh"/>
        </a:ext>
      </dgm:extLst>
    </dgm:pt>
    <dgm:pt modelId="{14FFCE4F-3678-48DA-89C4-DD1C7FB09015}" type="pres">
      <dgm:prSet presAssocID="{3D621B0A-FE84-4886-BC72-E0E6F56DF115}" presName="Subtitle" presStyleLbl="revTx" presStyleIdx="2" presStyleCnt="6">
        <dgm:presLayoutVars>
          <dgm:chMax val="0"/>
          <dgm:bulletEnabled/>
        </dgm:presLayoutVars>
      </dgm:prSet>
      <dgm:spPr/>
    </dgm:pt>
    <dgm:pt modelId="{CD033215-DFD9-460C-8EF4-013C39F2A90B}" type="pres">
      <dgm:prSet presAssocID="{3D621B0A-FE84-4886-BC72-E0E6F56DF115}" presName="Description" presStyleLbl="revTx" presStyleIdx="3" presStyleCnt="6">
        <dgm:presLayoutVars>
          <dgm:bulletEnabled/>
        </dgm:presLayoutVars>
      </dgm:prSet>
      <dgm:spPr/>
    </dgm:pt>
    <dgm:pt modelId="{F1437805-E541-41A4-AED8-ECD25FAE179D}" type="pres">
      <dgm:prSet presAssocID="{A699F36A-1275-4F2A-B23F-A404ABC02D6B}" presName="sibTrans" presStyleLbl="sibTrans2D1" presStyleIdx="0" presStyleCnt="0"/>
      <dgm:spPr/>
    </dgm:pt>
    <dgm:pt modelId="{A5365B51-9115-47B5-BAEF-2DECEBA0F21A}" type="pres">
      <dgm:prSet presAssocID="{44E5ACBB-E506-4AC3-929C-0C3469365771}" presName="Composite" presStyleCnt="0"/>
      <dgm:spPr/>
    </dgm:pt>
    <dgm:pt modelId="{2D950D2D-BBC3-4551-AAD4-533D552A80C3}" type="pres">
      <dgm:prSet presAssocID="{44E5ACBB-E506-4AC3-929C-0C3469365771}"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5907" r="9092" b="-2"/>
          <a:stretch>
            <a:fillRect l="-17000" r="-17000"/>
          </a:stretch>
        </a:blipFill>
      </dgm:spPr>
      <dgm:extLst>
        <a:ext uri="{E40237B7-FDA0-4F09-8148-C483321AD2D9}">
          <dgm14:cNvPr xmlns:dgm14="http://schemas.microsoft.com/office/drawing/2010/diagram" id="0" name="" descr="Figurines on the speech bubbles."/>
        </a:ext>
      </dgm:extLst>
    </dgm:pt>
    <dgm:pt modelId="{F3269E71-D5E1-4EDC-8996-E5674AD28A6C}" type="pres">
      <dgm:prSet presAssocID="{44E5ACBB-E506-4AC3-929C-0C3469365771}" presName="Subtitle" presStyleLbl="revTx" presStyleIdx="4" presStyleCnt="6">
        <dgm:presLayoutVars>
          <dgm:chMax val="0"/>
          <dgm:bulletEnabled/>
        </dgm:presLayoutVars>
      </dgm:prSet>
      <dgm:spPr/>
    </dgm:pt>
    <dgm:pt modelId="{A0D0CF39-B45A-4B0C-87FD-4373D2793732}" type="pres">
      <dgm:prSet presAssocID="{44E5ACBB-E506-4AC3-929C-0C3469365771}" presName="Description" presStyleLbl="revTx" presStyleIdx="5" presStyleCnt="6">
        <dgm:presLayoutVars>
          <dgm:bulletEnabled/>
        </dgm:presLayoutVars>
      </dgm:prSet>
      <dgm:spPr/>
    </dgm:pt>
  </dgm:ptLst>
  <dgm:cxnLst>
    <dgm:cxn modelId="{6CA73014-2375-4102-A9E0-53BA570E11C1}" srcId="{A7F012D7-BC18-477C-9A17-5475CE6838D8}" destId="{3D621B0A-FE84-4886-BC72-E0E6F56DF115}" srcOrd="1" destOrd="0" parTransId="{D5E49F2E-687A-4ECD-B042-CBE59E238E48}" sibTransId="{A699F36A-1275-4F2A-B23F-A404ABC02D6B}"/>
    <dgm:cxn modelId="{E586A529-9E4E-4FC1-B037-ACB8BBEAD901}" type="presOf" srcId="{34B1454B-800E-4161-A3B3-106112D57311}" destId="{A0D0CF39-B45A-4B0C-87FD-4373D2793732}" srcOrd="0" destOrd="0" presId="urn:microsoft.com/office/officeart/2024/3/layout/verticalVisualTextBlock1"/>
    <dgm:cxn modelId="{A320E32A-B335-47D3-BB51-1CD4D0DEC40C}" type="presOf" srcId="{19F3A15F-2782-48B8-A812-1307386ED109}" destId="{CD033215-DFD9-460C-8EF4-013C39F2A90B}" srcOrd="0" destOrd="0" presId="urn:microsoft.com/office/officeart/2024/3/layout/verticalVisualTextBlock1"/>
    <dgm:cxn modelId="{1F05853B-3E19-409C-81D3-4D1217B3FD40}" srcId="{44E5ACBB-E506-4AC3-929C-0C3469365771}" destId="{34B1454B-800E-4161-A3B3-106112D57311}" srcOrd="0" destOrd="0" parTransId="{87CE1380-0FB7-4343-9961-FA9B038A3387}" sibTransId="{15927CC4-7575-47B2-8AE0-70E1958B0E35}"/>
    <dgm:cxn modelId="{6443034E-910A-4EFF-BC72-95D727453897}" type="presOf" srcId="{4B475006-0895-4576-A12D-82B3A213C018}" destId="{B3FC7259-B458-4516-B5AA-2AE21214D7CB}" srcOrd="0" destOrd="0" presId="urn:microsoft.com/office/officeart/2024/3/layout/verticalVisualTextBlock1"/>
    <dgm:cxn modelId="{78B1BA51-A4C7-4068-8155-C2E4F50C1A27}" srcId="{3D621B0A-FE84-4886-BC72-E0E6F56DF115}" destId="{19F3A15F-2782-48B8-A812-1307386ED109}" srcOrd="0" destOrd="0" parTransId="{A598C8A3-37A4-47DC-A1E6-68AE49E766D6}" sibTransId="{6AA75047-BBF6-4801-BA4E-ED9EF0914C25}"/>
    <dgm:cxn modelId="{85CFDD79-1408-473C-B6D1-58AD1808AAE0}" type="presOf" srcId="{A699F36A-1275-4F2A-B23F-A404ABC02D6B}" destId="{F1437805-E541-41A4-AED8-ECD25FAE179D}" srcOrd="0" destOrd="0" presId="urn:microsoft.com/office/officeart/2024/3/layout/verticalVisualTextBlock1"/>
    <dgm:cxn modelId="{69D8B47A-B5E1-4281-A8DA-4576B667F638}" type="presOf" srcId="{A7F012D7-BC18-477C-9A17-5475CE6838D8}" destId="{39458740-FCE8-40E6-A91A-E1AE116F7EEE}" srcOrd="0" destOrd="0" presId="urn:microsoft.com/office/officeart/2024/3/layout/verticalVisualTextBlock1"/>
    <dgm:cxn modelId="{7A6F1C93-4B3D-4200-B5F6-15DE89665CBE}" type="presOf" srcId="{3D621B0A-FE84-4886-BC72-E0E6F56DF115}" destId="{14FFCE4F-3678-48DA-89C4-DD1C7FB09015}" srcOrd="0" destOrd="0" presId="urn:microsoft.com/office/officeart/2024/3/layout/verticalVisualTextBlock1"/>
    <dgm:cxn modelId="{1439D994-F2DB-4D7D-A2C9-8DAF6A56A8C3}" type="presOf" srcId="{E2393941-7757-44D6-810D-1C6658A8D49B}" destId="{3FC5ACD9-E640-44A4-80C1-02D63C4A1DED}" srcOrd="0" destOrd="0" presId="urn:microsoft.com/office/officeart/2024/3/layout/verticalVisualTextBlock1"/>
    <dgm:cxn modelId="{2C18B397-203B-4A2F-AFE6-52E68C445852}" type="presOf" srcId="{89D5A503-7A55-4719-8338-D0D35F43DF90}" destId="{2D2CC29B-D505-47A0-A48F-85DAF72DEA1B}" srcOrd="0" destOrd="0" presId="urn:microsoft.com/office/officeart/2024/3/layout/verticalVisualTextBlock1"/>
    <dgm:cxn modelId="{6573D69C-CAF9-40FD-8C2C-98E370CE98E0}" type="presOf" srcId="{44E5ACBB-E506-4AC3-929C-0C3469365771}" destId="{F3269E71-D5E1-4EDC-8996-E5674AD28A6C}" srcOrd="0" destOrd="0" presId="urn:microsoft.com/office/officeart/2024/3/layout/verticalVisualTextBlock1"/>
    <dgm:cxn modelId="{5877F3A0-8320-4CF1-8C8A-A98BA2D3615B}" srcId="{A7F012D7-BC18-477C-9A17-5475CE6838D8}" destId="{44E5ACBB-E506-4AC3-929C-0C3469365771}" srcOrd="2" destOrd="0" parTransId="{E0674258-9F41-4E8B-B72C-08EBDF12E952}" sibTransId="{31C5A6ED-16F1-4C0F-986C-F23F64884247}"/>
    <dgm:cxn modelId="{D3251EB3-95CA-4416-8398-ADCCA1EB962B}" srcId="{A7F012D7-BC18-477C-9A17-5475CE6838D8}" destId="{E2393941-7757-44D6-810D-1C6658A8D49B}" srcOrd="0" destOrd="0" parTransId="{30091B72-5179-445E-90B7-8AD925D1B60F}" sibTransId="{4B475006-0895-4576-A12D-82B3A213C018}"/>
    <dgm:cxn modelId="{9FD158F7-F3CE-42BC-BD87-C765155CB9F7}" srcId="{E2393941-7757-44D6-810D-1C6658A8D49B}" destId="{89D5A503-7A55-4719-8338-D0D35F43DF90}" srcOrd="0" destOrd="0" parTransId="{70D6C53C-E631-49B9-B4CF-48D9B3CE6E22}" sibTransId="{44D9CC8C-79E5-4745-8CB7-FE24A29CB6BC}"/>
    <dgm:cxn modelId="{723C2DC1-EC69-4BE3-BFA2-921A519E2A84}" type="presParOf" srcId="{39458740-FCE8-40E6-A91A-E1AE116F7EEE}" destId="{36E2E1E1-9F49-4FBB-94B3-9E4AEFD4234C}" srcOrd="0" destOrd="0" presId="urn:microsoft.com/office/officeart/2024/3/layout/verticalVisualTextBlock1"/>
    <dgm:cxn modelId="{B8E9C8B2-7349-4073-969D-28E32A35187E}" type="presParOf" srcId="{36E2E1E1-9F49-4FBB-94B3-9E4AEFD4234C}" destId="{41A090C7-8BD8-4E8D-AF39-3E4FC7CDADBF}" srcOrd="0" destOrd="0" presId="urn:microsoft.com/office/officeart/2024/3/layout/verticalVisualTextBlock1"/>
    <dgm:cxn modelId="{5369EF20-DD3E-4B28-9CEB-57BFA3484C39}" type="presParOf" srcId="{36E2E1E1-9F49-4FBB-94B3-9E4AEFD4234C}" destId="{3FC5ACD9-E640-44A4-80C1-02D63C4A1DED}" srcOrd="1" destOrd="0" presId="urn:microsoft.com/office/officeart/2024/3/layout/verticalVisualTextBlock1"/>
    <dgm:cxn modelId="{5824D6CC-8E23-487F-A3F5-C347CC818FEE}" type="presParOf" srcId="{36E2E1E1-9F49-4FBB-94B3-9E4AEFD4234C}" destId="{2D2CC29B-D505-47A0-A48F-85DAF72DEA1B}" srcOrd="2" destOrd="0" presId="urn:microsoft.com/office/officeart/2024/3/layout/verticalVisualTextBlock1"/>
    <dgm:cxn modelId="{9BE52122-3738-48EC-90D8-26B77F1F2D5D}" type="presParOf" srcId="{39458740-FCE8-40E6-A91A-E1AE116F7EEE}" destId="{B3FC7259-B458-4516-B5AA-2AE21214D7CB}" srcOrd="1" destOrd="0" presId="urn:microsoft.com/office/officeart/2024/3/layout/verticalVisualTextBlock1"/>
    <dgm:cxn modelId="{2A731121-7371-4532-973F-F734AEEAFAB6}" type="presParOf" srcId="{39458740-FCE8-40E6-A91A-E1AE116F7EEE}" destId="{18A5AD6E-01C0-4C15-A4F4-8A52AFFA6013}" srcOrd="2" destOrd="0" presId="urn:microsoft.com/office/officeart/2024/3/layout/verticalVisualTextBlock1"/>
    <dgm:cxn modelId="{9FDBEA18-57C6-459A-AAEB-31128B39C72F}" type="presParOf" srcId="{18A5AD6E-01C0-4C15-A4F4-8A52AFFA6013}" destId="{E2967AD9-3471-4CE8-A79D-56752A383615}" srcOrd="0" destOrd="0" presId="urn:microsoft.com/office/officeart/2024/3/layout/verticalVisualTextBlock1"/>
    <dgm:cxn modelId="{CEA0F860-C072-4218-B001-FCCE72DC5FE1}" type="presParOf" srcId="{18A5AD6E-01C0-4C15-A4F4-8A52AFFA6013}" destId="{14FFCE4F-3678-48DA-89C4-DD1C7FB09015}" srcOrd="1" destOrd="0" presId="urn:microsoft.com/office/officeart/2024/3/layout/verticalVisualTextBlock1"/>
    <dgm:cxn modelId="{A339C9BB-F36D-48A4-B5EF-37440BBCEF06}" type="presParOf" srcId="{18A5AD6E-01C0-4C15-A4F4-8A52AFFA6013}" destId="{CD033215-DFD9-460C-8EF4-013C39F2A90B}" srcOrd="2" destOrd="0" presId="urn:microsoft.com/office/officeart/2024/3/layout/verticalVisualTextBlock1"/>
    <dgm:cxn modelId="{1AE086DA-4467-49DF-91D2-E425B4398E17}" type="presParOf" srcId="{39458740-FCE8-40E6-A91A-E1AE116F7EEE}" destId="{F1437805-E541-41A4-AED8-ECD25FAE179D}" srcOrd="3" destOrd="0" presId="urn:microsoft.com/office/officeart/2024/3/layout/verticalVisualTextBlock1"/>
    <dgm:cxn modelId="{1045C2F3-7D0A-4850-9B2C-793C01940004}" type="presParOf" srcId="{39458740-FCE8-40E6-A91A-E1AE116F7EEE}" destId="{A5365B51-9115-47B5-BAEF-2DECEBA0F21A}" srcOrd="4" destOrd="0" presId="urn:microsoft.com/office/officeart/2024/3/layout/verticalVisualTextBlock1"/>
    <dgm:cxn modelId="{059DE13B-92DF-45BC-90B5-44959C90C63D}" type="presParOf" srcId="{A5365B51-9115-47B5-BAEF-2DECEBA0F21A}" destId="{2D950D2D-BBC3-4551-AAD4-533D552A80C3}" srcOrd="0" destOrd="0" presId="urn:microsoft.com/office/officeart/2024/3/layout/verticalVisualTextBlock1"/>
    <dgm:cxn modelId="{AD9AE1D4-9F30-47DC-858C-D1DE1A46DA33}" type="presParOf" srcId="{A5365B51-9115-47B5-BAEF-2DECEBA0F21A}" destId="{F3269E71-D5E1-4EDC-8996-E5674AD28A6C}" srcOrd="1" destOrd="0" presId="urn:microsoft.com/office/officeart/2024/3/layout/verticalVisualTextBlock1"/>
    <dgm:cxn modelId="{7FC0110F-2DDC-49D5-A3C6-F878C1A8A18C}" type="presParOf" srcId="{A5365B51-9115-47B5-BAEF-2DECEBA0F21A}" destId="{A0D0CF39-B45A-4B0C-87FD-4373D2793732}" srcOrd="2" destOrd="0" presId="urn:microsoft.com/office/officeart/2024/3/layout/verticalVisualTextBlock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8AAEC4-F702-4796-8F63-8B8E4D3BB57B}">
      <dsp:nvSpPr>
        <dsp:cNvPr id="0" name=""/>
        <dsp:cNvSpPr/>
      </dsp:nvSpPr>
      <dsp:spPr>
        <a:xfrm>
          <a:off x="0" y="0"/>
          <a:ext cx="958918" cy="95891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1596" r="21653"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7C6DA639-2356-48A1-AF19-92441905DD8F}">
      <dsp:nvSpPr>
        <dsp:cNvPr id="0" name=""/>
        <dsp:cNvSpPr/>
      </dsp:nvSpPr>
      <dsp:spPr>
        <a:xfrm>
          <a:off x="1138918" y="0"/>
          <a:ext cx="1723525" cy="38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90000"/>
            </a:lnSpc>
            <a:spcBef>
              <a:spcPct val="0"/>
            </a:spcBef>
            <a:spcAft>
              <a:spcPct val="35000"/>
            </a:spcAft>
            <a:buNone/>
            <a:defRPr b="1"/>
          </a:pPr>
          <a:r>
            <a:rPr lang="en-US" sz="1300" kern="1200">
              <a:solidFill>
                <a:schemeClr val="bg1"/>
              </a:solidFill>
              <a:latin typeface="Arial" panose="020B0604020202020204" pitchFamily="34" charset="0"/>
              <a:cs typeface="Arial" panose="020B0604020202020204" pitchFamily="34" charset="0"/>
            </a:rPr>
            <a:t>Operational Efficiency Impact</a:t>
          </a:r>
        </a:p>
      </dsp:txBody>
      <dsp:txXfrm>
        <a:off x="1138918" y="0"/>
        <a:ext cx="1723525" cy="389679"/>
      </dsp:txXfrm>
    </dsp:sp>
    <dsp:sp modelId="{63E968E8-8F25-474A-A9CC-946B32411510}">
      <dsp:nvSpPr>
        <dsp:cNvPr id="0" name=""/>
        <dsp:cNvSpPr/>
      </dsp:nvSpPr>
      <dsp:spPr>
        <a:xfrm>
          <a:off x="1138918" y="389679"/>
          <a:ext cx="1723525" cy="774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700" rIns="12700" bIns="12700" numCol="1" spcCol="1270" anchor="t" anchorCtr="0">
          <a:noAutofit/>
        </a:bodyPr>
        <a:lstStyle/>
        <a:p>
          <a:pPr marL="0" lvl="0" indent="0" algn="l" defTabSz="444500">
            <a:lnSpc>
              <a:spcPct val="90000"/>
            </a:lnSpc>
            <a:spcBef>
              <a:spcPct val="0"/>
            </a:spcBef>
            <a:spcAft>
              <a:spcPct val="35000"/>
            </a:spcAft>
            <a:buNone/>
          </a:pPr>
          <a:r>
            <a:rPr lang="en-US" sz="1000" kern="1200">
              <a:solidFill>
                <a:schemeClr val="bg1"/>
              </a:solidFill>
              <a:latin typeface="Arial" panose="020B0604020202020204" pitchFamily="34" charset="0"/>
              <a:cs typeface="Arial" panose="020B0604020202020204" pitchFamily="34" charset="0"/>
            </a:rPr>
            <a:t>No-shows and cancellations disrupt hospital operations and reduce efficiency in patient scheduling and resource allocation.</a:t>
          </a:r>
        </a:p>
      </dsp:txBody>
      <dsp:txXfrm>
        <a:off x="1138918" y="389679"/>
        <a:ext cx="1723525" cy="774279"/>
      </dsp:txXfrm>
    </dsp:sp>
    <dsp:sp modelId="{65E191C7-9B67-4A9E-9BEC-C19FD98A05EA}">
      <dsp:nvSpPr>
        <dsp:cNvPr id="0" name=""/>
        <dsp:cNvSpPr/>
      </dsp:nvSpPr>
      <dsp:spPr>
        <a:xfrm>
          <a:off x="0" y="1264128"/>
          <a:ext cx="958918" cy="95891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6716" r="20779" b="-8"/>
          <a:stretch>
            <a:fillRect l="-30000" r="-30000"/>
          </a:stretch>
        </a:blipFill>
        <a:ln>
          <a:noFill/>
        </a:ln>
        <a:effectLst/>
      </dsp:spPr>
      <dsp:style>
        <a:lnRef idx="0">
          <a:scrgbClr r="0" g="0" b="0"/>
        </a:lnRef>
        <a:fillRef idx="3">
          <a:scrgbClr r="0" g="0" b="0"/>
        </a:fillRef>
        <a:effectRef idx="2">
          <a:scrgbClr r="0" g="0" b="0"/>
        </a:effectRef>
        <a:fontRef idx="minor">
          <a:schemeClr val="lt1"/>
        </a:fontRef>
      </dsp:style>
    </dsp:sp>
    <dsp:sp modelId="{2E27031C-71F4-44F2-BB9F-CBEF83C681ED}">
      <dsp:nvSpPr>
        <dsp:cNvPr id="0" name=""/>
        <dsp:cNvSpPr/>
      </dsp:nvSpPr>
      <dsp:spPr>
        <a:xfrm>
          <a:off x="1138918" y="1264128"/>
          <a:ext cx="1723525" cy="38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90000"/>
            </a:lnSpc>
            <a:spcBef>
              <a:spcPct val="0"/>
            </a:spcBef>
            <a:spcAft>
              <a:spcPct val="35000"/>
            </a:spcAft>
            <a:buNone/>
            <a:defRPr b="1"/>
          </a:pPr>
          <a:r>
            <a:rPr lang="en-US" sz="1300" kern="1200">
              <a:solidFill>
                <a:schemeClr val="bg1"/>
              </a:solidFill>
              <a:latin typeface="Arial" panose="020B0604020202020204" pitchFamily="34" charset="0"/>
              <a:cs typeface="Arial" panose="020B0604020202020204" pitchFamily="34" charset="0"/>
            </a:rPr>
            <a:t>Quantifying Missed Appointments</a:t>
          </a:r>
        </a:p>
      </dsp:txBody>
      <dsp:txXfrm>
        <a:off x="1138918" y="1264128"/>
        <a:ext cx="1723525" cy="389679"/>
      </dsp:txXfrm>
    </dsp:sp>
    <dsp:sp modelId="{495AE440-77B0-4130-BFE4-A9C50003C485}">
      <dsp:nvSpPr>
        <dsp:cNvPr id="0" name=""/>
        <dsp:cNvSpPr/>
      </dsp:nvSpPr>
      <dsp:spPr>
        <a:xfrm>
          <a:off x="1138918" y="1653807"/>
          <a:ext cx="1723525" cy="862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700" rIns="12700" bIns="12700" numCol="1" spcCol="1270" anchor="t" anchorCtr="0">
          <a:noAutofit/>
        </a:bodyPr>
        <a:lstStyle/>
        <a:p>
          <a:pPr marL="0" lvl="0" indent="0" algn="l" defTabSz="444500">
            <a:lnSpc>
              <a:spcPct val="90000"/>
            </a:lnSpc>
            <a:spcBef>
              <a:spcPct val="0"/>
            </a:spcBef>
            <a:spcAft>
              <a:spcPct val="35000"/>
            </a:spcAft>
            <a:buNone/>
          </a:pPr>
          <a:r>
            <a:rPr lang="en-US" sz="1000" kern="1200">
              <a:solidFill>
                <a:schemeClr val="bg1"/>
              </a:solidFill>
              <a:latin typeface="Arial" panose="020B0604020202020204" pitchFamily="34" charset="0"/>
              <a:cs typeface="Arial" panose="020B0604020202020204" pitchFamily="34" charset="0"/>
            </a:rPr>
            <a:t>Analyzing missed appointments per physician helps identify problem areas for targeted intervention and improvement.</a:t>
          </a:r>
        </a:p>
      </dsp:txBody>
      <dsp:txXfrm>
        <a:off x="1138918" y="1653807"/>
        <a:ext cx="1723525" cy="862435"/>
      </dsp:txXfrm>
    </dsp:sp>
    <dsp:sp modelId="{B9F2E7B2-0F7E-4757-A566-1C0A9A47B376}">
      <dsp:nvSpPr>
        <dsp:cNvPr id="0" name=""/>
        <dsp:cNvSpPr/>
      </dsp:nvSpPr>
      <dsp:spPr>
        <a:xfrm>
          <a:off x="0" y="2616412"/>
          <a:ext cx="958918" cy="95891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0824" r="12424"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3AC492A7-4709-41D0-AF4F-F6C2F5B5AA38}">
      <dsp:nvSpPr>
        <dsp:cNvPr id="0" name=""/>
        <dsp:cNvSpPr/>
      </dsp:nvSpPr>
      <dsp:spPr>
        <a:xfrm>
          <a:off x="1138918" y="2616412"/>
          <a:ext cx="1723525" cy="38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90000"/>
            </a:lnSpc>
            <a:spcBef>
              <a:spcPct val="0"/>
            </a:spcBef>
            <a:spcAft>
              <a:spcPct val="35000"/>
            </a:spcAft>
            <a:buNone/>
            <a:defRPr b="1"/>
          </a:pPr>
          <a:r>
            <a:rPr lang="en-US" sz="1300" kern="1200">
              <a:solidFill>
                <a:schemeClr val="bg1"/>
              </a:solidFill>
              <a:latin typeface="Arial" panose="020B0604020202020204" pitchFamily="34" charset="0"/>
              <a:cs typeface="Arial" panose="020B0604020202020204" pitchFamily="34" charset="0"/>
            </a:rPr>
            <a:t>Improving Financial Performance</a:t>
          </a:r>
        </a:p>
      </dsp:txBody>
      <dsp:txXfrm>
        <a:off x="1138918" y="2616412"/>
        <a:ext cx="1723525" cy="389679"/>
      </dsp:txXfrm>
    </dsp:sp>
    <dsp:sp modelId="{BCCCEC0D-0E53-4602-8EFF-3346DBA5C127}">
      <dsp:nvSpPr>
        <dsp:cNvPr id="0" name=""/>
        <dsp:cNvSpPr/>
      </dsp:nvSpPr>
      <dsp:spPr>
        <a:xfrm>
          <a:off x="1138918" y="3006092"/>
          <a:ext cx="1723525" cy="862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700" rIns="12700" bIns="12700" numCol="1" spcCol="1270" anchor="t" anchorCtr="0">
          <a:noAutofit/>
        </a:bodyPr>
        <a:lstStyle/>
        <a:p>
          <a:pPr marL="0" lvl="0" indent="0" algn="l" defTabSz="444500">
            <a:lnSpc>
              <a:spcPct val="90000"/>
            </a:lnSpc>
            <a:spcBef>
              <a:spcPct val="0"/>
            </a:spcBef>
            <a:spcAft>
              <a:spcPct val="35000"/>
            </a:spcAft>
            <a:buNone/>
          </a:pPr>
          <a:r>
            <a:rPr lang="en-US" sz="1000" kern="1200">
              <a:solidFill>
                <a:schemeClr val="bg1"/>
              </a:solidFill>
              <a:latin typeface="Arial" panose="020B0604020202020204" pitchFamily="34" charset="0"/>
              <a:cs typeface="Arial" panose="020B0604020202020204" pitchFamily="34" charset="0"/>
            </a:rPr>
            <a:t>Reducing no-shows through reminders or overbooking optimizes resource use and boosts hospital revenue.</a:t>
          </a:r>
        </a:p>
      </dsp:txBody>
      <dsp:txXfrm>
        <a:off x="1138918" y="3006092"/>
        <a:ext cx="1723525" cy="8624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412345-A90E-401F-8579-7E7384E09F33}">
      <dsp:nvSpPr>
        <dsp:cNvPr id="0" name=""/>
        <dsp:cNvSpPr/>
      </dsp:nvSpPr>
      <dsp:spPr>
        <a:xfrm>
          <a:off x="0" y="0"/>
          <a:ext cx="1167700" cy="116770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8077" r="15172"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21AF2905-7503-42AB-9975-9233A48B0601}">
      <dsp:nvSpPr>
        <dsp:cNvPr id="0" name=""/>
        <dsp:cNvSpPr/>
      </dsp:nvSpPr>
      <dsp:spPr>
        <a:xfrm>
          <a:off x="1347700" y="0"/>
          <a:ext cx="2137973" cy="35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90000"/>
            </a:lnSpc>
            <a:spcBef>
              <a:spcPct val="0"/>
            </a:spcBef>
            <a:spcAft>
              <a:spcPct val="35000"/>
            </a:spcAft>
            <a:buNone/>
            <a:defRPr b="1"/>
          </a:pPr>
          <a:r>
            <a:rPr lang="en-US" sz="1200" kern="1200" dirty="0">
              <a:solidFill>
                <a:schemeClr val="bg1"/>
              </a:solidFill>
              <a:latin typeface="Arial" panose="020B0604020202020204" pitchFamily="34" charset="0"/>
              <a:cs typeface="Arial" panose="020B0604020202020204" pitchFamily="34" charset="0"/>
            </a:rPr>
            <a:t>Importance of Tracking Overdue Bills</a:t>
          </a:r>
        </a:p>
      </dsp:txBody>
      <dsp:txXfrm>
        <a:off x="1347700" y="0"/>
        <a:ext cx="2137973" cy="353329"/>
      </dsp:txXfrm>
    </dsp:sp>
    <dsp:sp modelId="{27F13D8E-B5F6-4291-8408-A5EF163E6883}">
      <dsp:nvSpPr>
        <dsp:cNvPr id="0" name=""/>
        <dsp:cNvSpPr/>
      </dsp:nvSpPr>
      <dsp:spPr>
        <a:xfrm>
          <a:off x="1347700" y="353329"/>
          <a:ext cx="2137973" cy="898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90000"/>
            </a:lnSpc>
            <a:spcBef>
              <a:spcPct val="0"/>
            </a:spcBef>
            <a:spcAft>
              <a:spcPct val="35000"/>
            </a:spcAft>
            <a:buNone/>
          </a:pPr>
          <a:r>
            <a:rPr lang="en-US" sz="1200" kern="1200">
              <a:solidFill>
                <a:schemeClr val="bg1"/>
              </a:solidFill>
              <a:latin typeface="Arial" panose="020B0604020202020204" pitchFamily="34" charset="0"/>
              <a:cs typeface="Arial" panose="020B0604020202020204" pitchFamily="34" charset="0"/>
            </a:rPr>
            <a:t>Monitoring bills older than 30 days helps manage outstanding debt effectively and improve collection rates.</a:t>
          </a:r>
        </a:p>
      </dsp:txBody>
      <dsp:txXfrm>
        <a:off x="1347700" y="353329"/>
        <a:ext cx="2137973" cy="898785"/>
      </dsp:txXfrm>
    </dsp:sp>
    <dsp:sp modelId="{008719AF-0E8E-498A-B7A3-2A0CAE908F21}">
      <dsp:nvSpPr>
        <dsp:cNvPr id="0" name=""/>
        <dsp:cNvSpPr/>
      </dsp:nvSpPr>
      <dsp:spPr>
        <a:xfrm>
          <a:off x="0" y="1352284"/>
          <a:ext cx="1167700" cy="116770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3001" r="20248"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0B613CA6-14D9-4821-866A-40DB8136879B}">
      <dsp:nvSpPr>
        <dsp:cNvPr id="0" name=""/>
        <dsp:cNvSpPr/>
      </dsp:nvSpPr>
      <dsp:spPr>
        <a:xfrm>
          <a:off x="1347700" y="1352284"/>
          <a:ext cx="2137973" cy="353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90000"/>
            </a:lnSpc>
            <a:spcBef>
              <a:spcPct val="0"/>
            </a:spcBef>
            <a:spcAft>
              <a:spcPct val="35000"/>
            </a:spcAft>
            <a:buNone/>
            <a:defRPr b="1"/>
          </a:pPr>
          <a:r>
            <a:rPr lang="en-GB" sz="1200" kern="1200" noProof="0" dirty="0">
              <a:solidFill>
                <a:schemeClr val="bg1"/>
              </a:solidFill>
              <a:latin typeface="Arial" panose="020B0604020202020204" pitchFamily="34" charset="0"/>
              <a:cs typeface="Arial" panose="020B0604020202020204" pitchFamily="34" charset="0"/>
            </a:rPr>
            <a:t>Prioritising</a:t>
          </a:r>
          <a:r>
            <a:rPr lang="en-US" sz="1200" kern="1200" dirty="0">
              <a:solidFill>
                <a:schemeClr val="bg1"/>
              </a:solidFill>
              <a:latin typeface="Arial" panose="020B0604020202020204" pitchFamily="34" charset="0"/>
              <a:cs typeface="Arial" panose="020B0604020202020204" pitchFamily="34" charset="0"/>
            </a:rPr>
            <a:t> Follow-Up Actions</a:t>
          </a:r>
        </a:p>
      </dsp:txBody>
      <dsp:txXfrm>
        <a:off x="1347700" y="1352284"/>
        <a:ext cx="2137973" cy="353329"/>
      </dsp:txXfrm>
    </dsp:sp>
    <dsp:sp modelId="{FE0B739A-9CE9-415A-BFAD-3AA8B6A2ECCC}">
      <dsp:nvSpPr>
        <dsp:cNvPr id="0" name=""/>
        <dsp:cNvSpPr/>
      </dsp:nvSpPr>
      <dsp:spPr>
        <a:xfrm>
          <a:off x="1347700" y="1705613"/>
          <a:ext cx="2137973" cy="898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90000"/>
            </a:lnSpc>
            <a:spcBef>
              <a:spcPct val="0"/>
            </a:spcBef>
            <a:spcAft>
              <a:spcPct val="35000"/>
            </a:spcAft>
            <a:buNone/>
          </a:pPr>
          <a:r>
            <a:rPr lang="en-US" sz="1200" kern="1200" dirty="0">
              <a:solidFill>
                <a:schemeClr val="bg1"/>
              </a:solidFill>
              <a:latin typeface="Arial" panose="020B0604020202020204" pitchFamily="34" charset="0"/>
              <a:cs typeface="Arial" panose="020B0604020202020204" pitchFamily="34" charset="0"/>
            </a:rPr>
            <a:t>The report helps </a:t>
          </a:r>
          <a:r>
            <a:rPr lang="en-GB" sz="1200" kern="1200" noProof="0" dirty="0">
              <a:solidFill>
                <a:schemeClr val="bg1"/>
              </a:solidFill>
              <a:latin typeface="Arial" panose="020B0604020202020204" pitchFamily="34" charset="0"/>
              <a:cs typeface="Arial" panose="020B0604020202020204" pitchFamily="34" charset="0"/>
            </a:rPr>
            <a:t>prioritise</a:t>
          </a:r>
          <a:r>
            <a:rPr lang="en-US" sz="1200" kern="1200" dirty="0">
              <a:solidFill>
                <a:schemeClr val="bg1"/>
              </a:solidFill>
              <a:latin typeface="Arial" panose="020B0604020202020204" pitchFamily="34" charset="0"/>
              <a:cs typeface="Arial" panose="020B0604020202020204" pitchFamily="34" charset="0"/>
            </a:rPr>
            <a:t> accounts for follow-up to reduce aging receivables and enhance cash flow.</a:t>
          </a:r>
        </a:p>
      </dsp:txBody>
      <dsp:txXfrm>
        <a:off x="1347700" y="1705613"/>
        <a:ext cx="2137973" cy="898785"/>
      </dsp:txXfrm>
    </dsp:sp>
    <dsp:sp modelId="{F96DC232-A7B9-4EAC-9453-D08790821E53}">
      <dsp:nvSpPr>
        <dsp:cNvPr id="0" name=""/>
        <dsp:cNvSpPr/>
      </dsp:nvSpPr>
      <dsp:spPr>
        <a:xfrm>
          <a:off x="0" y="2704568"/>
          <a:ext cx="1167700" cy="116770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5749" r="5" b="6"/>
          <a:stretch>
            <a:fillRect l="-28000" r="-28000"/>
          </a:stretch>
        </a:blipFill>
        <a:ln>
          <a:noFill/>
        </a:ln>
        <a:effectLst/>
      </dsp:spPr>
      <dsp:style>
        <a:lnRef idx="0">
          <a:scrgbClr r="0" g="0" b="0"/>
        </a:lnRef>
        <a:fillRef idx="3">
          <a:scrgbClr r="0" g="0" b="0"/>
        </a:fillRef>
        <a:effectRef idx="2">
          <a:scrgbClr r="0" g="0" b="0"/>
        </a:effectRef>
        <a:fontRef idx="minor">
          <a:schemeClr val="lt1"/>
        </a:fontRef>
      </dsp:style>
    </dsp:sp>
    <dsp:sp modelId="{1579BC74-0CA7-434E-91FC-2844C87AEE3D}">
      <dsp:nvSpPr>
        <dsp:cNvPr id="0" name=""/>
        <dsp:cNvSpPr/>
      </dsp:nvSpPr>
      <dsp:spPr>
        <a:xfrm>
          <a:off x="1347700" y="2704568"/>
          <a:ext cx="2137973" cy="193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90000"/>
            </a:lnSpc>
            <a:spcBef>
              <a:spcPct val="0"/>
            </a:spcBef>
            <a:spcAft>
              <a:spcPct val="35000"/>
            </a:spcAft>
            <a:buNone/>
            <a:defRPr b="1"/>
          </a:pPr>
          <a:r>
            <a:rPr lang="en-US" sz="1200" kern="1200" dirty="0">
              <a:solidFill>
                <a:schemeClr val="bg1"/>
              </a:solidFill>
              <a:latin typeface="Arial" panose="020B0604020202020204" pitchFamily="34" charset="0"/>
              <a:cs typeface="Arial" panose="020B0604020202020204" pitchFamily="34" charset="0"/>
            </a:rPr>
            <a:t>Mitigating Financial Risk</a:t>
          </a:r>
        </a:p>
      </dsp:txBody>
      <dsp:txXfrm>
        <a:off x="1347700" y="2704568"/>
        <a:ext cx="2137973" cy="193646"/>
      </dsp:txXfrm>
    </dsp:sp>
    <dsp:sp modelId="{99873808-2667-459A-9F0E-4BB30EFF1FE4}">
      <dsp:nvSpPr>
        <dsp:cNvPr id="0" name=""/>
        <dsp:cNvSpPr/>
      </dsp:nvSpPr>
      <dsp:spPr>
        <a:xfrm>
          <a:off x="1347700" y="2898215"/>
          <a:ext cx="2137973" cy="1058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15240" bIns="15240" numCol="1" spcCol="1270" anchor="t" anchorCtr="0">
          <a:noAutofit/>
        </a:bodyPr>
        <a:lstStyle/>
        <a:p>
          <a:pPr marL="0" lvl="0" indent="0" algn="l" defTabSz="533400">
            <a:lnSpc>
              <a:spcPct val="90000"/>
            </a:lnSpc>
            <a:spcBef>
              <a:spcPct val="0"/>
            </a:spcBef>
            <a:spcAft>
              <a:spcPct val="35000"/>
            </a:spcAft>
            <a:buNone/>
          </a:pPr>
          <a:r>
            <a:rPr lang="en-US" sz="1200" kern="1200" dirty="0">
              <a:solidFill>
                <a:schemeClr val="bg1"/>
              </a:solidFill>
              <a:latin typeface="Arial" panose="020B0604020202020204" pitchFamily="34" charset="0"/>
              <a:cs typeface="Arial" panose="020B0604020202020204" pitchFamily="34" charset="0"/>
            </a:rPr>
            <a:t>Hospitals can mitigate financial risks by closely monitoring overdue accounts and </a:t>
          </a:r>
          <a:r>
            <a:rPr lang="en-GB" sz="1200" kern="1200" noProof="0" dirty="0">
              <a:solidFill>
                <a:schemeClr val="bg1"/>
              </a:solidFill>
              <a:latin typeface="Arial" panose="020B0604020202020204" pitchFamily="34" charset="0"/>
              <a:cs typeface="Arial" panose="020B0604020202020204" pitchFamily="34" charset="0"/>
            </a:rPr>
            <a:t>maintaining</a:t>
          </a:r>
          <a:r>
            <a:rPr lang="en-US" sz="1200" kern="1200" dirty="0">
              <a:solidFill>
                <a:schemeClr val="bg1"/>
              </a:solidFill>
              <a:latin typeface="Arial" panose="020B0604020202020204" pitchFamily="34" charset="0"/>
              <a:cs typeface="Arial" panose="020B0604020202020204" pitchFamily="34" charset="0"/>
            </a:rPr>
            <a:t> strong revenue cycles.</a:t>
          </a:r>
        </a:p>
      </dsp:txBody>
      <dsp:txXfrm>
        <a:off x="1347700" y="2898215"/>
        <a:ext cx="2137973" cy="10584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A090C7-8BD8-4E8D-AF39-3E4FC7CDADBF}">
      <dsp:nvSpPr>
        <dsp:cNvPr id="0" name=""/>
        <dsp:cNvSpPr/>
      </dsp:nvSpPr>
      <dsp:spPr>
        <a:xfrm>
          <a:off x="0" y="0"/>
          <a:ext cx="958918" cy="95891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31563" r="1686"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3FC5ACD9-E640-44A4-80C1-02D63C4A1DED}">
      <dsp:nvSpPr>
        <dsp:cNvPr id="0" name=""/>
        <dsp:cNvSpPr/>
      </dsp:nvSpPr>
      <dsp:spPr>
        <a:xfrm>
          <a:off x="1138918" y="0"/>
          <a:ext cx="1723525" cy="40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defRPr b="1"/>
          </a:pPr>
          <a:r>
            <a:rPr lang="en-US" sz="1400" kern="1200" dirty="0">
              <a:solidFill>
                <a:schemeClr val="bg1"/>
              </a:solidFill>
              <a:latin typeface="Arial" panose="020B0604020202020204" pitchFamily="34" charset="0"/>
              <a:cs typeface="Arial" panose="020B0604020202020204" pitchFamily="34" charset="0"/>
            </a:rPr>
            <a:t>Equitable Care and Staffing</a:t>
          </a:r>
        </a:p>
      </dsp:txBody>
      <dsp:txXfrm>
        <a:off x="1138918" y="0"/>
        <a:ext cx="1723525" cy="407310"/>
      </dsp:txXfrm>
    </dsp:sp>
    <dsp:sp modelId="{2D2CC29B-D505-47A0-A48F-85DAF72DEA1B}">
      <dsp:nvSpPr>
        <dsp:cNvPr id="0" name=""/>
        <dsp:cNvSpPr/>
      </dsp:nvSpPr>
      <dsp:spPr>
        <a:xfrm>
          <a:off x="1138918" y="407310"/>
          <a:ext cx="1723525" cy="774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970" rIns="13970" bIns="13970" numCol="1" spcCol="1270" anchor="t" anchorCtr="0">
          <a:noAutofit/>
        </a:bodyPr>
        <a:lstStyle/>
        <a:p>
          <a:pPr marL="0" lvl="0" indent="0" algn="l" defTabSz="488950">
            <a:lnSpc>
              <a:spcPct val="90000"/>
            </a:lnSpc>
            <a:spcBef>
              <a:spcPct val="0"/>
            </a:spcBef>
            <a:spcAft>
              <a:spcPct val="35000"/>
            </a:spcAft>
            <a:buNone/>
          </a:pPr>
          <a:r>
            <a:rPr lang="en-GB" sz="1100" kern="1200" noProof="0" dirty="0">
              <a:solidFill>
                <a:schemeClr val="bg1"/>
              </a:solidFill>
              <a:latin typeface="Arial" panose="020B0604020202020204" pitchFamily="34" charset="0"/>
              <a:cs typeface="Arial" panose="020B0604020202020204" pitchFamily="34" charset="0"/>
            </a:rPr>
            <a:t>Analysing</a:t>
          </a:r>
          <a:r>
            <a:rPr lang="en-US" sz="1100" kern="1200" dirty="0">
              <a:solidFill>
                <a:schemeClr val="bg1"/>
              </a:solidFill>
              <a:latin typeface="Arial" panose="020B0604020202020204" pitchFamily="34" charset="0"/>
              <a:cs typeface="Arial" panose="020B0604020202020204" pitchFamily="34" charset="0"/>
            </a:rPr>
            <a:t> gender distribution ensures fair staffing and </a:t>
          </a:r>
          <a:r>
            <a:rPr lang="en-GB" sz="1100" kern="1200" noProof="0" dirty="0">
              <a:solidFill>
                <a:schemeClr val="bg1"/>
              </a:solidFill>
              <a:latin typeface="Arial" panose="020B0604020202020204" pitchFamily="34" charset="0"/>
              <a:cs typeface="Arial" panose="020B0604020202020204" pitchFamily="34" charset="0"/>
            </a:rPr>
            <a:t>equitable</a:t>
          </a:r>
          <a:r>
            <a:rPr lang="en-US" sz="1100" kern="1200" dirty="0">
              <a:solidFill>
                <a:schemeClr val="bg1"/>
              </a:solidFill>
              <a:latin typeface="Arial" panose="020B0604020202020204" pitchFamily="34" charset="0"/>
              <a:cs typeface="Arial" panose="020B0604020202020204" pitchFamily="34" charset="0"/>
            </a:rPr>
            <a:t> care in various medical specializations.</a:t>
          </a:r>
        </a:p>
      </dsp:txBody>
      <dsp:txXfrm>
        <a:off x="1138918" y="407310"/>
        <a:ext cx="1723525" cy="774279"/>
      </dsp:txXfrm>
    </dsp:sp>
    <dsp:sp modelId="{E2967AD9-3471-4CE8-A79D-56752A383615}">
      <dsp:nvSpPr>
        <dsp:cNvPr id="0" name=""/>
        <dsp:cNvSpPr/>
      </dsp:nvSpPr>
      <dsp:spPr>
        <a:xfrm>
          <a:off x="0" y="1281759"/>
          <a:ext cx="958918" cy="95891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4993" r="18256"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14FFCE4F-3678-48DA-89C4-DD1C7FB09015}">
      <dsp:nvSpPr>
        <dsp:cNvPr id="0" name=""/>
        <dsp:cNvSpPr/>
      </dsp:nvSpPr>
      <dsp:spPr>
        <a:xfrm>
          <a:off x="1138918" y="1281759"/>
          <a:ext cx="1723525" cy="407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defRPr b="1"/>
          </a:pPr>
          <a:r>
            <a:rPr lang="en-US" sz="1400" kern="1200">
              <a:solidFill>
                <a:schemeClr val="bg1"/>
              </a:solidFill>
              <a:latin typeface="Arial" panose="020B0604020202020204" pitchFamily="34" charset="0"/>
              <a:cs typeface="Arial" panose="020B0604020202020204" pitchFamily="34" charset="0"/>
            </a:rPr>
            <a:t>Aligning Services with Demographics</a:t>
          </a:r>
        </a:p>
      </dsp:txBody>
      <dsp:txXfrm>
        <a:off x="1138918" y="1281759"/>
        <a:ext cx="1723525" cy="407310"/>
      </dsp:txXfrm>
    </dsp:sp>
    <dsp:sp modelId="{CD033215-DFD9-460C-8EF4-013C39F2A90B}">
      <dsp:nvSpPr>
        <dsp:cNvPr id="0" name=""/>
        <dsp:cNvSpPr/>
      </dsp:nvSpPr>
      <dsp:spPr>
        <a:xfrm>
          <a:off x="1138918" y="1689070"/>
          <a:ext cx="1723525" cy="844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970" rIns="13970" bIns="13970" numCol="1" spcCol="1270" anchor="t" anchorCtr="0">
          <a:noAutofit/>
        </a:bodyPr>
        <a:lstStyle/>
        <a:p>
          <a:pPr marL="0" lvl="0" indent="0" algn="l" defTabSz="488950">
            <a:lnSpc>
              <a:spcPct val="90000"/>
            </a:lnSpc>
            <a:spcBef>
              <a:spcPct val="0"/>
            </a:spcBef>
            <a:spcAft>
              <a:spcPct val="35000"/>
            </a:spcAft>
            <a:buNone/>
          </a:pPr>
          <a:r>
            <a:rPr lang="en-US" sz="1100" kern="1200" dirty="0">
              <a:solidFill>
                <a:schemeClr val="bg1"/>
              </a:solidFill>
              <a:latin typeface="Arial" panose="020B0604020202020204" pitchFamily="34" charset="0"/>
              <a:cs typeface="Arial" panose="020B0604020202020204" pitchFamily="34" charset="0"/>
            </a:rPr>
            <a:t>Gender insights help hospitals tailor services to meet diverse patient needs effectively.</a:t>
          </a:r>
        </a:p>
      </dsp:txBody>
      <dsp:txXfrm>
        <a:off x="1138918" y="1689070"/>
        <a:ext cx="1723525" cy="844804"/>
      </dsp:txXfrm>
    </dsp:sp>
    <dsp:sp modelId="{2D950D2D-BBC3-4551-AAD4-533D552A80C3}">
      <dsp:nvSpPr>
        <dsp:cNvPr id="0" name=""/>
        <dsp:cNvSpPr/>
      </dsp:nvSpPr>
      <dsp:spPr>
        <a:xfrm>
          <a:off x="0" y="2634043"/>
          <a:ext cx="958918" cy="95891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5907" r="9092" b="-2"/>
          <a:stretch>
            <a:fillRect l="-17000" r="-17000"/>
          </a:stretch>
        </a:blipFill>
        <a:ln>
          <a:noFill/>
        </a:ln>
        <a:effectLst/>
      </dsp:spPr>
      <dsp:style>
        <a:lnRef idx="0">
          <a:scrgbClr r="0" g="0" b="0"/>
        </a:lnRef>
        <a:fillRef idx="3">
          <a:scrgbClr r="0" g="0" b="0"/>
        </a:fillRef>
        <a:effectRef idx="2">
          <a:scrgbClr r="0" g="0" b="0"/>
        </a:effectRef>
        <a:fontRef idx="minor">
          <a:schemeClr val="lt1"/>
        </a:fontRef>
      </dsp:style>
    </dsp:sp>
    <dsp:sp modelId="{F3269E71-D5E1-4EDC-8996-E5674AD28A6C}">
      <dsp:nvSpPr>
        <dsp:cNvPr id="0" name=""/>
        <dsp:cNvSpPr/>
      </dsp:nvSpPr>
      <dsp:spPr>
        <a:xfrm>
          <a:off x="1138918" y="2634043"/>
          <a:ext cx="1723525" cy="6012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90000"/>
            </a:lnSpc>
            <a:spcBef>
              <a:spcPct val="0"/>
            </a:spcBef>
            <a:spcAft>
              <a:spcPct val="35000"/>
            </a:spcAft>
            <a:buNone/>
            <a:defRPr b="1"/>
          </a:pPr>
          <a:r>
            <a:rPr lang="en-US" sz="1400" kern="1200">
              <a:solidFill>
                <a:schemeClr val="bg1"/>
              </a:solidFill>
              <a:latin typeface="Arial" panose="020B0604020202020204" pitchFamily="34" charset="0"/>
              <a:cs typeface="Arial" panose="020B0604020202020204" pitchFamily="34" charset="0"/>
            </a:rPr>
            <a:t>Supporting Diversity and Inclusion</a:t>
          </a:r>
        </a:p>
      </dsp:txBody>
      <dsp:txXfrm>
        <a:off x="1138918" y="2634043"/>
        <a:ext cx="1723525" cy="601254"/>
      </dsp:txXfrm>
    </dsp:sp>
    <dsp:sp modelId="{A0D0CF39-B45A-4B0C-87FD-4373D2793732}">
      <dsp:nvSpPr>
        <dsp:cNvPr id="0" name=""/>
        <dsp:cNvSpPr/>
      </dsp:nvSpPr>
      <dsp:spPr>
        <a:xfrm>
          <a:off x="1138918" y="3235297"/>
          <a:ext cx="1723525" cy="6508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3970" rIns="13970" bIns="13970" numCol="1" spcCol="1270" anchor="t" anchorCtr="0">
          <a:noAutofit/>
        </a:bodyPr>
        <a:lstStyle/>
        <a:p>
          <a:pPr marL="0" lvl="0" indent="0" algn="l" defTabSz="488950">
            <a:lnSpc>
              <a:spcPct val="90000"/>
            </a:lnSpc>
            <a:spcBef>
              <a:spcPct val="0"/>
            </a:spcBef>
            <a:spcAft>
              <a:spcPct val="35000"/>
            </a:spcAft>
            <a:buNone/>
          </a:pPr>
          <a:r>
            <a:rPr lang="en-US" sz="1100" kern="1200" dirty="0">
              <a:solidFill>
                <a:schemeClr val="bg1"/>
              </a:solidFill>
              <a:latin typeface="Arial" panose="020B0604020202020204" pitchFamily="34" charset="0"/>
              <a:cs typeface="Arial" panose="020B0604020202020204" pitchFamily="34" charset="0"/>
            </a:rPr>
            <a:t>Gender-based analysis </a:t>
          </a:r>
          <a:r>
            <a:rPr lang="en-GB" sz="1100" kern="1200" noProof="0" dirty="0">
              <a:solidFill>
                <a:schemeClr val="bg1"/>
              </a:solidFill>
              <a:latin typeface="Arial" panose="020B0604020202020204" pitchFamily="34" charset="0"/>
              <a:cs typeface="Arial" panose="020B0604020202020204" pitchFamily="34" charset="0"/>
            </a:rPr>
            <a:t>supports</a:t>
          </a:r>
          <a:r>
            <a:rPr lang="en-US" sz="1100" kern="1200" dirty="0">
              <a:solidFill>
                <a:schemeClr val="bg1"/>
              </a:solidFill>
              <a:latin typeface="Arial" panose="020B0604020202020204" pitchFamily="34" charset="0"/>
              <a:cs typeface="Arial" panose="020B0604020202020204" pitchFamily="34" charset="0"/>
            </a:rPr>
            <a:t> compliance with diversity and inclusion goals in healthcare.</a:t>
          </a:r>
        </a:p>
      </dsp:txBody>
      <dsp:txXfrm>
        <a:off x="1138918" y="3235297"/>
        <a:ext cx="1723525" cy="65086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17577E-7713-4A94-A045-2046006C2CF8}" type="datetimeFigureOut">
              <a:t>12/25/2025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302AF-C7D8-4430-A1A5-16E6EFD03FB0}" type="slidenum">
              <a:t>‹#›</a:t>
            </a:fld>
            <a:endParaRPr lang="en-US"/>
          </a:p>
        </p:txBody>
      </p:sp>
    </p:spTree>
    <p:extLst>
      <p:ext uri="{BB962C8B-B14F-4D97-AF65-F5344CB8AC3E}">
        <p14:creationId xmlns:p14="http://schemas.microsoft.com/office/powerpoint/2010/main" val="3068658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AC65C821-DDE1-4061-A70A-A36764C146A2}" type="slidenum">
              <a:t>1</a:t>
            </a:fld>
            <a:endParaRPr lang="en-US" dirty="0"/>
          </a:p>
        </p:txBody>
      </p:sp>
    </p:spTree>
    <p:extLst>
      <p:ext uri="{BB962C8B-B14F-4D97-AF65-F5344CB8AC3E}">
        <p14:creationId xmlns:p14="http://schemas.microsoft.com/office/powerpoint/2010/main" val="321598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Raw Schema, SQL Script: Primary Keys, Schema Progress After PKs</a:t>
            </a:r>
          </a:p>
        </p:txBody>
      </p:sp>
      <p:sp>
        <p:nvSpPr>
          <p:cNvPr id="4" name="Slide Number Placeholder 3"/>
          <p:cNvSpPr>
            <a:spLocks noGrp="1"/>
          </p:cNvSpPr>
          <p:nvPr>
            <p:ph type="sldNum" sz="quarter" idx="5"/>
          </p:nvPr>
        </p:nvSpPr>
        <p:spPr/>
        <p:txBody>
          <a:bodyPr/>
          <a:lstStyle/>
          <a:p>
            <a:fld id="{AC65C821-DDE1-4061-A70A-A36764C146A2}" type="slidenum">
              <a:t>2</a:t>
            </a:fld>
            <a:endParaRPr lang="en-US" dirty="0"/>
          </a:p>
        </p:txBody>
      </p:sp>
    </p:spTree>
    <p:extLst>
      <p:ext uri="{BB962C8B-B14F-4D97-AF65-F5344CB8AC3E}">
        <p14:creationId xmlns:p14="http://schemas.microsoft.com/office/powerpoint/2010/main" val="777027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65C821-DDE1-4061-A70A-A36764C146A2}" type="slidenum">
              <a:t>3</a:t>
            </a:fld>
            <a:endParaRPr lang="en-US" dirty="0"/>
          </a:p>
        </p:txBody>
      </p:sp>
    </p:spTree>
    <p:extLst>
      <p:ext uri="{BB962C8B-B14F-4D97-AF65-F5344CB8AC3E}">
        <p14:creationId xmlns:p14="http://schemas.microsoft.com/office/powerpoint/2010/main" val="2765828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65C821-DDE1-4061-A70A-A36764C146A2}" type="slidenum">
              <a:t>4</a:t>
            </a:fld>
            <a:endParaRPr lang="en-US" dirty="0"/>
          </a:p>
        </p:txBody>
      </p:sp>
    </p:spTree>
    <p:extLst>
      <p:ext uri="{BB962C8B-B14F-4D97-AF65-F5344CB8AC3E}">
        <p14:creationId xmlns:p14="http://schemas.microsoft.com/office/powerpoint/2010/main" val="940963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AC65C821-DDE1-4061-A70A-A36764C146A2}" type="slidenum">
              <a:t>5</a:t>
            </a:fld>
            <a:endParaRPr lang="en-US" dirty="0"/>
          </a:p>
        </p:txBody>
      </p:sp>
    </p:spTree>
    <p:extLst>
      <p:ext uri="{BB962C8B-B14F-4D97-AF65-F5344CB8AC3E}">
        <p14:creationId xmlns:p14="http://schemas.microsoft.com/office/powerpoint/2010/main" val="281692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Script: Data Typing &amp; Foreign Keys, Final ERD Diagram</a:t>
            </a:r>
          </a:p>
        </p:txBody>
      </p:sp>
      <p:sp>
        <p:nvSpPr>
          <p:cNvPr id="4" name="Slide Number Placeholder 3"/>
          <p:cNvSpPr>
            <a:spLocks noGrp="1"/>
          </p:cNvSpPr>
          <p:nvPr>
            <p:ph type="sldNum" sz="quarter" idx="5"/>
          </p:nvPr>
        </p:nvSpPr>
        <p:spPr/>
        <p:txBody>
          <a:bodyPr/>
          <a:lstStyle/>
          <a:p>
            <a:fld id="{AC65C821-DDE1-4061-A70A-A36764C146A2}" type="slidenum">
              <a:t>6</a:t>
            </a:fld>
            <a:endParaRPr lang="en-US" dirty="0"/>
          </a:p>
        </p:txBody>
      </p:sp>
    </p:spTree>
    <p:extLst>
      <p:ext uri="{BB962C8B-B14F-4D97-AF65-F5344CB8AC3E}">
        <p14:creationId xmlns:p14="http://schemas.microsoft.com/office/powerpoint/2010/main" val="3067947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AC65C821-DDE1-4061-A70A-A36764C146A2}" type="slidenum">
              <a:t>7</a:t>
            </a:fld>
            <a:endParaRPr lang="en-US" dirty="0"/>
          </a:p>
        </p:txBody>
      </p:sp>
    </p:spTree>
    <p:extLst>
      <p:ext uri="{BB962C8B-B14F-4D97-AF65-F5344CB8AC3E}">
        <p14:creationId xmlns:p14="http://schemas.microsoft.com/office/powerpoint/2010/main" val="1550994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AC65C821-DDE1-4061-A70A-A36764C146A2}" type="slidenum">
              <a:t>8</a:t>
            </a:fld>
            <a:endParaRPr lang="en-US" dirty="0"/>
          </a:p>
        </p:txBody>
      </p:sp>
    </p:spTree>
    <p:extLst>
      <p:ext uri="{BB962C8B-B14F-4D97-AF65-F5344CB8AC3E}">
        <p14:creationId xmlns:p14="http://schemas.microsoft.com/office/powerpoint/2010/main" val="1275530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Script: Type Conversion</a:t>
            </a:r>
          </a:p>
        </p:txBody>
      </p:sp>
      <p:sp>
        <p:nvSpPr>
          <p:cNvPr id="4" name="Slide Number Placeholder 3"/>
          <p:cNvSpPr>
            <a:spLocks noGrp="1"/>
          </p:cNvSpPr>
          <p:nvPr>
            <p:ph type="sldNum" sz="quarter" idx="5"/>
          </p:nvPr>
        </p:nvSpPr>
        <p:spPr/>
        <p:txBody>
          <a:bodyPr/>
          <a:lstStyle/>
          <a:p>
            <a:fld id="{AC65C821-DDE1-4061-A70A-A36764C146A2}" type="slidenum">
              <a:t>9</a:t>
            </a:fld>
            <a:endParaRPr lang="en-US" dirty="0"/>
          </a:p>
        </p:txBody>
      </p:sp>
    </p:spTree>
    <p:extLst>
      <p:ext uri="{BB962C8B-B14F-4D97-AF65-F5344CB8AC3E}">
        <p14:creationId xmlns:p14="http://schemas.microsoft.com/office/powerpoint/2010/main" val="1847023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Data transformation ensures that stored values are meaningful and suitable for analysis. This step converts string-based dates into DATE types, enabling accurate filtering, sorting, and time-based calculations. Currency fields are converted to DECIMAL(10,2) to avoid floating-point rounding errors and ensure financial precision. Additionally, audit fields like </a:t>
            </a:r>
            <a:r>
              <a:rPr lang="en-US" dirty="0" err="1"/>
              <a:t>created_at</a:t>
            </a:r>
            <a:r>
              <a:rPr lang="en-US"/>
              <a:t> timestamps are added to support traceability and trend analysis. These transformations make the database analytics-ready, allowing for reliable reporting and decision-making based on clean, structured data.</a:t>
            </a:r>
          </a:p>
        </p:txBody>
      </p:sp>
      <p:sp>
        <p:nvSpPr>
          <p:cNvPr id="4" name="Slide Number Placeholder 3"/>
          <p:cNvSpPr>
            <a:spLocks noGrp="1"/>
          </p:cNvSpPr>
          <p:nvPr>
            <p:ph type="sldNum" sz="quarter" idx="5"/>
          </p:nvPr>
        </p:nvSpPr>
        <p:spPr/>
        <p:txBody>
          <a:bodyPr/>
          <a:lstStyle/>
          <a:p>
            <a:fld id="{AC65C821-DDE1-4061-A70A-A36764C146A2}" type="slidenum">
              <a:t>10</a:t>
            </a:fld>
            <a:endParaRPr lang="en-US"/>
          </a:p>
        </p:txBody>
      </p:sp>
    </p:spTree>
    <p:extLst>
      <p:ext uri="{BB962C8B-B14F-4D97-AF65-F5344CB8AC3E}">
        <p14:creationId xmlns:p14="http://schemas.microsoft.com/office/powerpoint/2010/main" val="3557259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Analysis: Peak Busy Days, Analysis: Doctor Workload, Analysis: No-Show Impact, Analysis: Departmental Success</a:t>
            </a:r>
          </a:p>
        </p:txBody>
      </p:sp>
      <p:sp>
        <p:nvSpPr>
          <p:cNvPr id="4" name="Slide Number Placeholder 3"/>
          <p:cNvSpPr>
            <a:spLocks noGrp="1"/>
          </p:cNvSpPr>
          <p:nvPr>
            <p:ph type="sldNum" sz="quarter" idx="5"/>
          </p:nvPr>
        </p:nvSpPr>
        <p:spPr/>
        <p:txBody>
          <a:bodyPr/>
          <a:lstStyle/>
          <a:p>
            <a:fld id="{AC65C821-DDE1-4061-A70A-A36764C146A2}" type="slidenum">
              <a:t>11</a:t>
            </a:fld>
            <a:endParaRPr lang="en-US"/>
          </a:p>
        </p:txBody>
      </p:sp>
    </p:spTree>
    <p:extLst>
      <p:ext uri="{BB962C8B-B14F-4D97-AF65-F5344CB8AC3E}">
        <p14:creationId xmlns:p14="http://schemas.microsoft.com/office/powerpoint/2010/main" val="2711689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AC65C821-DDE1-4061-A70A-A36764C146A2}" type="slidenum">
              <a:t>12</a:t>
            </a:fld>
            <a:endParaRPr lang="en-US" dirty="0"/>
          </a:p>
        </p:txBody>
      </p:sp>
    </p:spTree>
    <p:extLst>
      <p:ext uri="{BB962C8B-B14F-4D97-AF65-F5344CB8AC3E}">
        <p14:creationId xmlns:p14="http://schemas.microsoft.com/office/powerpoint/2010/main" val="1989095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Doctor workload analysis reveals the distribution of appointments across physicians. This information is crucial for balancing workloads, preventing burnout, and ensuring fair rota planning. Identifying high-demand doctors helps address capacity constraints and informs recruitment strategies. By monitoring workload patterns, hospitals can maintain quality care and optimize resource utilization.</a:t>
            </a:r>
          </a:p>
        </p:txBody>
      </p:sp>
      <p:sp>
        <p:nvSpPr>
          <p:cNvPr id="4" name="Slide Number Placeholder 3"/>
          <p:cNvSpPr>
            <a:spLocks noGrp="1"/>
          </p:cNvSpPr>
          <p:nvPr>
            <p:ph type="sldNum" sz="quarter" idx="5"/>
          </p:nvPr>
        </p:nvSpPr>
        <p:spPr/>
        <p:txBody>
          <a:bodyPr/>
          <a:lstStyle/>
          <a:p>
            <a:fld id="{AC65C821-DDE1-4061-A70A-A36764C146A2}" type="slidenum">
              <a:t>13</a:t>
            </a:fld>
            <a:endParaRPr lang="en-US"/>
          </a:p>
        </p:txBody>
      </p:sp>
    </p:spTree>
    <p:extLst>
      <p:ext uri="{BB962C8B-B14F-4D97-AF65-F5344CB8AC3E}">
        <p14:creationId xmlns:p14="http://schemas.microsoft.com/office/powerpoint/2010/main" val="2394505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No-show and cancellation rates significantly affect operational efficiency and revenue. This analysis quantifies missed appointments per physician, highlighting areas where interventions like reminders or overbooking may be necessary. Reducing no-shows improves resource utilization and financial performance, making this metric a key component of hospital management strategies.</a:t>
            </a:r>
          </a:p>
        </p:txBody>
      </p:sp>
      <p:sp>
        <p:nvSpPr>
          <p:cNvPr id="4" name="Slide Number Placeholder 3"/>
          <p:cNvSpPr>
            <a:spLocks noGrp="1"/>
          </p:cNvSpPr>
          <p:nvPr>
            <p:ph type="sldNum" sz="quarter" idx="5"/>
          </p:nvPr>
        </p:nvSpPr>
        <p:spPr/>
        <p:txBody>
          <a:bodyPr/>
          <a:lstStyle/>
          <a:p>
            <a:fld id="{AC65C821-DDE1-4061-A70A-A36764C146A2}" type="slidenum">
              <a:t>14</a:t>
            </a:fld>
            <a:endParaRPr lang="en-US"/>
          </a:p>
        </p:txBody>
      </p:sp>
    </p:spTree>
    <p:extLst>
      <p:ext uri="{BB962C8B-B14F-4D97-AF65-F5344CB8AC3E}">
        <p14:creationId xmlns:p14="http://schemas.microsoft.com/office/powerpoint/2010/main" val="1552659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Comparing completed versus cancelled visits by specialization provides insights into departmental performance. High cancellation rates may indicate process inefficiencies or patient communication gaps. This analysis supports targeted improvements, resource prioritization, and service redesign to enhance patient flow and operational effectiveness.</a:t>
            </a:r>
          </a:p>
        </p:txBody>
      </p:sp>
      <p:sp>
        <p:nvSpPr>
          <p:cNvPr id="4" name="Slide Number Placeholder 3"/>
          <p:cNvSpPr>
            <a:spLocks noGrp="1"/>
          </p:cNvSpPr>
          <p:nvPr>
            <p:ph type="sldNum" sz="quarter" idx="5"/>
          </p:nvPr>
        </p:nvSpPr>
        <p:spPr/>
        <p:txBody>
          <a:bodyPr/>
          <a:lstStyle/>
          <a:p>
            <a:fld id="{AC65C821-DDE1-4061-A70A-A36764C146A2}" type="slidenum">
              <a:t>15</a:t>
            </a:fld>
            <a:endParaRPr lang="en-US"/>
          </a:p>
        </p:txBody>
      </p:sp>
    </p:spTree>
    <p:extLst>
      <p:ext uri="{BB962C8B-B14F-4D97-AF65-F5344CB8AC3E}">
        <p14:creationId xmlns:p14="http://schemas.microsoft.com/office/powerpoint/2010/main" val="478668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Insurance Revenue Streams, Aging Accounts Receivable, Treatment Profitability</a:t>
            </a:r>
          </a:p>
        </p:txBody>
      </p:sp>
      <p:sp>
        <p:nvSpPr>
          <p:cNvPr id="4" name="Slide Number Placeholder 3"/>
          <p:cNvSpPr>
            <a:spLocks noGrp="1"/>
          </p:cNvSpPr>
          <p:nvPr>
            <p:ph type="sldNum" sz="quarter" idx="5"/>
          </p:nvPr>
        </p:nvSpPr>
        <p:spPr/>
        <p:txBody>
          <a:bodyPr/>
          <a:lstStyle/>
          <a:p>
            <a:fld id="{AC65C821-DDE1-4061-A70A-A36764C146A2}" type="slidenum">
              <a:t>16</a:t>
            </a:fld>
            <a:endParaRPr lang="en-US"/>
          </a:p>
        </p:txBody>
      </p:sp>
    </p:spTree>
    <p:extLst>
      <p:ext uri="{BB962C8B-B14F-4D97-AF65-F5344CB8AC3E}">
        <p14:creationId xmlns:p14="http://schemas.microsoft.com/office/powerpoint/2010/main" val="25074203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analysis ranks insurance providers by total payments and claim counts, offering a clear view of payer mix and revenue contribution. Understanding which insurers generate the most revenue helps hospitals negotiate contracts, manage reimbursement strategies, and monitor cash flow stability. Insights from this query support financial planning and risk management.</a:t>
            </a:r>
          </a:p>
        </p:txBody>
      </p:sp>
      <p:sp>
        <p:nvSpPr>
          <p:cNvPr id="4" name="Slide Number Placeholder 3"/>
          <p:cNvSpPr>
            <a:spLocks noGrp="1"/>
          </p:cNvSpPr>
          <p:nvPr>
            <p:ph type="sldNum" sz="quarter" idx="5"/>
          </p:nvPr>
        </p:nvSpPr>
        <p:spPr/>
        <p:txBody>
          <a:bodyPr/>
          <a:lstStyle/>
          <a:p>
            <a:fld id="{AC65C821-DDE1-4061-A70A-A36764C146A2}" type="slidenum">
              <a:t>17</a:t>
            </a:fld>
            <a:endParaRPr lang="en-US"/>
          </a:p>
        </p:txBody>
      </p:sp>
    </p:spTree>
    <p:extLst>
      <p:ext uri="{BB962C8B-B14F-4D97-AF65-F5344CB8AC3E}">
        <p14:creationId xmlns:p14="http://schemas.microsoft.com/office/powerpoint/2010/main" val="1964351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Tracking pending bills older than 30 days is essential for managing outstanding debt and improving collections. This report prioritizes follow-up actions, reduces aging receivables, and strengthens cash flow. By monitoring overdue accounts, hospitals can mitigate financial risk and maintain healthy revenue cycles.</a:t>
            </a:r>
          </a:p>
        </p:txBody>
      </p:sp>
      <p:sp>
        <p:nvSpPr>
          <p:cNvPr id="4" name="Slide Number Placeholder 3"/>
          <p:cNvSpPr>
            <a:spLocks noGrp="1"/>
          </p:cNvSpPr>
          <p:nvPr>
            <p:ph type="sldNum" sz="quarter" idx="5"/>
          </p:nvPr>
        </p:nvSpPr>
        <p:spPr/>
        <p:txBody>
          <a:bodyPr/>
          <a:lstStyle/>
          <a:p>
            <a:fld id="{AC65C821-DDE1-4061-A70A-A36764C146A2}" type="slidenum">
              <a:t>18</a:t>
            </a:fld>
            <a:endParaRPr lang="en-US"/>
          </a:p>
        </p:txBody>
      </p:sp>
    </p:spTree>
    <p:extLst>
      <p:ext uri="{BB962C8B-B14F-4D97-AF65-F5344CB8AC3E}">
        <p14:creationId xmlns:p14="http://schemas.microsoft.com/office/powerpoint/2010/main" val="3197241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Analyzing revenue by treatment type reveals which medical services generate the highest returns. This insight supports strategic decisions on pricing, resource allocation, and investment in equipment or staff. Identifying high-margin procedures enables hospitals to optimize their service mix and improve overall profitability.</a:t>
            </a:r>
          </a:p>
        </p:txBody>
      </p:sp>
      <p:sp>
        <p:nvSpPr>
          <p:cNvPr id="4" name="Slide Number Placeholder 3"/>
          <p:cNvSpPr>
            <a:spLocks noGrp="1"/>
          </p:cNvSpPr>
          <p:nvPr>
            <p:ph type="sldNum" sz="quarter" idx="5"/>
          </p:nvPr>
        </p:nvSpPr>
        <p:spPr/>
        <p:txBody>
          <a:bodyPr/>
          <a:lstStyle/>
          <a:p>
            <a:fld id="{AC65C821-DDE1-4061-A70A-A36764C146A2}" type="slidenum">
              <a:t>19</a:t>
            </a:fld>
            <a:endParaRPr lang="en-US"/>
          </a:p>
        </p:txBody>
      </p:sp>
    </p:spTree>
    <p:extLst>
      <p:ext uri="{BB962C8B-B14F-4D97-AF65-F5344CB8AC3E}">
        <p14:creationId xmlns:p14="http://schemas.microsoft.com/office/powerpoint/2010/main" val="23461285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Retention (Loyalty), Age Group Demographics, Gender Distribution</a:t>
            </a:r>
          </a:p>
        </p:txBody>
      </p:sp>
      <p:sp>
        <p:nvSpPr>
          <p:cNvPr id="4" name="Slide Number Placeholder 3"/>
          <p:cNvSpPr>
            <a:spLocks noGrp="1"/>
          </p:cNvSpPr>
          <p:nvPr>
            <p:ph type="sldNum" sz="quarter" idx="5"/>
          </p:nvPr>
        </p:nvSpPr>
        <p:spPr/>
        <p:txBody>
          <a:bodyPr/>
          <a:lstStyle/>
          <a:p>
            <a:fld id="{AC65C821-DDE1-4061-A70A-A36764C146A2}" type="slidenum">
              <a:t>20</a:t>
            </a:fld>
            <a:endParaRPr lang="en-US"/>
          </a:p>
        </p:txBody>
      </p:sp>
    </p:spTree>
    <p:extLst>
      <p:ext uri="{BB962C8B-B14F-4D97-AF65-F5344CB8AC3E}">
        <p14:creationId xmlns:p14="http://schemas.microsoft.com/office/powerpoint/2010/main" val="2724218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Frequent-visit patients, often those with chronic conditions, represent an opportunity for targeted care management. Identifying these patients helps hospitals design personalized care pathways, allocate resources effectively, and improve long-term health outcomes. This analysis supports proactive engagement and continuity of care.</a:t>
            </a:r>
          </a:p>
        </p:txBody>
      </p:sp>
      <p:sp>
        <p:nvSpPr>
          <p:cNvPr id="4" name="Slide Number Placeholder 3"/>
          <p:cNvSpPr>
            <a:spLocks noGrp="1"/>
          </p:cNvSpPr>
          <p:nvPr>
            <p:ph type="sldNum" sz="quarter" idx="5"/>
          </p:nvPr>
        </p:nvSpPr>
        <p:spPr/>
        <p:txBody>
          <a:bodyPr/>
          <a:lstStyle/>
          <a:p>
            <a:fld id="{AC65C821-DDE1-4061-A70A-A36764C146A2}" type="slidenum">
              <a:t>21</a:t>
            </a:fld>
            <a:endParaRPr lang="en-US"/>
          </a:p>
        </p:txBody>
      </p:sp>
    </p:spTree>
    <p:extLst>
      <p:ext uri="{BB962C8B-B14F-4D97-AF65-F5344CB8AC3E}">
        <p14:creationId xmlns:p14="http://schemas.microsoft.com/office/powerpoint/2010/main" val="10793525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Segmenting patients into age groups such as Pediatric, Adult, and Senior provides valuable insights for resource planning. Understanding demographic distribution helps tailor services, allocate staff appropriately, and anticipate future demand trends. This analysis informs strategic decisions in clinical operations.</a:t>
            </a:r>
          </a:p>
        </p:txBody>
      </p:sp>
      <p:sp>
        <p:nvSpPr>
          <p:cNvPr id="4" name="Slide Number Placeholder 3"/>
          <p:cNvSpPr>
            <a:spLocks noGrp="1"/>
          </p:cNvSpPr>
          <p:nvPr>
            <p:ph type="sldNum" sz="quarter" idx="5"/>
          </p:nvPr>
        </p:nvSpPr>
        <p:spPr/>
        <p:txBody>
          <a:bodyPr/>
          <a:lstStyle/>
          <a:p>
            <a:fld id="{AC65C821-DDE1-4061-A70A-A36764C146A2}" type="slidenum">
              <a:t>22</a:t>
            </a:fld>
            <a:endParaRPr lang="en-US"/>
          </a:p>
        </p:txBody>
      </p:sp>
    </p:spTree>
    <p:extLst>
      <p:ext uri="{BB962C8B-B14F-4D97-AF65-F5344CB8AC3E}">
        <p14:creationId xmlns:p14="http://schemas.microsoft.com/office/powerpoint/2010/main" val="1068416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Analyzing gender distribution across medical specializations ensures equitable care and staffing. This insight helps hospitals align services with patient demographics, identify potential gaps, and improve patient experience. Gender-based analysis also supports compliance with diversity and inclusion goals.</a:t>
            </a:r>
          </a:p>
        </p:txBody>
      </p:sp>
      <p:sp>
        <p:nvSpPr>
          <p:cNvPr id="4" name="Slide Number Placeholder 3"/>
          <p:cNvSpPr>
            <a:spLocks noGrp="1"/>
          </p:cNvSpPr>
          <p:nvPr>
            <p:ph type="sldNum" sz="quarter" idx="5"/>
          </p:nvPr>
        </p:nvSpPr>
        <p:spPr/>
        <p:txBody>
          <a:bodyPr/>
          <a:lstStyle/>
          <a:p>
            <a:fld id="{AC65C821-DDE1-4061-A70A-A36764C146A2}" type="slidenum">
              <a:t>23</a:t>
            </a:fld>
            <a:endParaRPr lang="en-US"/>
          </a:p>
        </p:txBody>
      </p:sp>
    </p:spTree>
    <p:extLst>
      <p:ext uri="{BB962C8B-B14F-4D97-AF65-F5344CB8AC3E}">
        <p14:creationId xmlns:p14="http://schemas.microsoft.com/office/powerpoint/2010/main" val="12229225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Doctor–Patient Ratio, Unbilled Treatments (Revenue Leakage), Treatment Recurrence</a:t>
            </a:r>
          </a:p>
        </p:txBody>
      </p:sp>
      <p:sp>
        <p:nvSpPr>
          <p:cNvPr id="4" name="Slide Number Placeholder 3"/>
          <p:cNvSpPr>
            <a:spLocks noGrp="1"/>
          </p:cNvSpPr>
          <p:nvPr>
            <p:ph type="sldNum" sz="quarter" idx="5"/>
          </p:nvPr>
        </p:nvSpPr>
        <p:spPr/>
        <p:txBody>
          <a:bodyPr/>
          <a:lstStyle/>
          <a:p>
            <a:fld id="{AC65C821-DDE1-4061-A70A-A36764C146A2}" type="slidenum">
              <a:t>24</a:t>
            </a:fld>
            <a:endParaRPr lang="en-US"/>
          </a:p>
        </p:txBody>
      </p:sp>
    </p:spTree>
    <p:extLst>
      <p:ext uri="{BB962C8B-B14F-4D97-AF65-F5344CB8AC3E}">
        <p14:creationId xmlns:p14="http://schemas.microsoft.com/office/powerpoint/2010/main" val="1598174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Calculating the number of unique patients per doctor by specialization highlights capacity pressures and informs staffing decisions. High ratios may indicate the need for additional hires or scheduling adjustments. This metric is critical for maintaining quality care and preventing physician burnout.</a:t>
            </a:r>
          </a:p>
        </p:txBody>
      </p:sp>
      <p:sp>
        <p:nvSpPr>
          <p:cNvPr id="4" name="Slide Number Placeholder 3"/>
          <p:cNvSpPr>
            <a:spLocks noGrp="1"/>
          </p:cNvSpPr>
          <p:nvPr>
            <p:ph type="sldNum" sz="quarter" idx="5"/>
          </p:nvPr>
        </p:nvSpPr>
        <p:spPr/>
        <p:txBody>
          <a:bodyPr/>
          <a:lstStyle/>
          <a:p>
            <a:fld id="{AC65C821-DDE1-4061-A70A-A36764C146A2}" type="slidenum">
              <a:t>25</a:t>
            </a:fld>
            <a:endParaRPr lang="en-US"/>
          </a:p>
        </p:txBody>
      </p:sp>
    </p:spTree>
    <p:extLst>
      <p:ext uri="{BB962C8B-B14F-4D97-AF65-F5344CB8AC3E}">
        <p14:creationId xmlns:p14="http://schemas.microsoft.com/office/powerpoint/2010/main" val="28330726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Identifying treatments performed but not billed is essential for revenue protection. This audit query detects process gaps in the treatment-to-billing workflow, enabling hospitals to recover missed charges and strengthen financial governance. Addressing revenue leakage improves profitability and compliance.</a:t>
            </a:r>
          </a:p>
        </p:txBody>
      </p:sp>
      <p:sp>
        <p:nvSpPr>
          <p:cNvPr id="4" name="Slide Number Placeholder 3"/>
          <p:cNvSpPr>
            <a:spLocks noGrp="1"/>
          </p:cNvSpPr>
          <p:nvPr>
            <p:ph type="sldNum" sz="quarter" idx="5"/>
          </p:nvPr>
        </p:nvSpPr>
        <p:spPr/>
        <p:txBody>
          <a:bodyPr/>
          <a:lstStyle/>
          <a:p>
            <a:fld id="{AC65C821-DDE1-4061-A70A-A36764C146A2}" type="slidenum">
              <a:t>26</a:t>
            </a:fld>
            <a:endParaRPr lang="en-US"/>
          </a:p>
        </p:txBody>
      </p:sp>
    </p:spTree>
    <p:extLst>
      <p:ext uri="{BB962C8B-B14F-4D97-AF65-F5344CB8AC3E}">
        <p14:creationId xmlns:p14="http://schemas.microsoft.com/office/powerpoint/2010/main" val="1333755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Measuring how often specific treatments are repeated per patient provides insights into clinical effectiveness and resource utilization. High recurrence rates may signal the need for protocol review or alternative therapies. This analysis supports quality improvement initiatives and long-term planning.</a:t>
            </a:r>
          </a:p>
        </p:txBody>
      </p:sp>
      <p:sp>
        <p:nvSpPr>
          <p:cNvPr id="4" name="Slide Number Placeholder 3"/>
          <p:cNvSpPr>
            <a:spLocks noGrp="1"/>
          </p:cNvSpPr>
          <p:nvPr>
            <p:ph type="sldNum" sz="quarter" idx="5"/>
          </p:nvPr>
        </p:nvSpPr>
        <p:spPr/>
        <p:txBody>
          <a:bodyPr/>
          <a:lstStyle/>
          <a:p>
            <a:fld id="{AC65C821-DDE1-4061-A70A-A36764C146A2}" type="slidenum">
              <a:t>27</a:t>
            </a:fld>
            <a:endParaRPr lang="en-US"/>
          </a:p>
        </p:txBody>
      </p:sp>
    </p:spTree>
    <p:extLst>
      <p:ext uri="{BB962C8B-B14F-4D97-AF65-F5344CB8AC3E}">
        <p14:creationId xmlns:p14="http://schemas.microsoft.com/office/powerpoint/2010/main" val="2822847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AEEF7F6-ECFE-4473-B3E9-C91BE833927A}" type="datetimeFigureOut">
              <a:rPr lang="en-US" smtClean="0"/>
              <a:t>12/25/2025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81616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AEEF7F6-ECFE-4473-B3E9-C91BE833927A}"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655599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AEEF7F6-ECFE-4473-B3E9-C91BE833927A}"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36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AEEF7F6-ECFE-4473-B3E9-C91BE833927A}"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03746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AEEF7F6-ECFE-4473-B3E9-C91BE833927A}" type="datetimeFigureOut">
              <a:rPr lang="en-US" smtClean="0"/>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972428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AEEF7F6-ECFE-4473-B3E9-C91BE833927A}"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33064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EEF7F6-ECFE-4473-B3E9-C91BE833927A}" type="datetimeFigureOut">
              <a:rPr lang="en-US" smtClean="0"/>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262032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EEF7F6-ECFE-4473-B3E9-C91BE833927A}"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382584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EEF7F6-ECFE-4473-B3E9-C91BE833927A}"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085507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EEF7F6-ECFE-4473-B3E9-C91BE833927A}"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587965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EEF7F6-ECFE-4473-B3E9-C91BE833927A}"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858712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EEF7F6-ECFE-4473-B3E9-C91BE833927A}"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D859A-2C66-45B9-9A71-3CF205EC2D4A}"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0359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EEF7F6-ECFE-4473-B3E9-C91BE833927A}"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324083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3AEEF7F6-ECFE-4473-B3E9-C91BE833927A}"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319732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3AEEF7F6-ECFE-4473-B3E9-C91BE833927A}"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10213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AEEF7F6-ECFE-4473-B3E9-C91BE833927A}"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13219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AEEF7F6-ECFE-4473-B3E9-C91BE833927A}"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05110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12/25/2025</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0686837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endParaRPr lang="en-US" dirty="0"/>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12/25/2025</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074315171"/>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12/25/2025</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92301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12/25/2025</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4816771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12/25/2025</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36545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AEEF7F6-ECFE-4473-B3E9-C91BE833927A}" type="datetimeFigureOut">
              <a:rPr lang="en-US" smtClean="0"/>
              <a:t>12/25/2025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178178785"/>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0.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0.xml"/><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1.xml"/><Relationship Id="rId5" Type="http://schemas.openxmlformats.org/officeDocument/2006/relationships/image" Target="../media/image12.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3.png"/><Relationship Id="rId9" Type="http://schemas.microsoft.com/office/2007/relationships/diagramDrawing" Target="../diagrams/drawing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1.xml"/><Relationship Id="rId5" Type="http://schemas.openxmlformats.org/officeDocument/2006/relationships/image" Target="../media/image1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png"/><Relationship Id="rId7" Type="http://schemas.openxmlformats.org/officeDocument/2006/relationships/diagramQuickStyle" Target="../diagrams/quickStyle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9.png"/><Relationship Id="rId9" Type="http://schemas.microsoft.com/office/2007/relationships/diagramDrawing" Target="../diagrams/drawing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2.xml"/><Relationship Id="rId5" Type="http://schemas.openxmlformats.org/officeDocument/2006/relationships/image" Target="../media/image2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1.xml"/><Relationship Id="rId5" Type="http://schemas.openxmlformats.org/officeDocument/2006/relationships/image" Target="../media/image25.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png"/><Relationship Id="rId7" Type="http://schemas.openxmlformats.org/officeDocument/2006/relationships/diagramQuickStyle" Target="../diagrams/quickStyle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6.png"/><Relationship Id="rId9" Type="http://schemas.microsoft.com/office/2007/relationships/diagramDrawing" Target="../diagrams/drawing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1.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1.xml"/><Relationship Id="rId5" Type="http://schemas.openxmlformats.org/officeDocument/2006/relationships/image" Target="../media/image3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1.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8" name="Picture 2">
            <a:extLst>
              <a:ext uri="{FF2B5EF4-FFF2-40B4-BE49-F238E27FC236}">
                <a16:creationId xmlns:a16="http://schemas.microsoft.com/office/drawing/2014/main" id="{9ACD3AF8-B16E-4174-8C1A-41F683C4AF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a16="http://schemas.microsoft.com/office/drawing/2014/main" xmlns="">
                <a:solidFill>
                  <a:srgbClr val="FFFFFF"/>
                </a:solidFill>
              </a14:hiddenFill>
            </a:ext>
          </a:extLst>
        </p:spPr>
      </p:pic>
      <p:grpSp>
        <p:nvGrpSpPr>
          <p:cNvPr id="100" name="Group 99">
            <a:extLst>
              <a:ext uri="{FF2B5EF4-FFF2-40B4-BE49-F238E27FC236}">
                <a16:creationId xmlns:a16="http://schemas.microsoft.com/office/drawing/2014/main" id="{FF5EAD09-B81D-415F-8BCF-73C81AE05F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01" name="Rectangle 5">
              <a:extLst>
                <a:ext uri="{FF2B5EF4-FFF2-40B4-BE49-F238E27FC236}">
                  <a16:creationId xmlns:a16="http://schemas.microsoft.com/office/drawing/2014/main" id="{CFB79010-8ED4-49EF-AFD2-F4D8C80B69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GB" dirty="0"/>
            </a:p>
          </p:txBody>
        </p:sp>
        <p:sp>
          <p:nvSpPr>
            <p:cNvPr id="102" name="Freeform 6">
              <a:extLst>
                <a:ext uri="{FF2B5EF4-FFF2-40B4-BE49-F238E27FC236}">
                  <a16:creationId xmlns:a16="http://schemas.microsoft.com/office/drawing/2014/main" id="{4649B869-006E-42B5-9DDC-21049B130E0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03" name="Freeform 7">
              <a:extLst>
                <a:ext uri="{FF2B5EF4-FFF2-40B4-BE49-F238E27FC236}">
                  <a16:creationId xmlns:a16="http://schemas.microsoft.com/office/drawing/2014/main" id="{443096BD-333F-48B6-8220-D1F9793E40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04" name="Rectangle 8">
              <a:extLst>
                <a:ext uri="{FF2B5EF4-FFF2-40B4-BE49-F238E27FC236}">
                  <a16:creationId xmlns:a16="http://schemas.microsoft.com/office/drawing/2014/main" id="{1A45BB9A-7E84-4B9B-923A-270A97F852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GB" dirty="0"/>
            </a:p>
          </p:txBody>
        </p:sp>
        <p:sp>
          <p:nvSpPr>
            <p:cNvPr id="105" name="Freeform 9">
              <a:extLst>
                <a:ext uri="{FF2B5EF4-FFF2-40B4-BE49-F238E27FC236}">
                  <a16:creationId xmlns:a16="http://schemas.microsoft.com/office/drawing/2014/main" id="{D7D7C768-2F76-4DE2-A807-1B9FFF816C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06" name="Freeform 10">
              <a:extLst>
                <a:ext uri="{FF2B5EF4-FFF2-40B4-BE49-F238E27FC236}">
                  <a16:creationId xmlns:a16="http://schemas.microsoft.com/office/drawing/2014/main" id="{1870B32E-EE42-470E-B543-CA55AEC8C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07" name="Freeform 11">
              <a:extLst>
                <a:ext uri="{FF2B5EF4-FFF2-40B4-BE49-F238E27FC236}">
                  <a16:creationId xmlns:a16="http://schemas.microsoft.com/office/drawing/2014/main" id="{EEF09120-11AA-4DB5-98A8-EC4923002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08" name="Freeform 12">
              <a:extLst>
                <a:ext uri="{FF2B5EF4-FFF2-40B4-BE49-F238E27FC236}">
                  <a16:creationId xmlns:a16="http://schemas.microsoft.com/office/drawing/2014/main" id="{39CC463D-589C-461C-A234-0460EB06B8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09" name="Freeform 13">
              <a:extLst>
                <a:ext uri="{FF2B5EF4-FFF2-40B4-BE49-F238E27FC236}">
                  <a16:creationId xmlns:a16="http://schemas.microsoft.com/office/drawing/2014/main" id="{B6516153-269A-421E-A021-CB3F3C5E1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0" name="Freeform 14">
              <a:extLst>
                <a:ext uri="{FF2B5EF4-FFF2-40B4-BE49-F238E27FC236}">
                  <a16:creationId xmlns:a16="http://schemas.microsoft.com/office/drawing/2014/main" id="{45E14300-6C4A-4F77-915F-F3B25B023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1" name="Freeform 15">
              <a:extLst>
                <a:ext uri="{FF2B5EF4-FFF2-40B4-BE49-F238E27FC236}">
                  <a16:creationId xmlns:a16="http://schemas.microsoft.com/office/drawing/2014/main" id="{993E312A-E6A6-4B52-ADE6-618ADC89BA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2" name="Freeform 16">
              <a:extLst>
                <a:ext uri="{FF2B5EF4-FFF2-40B4-BE49-F238E27FC236}">
                  <a16:creationId xmlns:a16="http://schemas.microsoft.com/office/drawing/2014/main" id="{2F0F3026-2480-472B-8C52-36812C81E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3" name="Freeform 17">
              <a:extLst>
                <a:ext uri="{FF2B5EF4-FFF2-40B4-BE49-F238E27FC236}">
                  <a16:creationId xmlns:a16="http://schemas.microsoft.com/office/drawing/2014/main" id="{34E1C992-559D-4827-9F30-31A3CA7A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4" name="Freeform 18">
              <a:extLst>
                <a:ext uri="{FF2B5EF4-FFF2-40B4-BE49-F238E27FC236}">
                  <a16:creationId xmlns:a16="http://schemas.microsoft.com/office/drawing/2014/main" id="{D9F2FB98-F443-498F-AAD9-6945825681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5" name="Freeform 19">
              <a:extLst>
                <a:ext uri="{FF2B5EF4-FFF2-40B4-BE49-F238E27FC236}">
                  <a16:creationId xmlns:a16="http://schemas.microsoft.com/office/drawing/2014/main" id="{75DBF6EC-ED50-43E4-8A8B-64CE86A88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6" name="Freeform 20">
              <a:extLst>
                <a:ext uri="{FF2B5EF4-FFF2-40B4-BE49-F238E27FC236}">
                  <a16:creationId xmlns:a16="http://schemas.microsoft.com/office/drawing/2014/main" id="{FD854F40-AC43-4F21-9C62-2CE35CFD2B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7" name="Freeform 21">
              <a:extLst>
                <a:ext uri="{FF2B5EF4-FFF2-40B4-BE49-F238E27FC236}">
                  <a16:creationId xmlns:a16="http://schemas.microsoft.com/office/drawing/2014/main" id="{62CCB560-494A-4F74-9DE4-068806A893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8" name="Freeform 22">
              <a:extLst>
                <a:ext uri="{FF2B5EF4-FFF2-40B4-BE49-F238E27FC236}">
                  <a16:creationId xmlns:a16="http://schemas.microsoft.com/office/drawing/2014/main" id="{6F9A05F2-B5D2-4D8A-9A78-14E45C13F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19" name="Freeform 23">
              <a:extLst>
                <a:ext uri="{FF2B5EF4-FFF2-40B4-BE49-F238E27FC236}">
                  <a16:creationId xmlns:a16="http://schemas.microsoft.com/office/drawing/2014/main" id="{A6373189-19BB-4BEC-84A3-432253E05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0" name="Freeform 24">
              <a:extLst>
                <a:ext uri="{FF2B5EF4-FFF2-40B4-BE49-F238E27FC236}">
                  <a16:creationId xmlns:a16="http://schemas.microsoft.com/office/drawing/2014/main" id="{71AB3122-947A-44DB-B190-A2601C6C95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1" name="Freeform 25">
              <a:extLst>
                <a:ext uri="{FF2B5EF4-FFF2-40B4-BE49-F238E27FC236}">
                  <a16:creationId xmlns:a16="http://schemas.microsoft.com/office/drawing/2014/main" id="{74B4109D-3AFC-4D44-87B1-0CDED3E63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2" name="Freeform 26">
              <a:extLst>
                <a:ext uri="{FF2B5EF4-FFF2-40B4-BE49-F238E27FC236}">
                  <a16:creationId xmlns:a16="http://schemas.microsoft.com/office/drawing/2014/main" id="{44AAD39F-F7C9-4D00-95E0-0465B4E858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3" name="Freeform 27">
              <a:extLst>
                <a:ext uri="{FF2B5EF4-FFF2-40B4-BE49-F238E27FC236}">
                  <a16:creationId xmlns:a16="http://schemas.microsoft.com/office/drawing/2014/main" id="{C1DCAB8D-6EF6-4A84-8D0C-AA9226DEC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4" name="Freeform 28">
              <a:extLst>
                <a:ext uri="{FF2B5EF4-FFF2-40B4-BE49-F238E27FC236}">
                  <a16:creationId xmlns:a16="http://schemas.microsoft.com/office/drawing/2014/main" id="{C407F97F-83CF-4703-B9E0-6335530E32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5" name="Freeform 29">
              <a:extLst>
                <a:ext uri="{FF2B5EF4-FFF2-40B4-BE49-F238E27FC236}">
                  <a16:creationId xmlns:a16="http://schemas.microsoft.com/office/drawing/2014/main" id="{0D8D2363-5D84-4CFF-89AA-3C93C859D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6" name="Freeform 30">
              <a:extLst>
                <a:ext uri="{FF2B5EF4-FFF2-40B4-BE49-F238E27FC236}">
                  <a16:creationId xmlns:a16="http://schemas.microsoft.com/office/drawing/2014/main" id="{0435A35C-AC99-4E12-8CB0-9C640DAA94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7" name="Freeform 31">
              <a:extLst>
                <a:ext uri="{FF2B5EF4-FFF2-40B4-BE49-F238E27FC236}">
                  <a16:creationId xmlns:a16="http://schemas.microsoft.com/office/drawing/2014/main" id="{F20392CF-2256-4527-836B-2E6F88596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8" name="Freeform 32">
              <a:extLst>
                <a:ext uri="{FF2B5EF4-FFF2-40B4-BE49-F238E27FC236}">
                  <a16:creationId xmlns:a16="http://schemas.microsoft.com/office/drawing/2014/main" id="{C52C3AD3-122C-4010-9C55-B0247F8CCA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29" name="Rectangle 33">
              <a:extLst>
                <a:ext uri="{FF2B5EF4-FFF2-40B4-BE49-F238E27FC236}">
                  <a16:creationId xmlns:a16="http://schemas.microsoft.com/office/drawing/2014/main" id="{EFCB53ED-09C0-4AD7-9BBC-366833D5FE0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GB" dirty="0"/>
            </a:p>
          </p:txBody>
        </p:sp>
        <p:sp>
          <p:nvSpPr>
            <p:cNvPr id="130" name="Freeform 34">
              <a:extLst>
                <a:ext uri="{FF2B5EF4-FFF2-40B4-BE49-F238E27FC236}">
                  <a16:creationId xmlns:a16="http://schemas.microsoft.com/office/drawing/2014/main" id="{6F309F52-BFCF-47D9-8089-BC049540DB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1" name="Freeform 35">
              <a:extLst>
                <a:ext uri="{FF2B5EF4-FFF2-40B4-BE49-F238E27FC236}">
                  <a16:creationId xmlns:a16="http://schemas.microsoft.com/office/drawing/2014/main" id="{5F9AE85F-C7AA-4761-B468-2E100829B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2" name="Freeform 36">
              <a:extLst>
                <a:ext uri="{FF2B5EF4-FFF2-40B4-BE49-F238E27FC236}">
                  <a16:creationId xmlns:a16="http://schemas.microsoft.com/office/drawing/2014/main" id="{2C81C778-91E5-4AE9-AACB-8566E7A28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3" name="Freeform 37">
              <a:extLst>
                <a:ext uri="{FF2B5EF4-FFF2-40B4-BE49-F238E27FC236}">
                  <a16:creationId xmlns:a16="http://schemas.microsoft.com/office/drawing/2014/main" id="{6C56E0B4-58A0-4B2B-BD56-54121BB8DB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4" name="Freeform 38">
              <a:extLst>
                <a:ext uri="{FF2B5EF4-FFF2-40B4-BE49-F238E27FC236}">
                  <a16:creationId xmlns:a16="http://schemas.microsoft.com/office/drawing/2014/main" id="{88A29CFE-13A6-4509-946F-5C074F85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5" name="Freeform 39">
              <a:extLst>
                <a:ext uri="{FF2B5EF4-FFF2-40B4-BE49-F238E27FC236}">
                  <a16:creationId xmlns:a16="http://schemas.microsoft.com/office/drawing/2014/main" id="{00235A0A-018B-4499-AC16-AF83457BF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6" name="Freeform 40">
              <a:extLst>
                <a:ext uri="{FF2B5EF4-FFF2-40B4-BE49-F238E27FC236}">
                  <a16:creationId xmlns:a16="http://schemas.microsoft.com/office/drawing/2014/main" id="{861DF9B7-50DC-4EBE-8B23-97FE92DBBB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7" name="Freeform 41">
              <a:extLst>
                <a:ext uri="{FF2B5EF4-FFF2-40B4-BE49-F238E27FC236}">
                  <a16:creationId xmlns:a16="http://schemas.microsoft.com/office/drawing/2014/main" id="{69673907-73D7-4729-A911-9BD078EC2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8" name="Freeform 42">
              <a:extLst>
                <a:ext uri="{FF2B5EF4-FFF2-40B4-BE49-F238E27FC236}">
                  <a16:creationId xmlns:a16="http://schemas.microsoft.com/office/drawing/2014/main" id="{4DC844D3-8053-4EE7-A286-50157B6FD8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39" name="Freeform 43">
              <a:extLst>
                <a:ext uri="{FF2B5EF4-FFF2-40B4-BE49-F238E27FC236}">
                  <a16:creationId xmlns:a16="http://schemas.microsoft.com/office/drawing/2014/main" id="{D67575A0-A45A-4773-874C-16370E367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0" name="Freeform 44">
              <a:extLst>
                <a:ext uri="{FF2B5EF4-FFF2-40B4-BE49-F238E27FC236}">
                  <a16:creationId xmlns:a16="http://schemas.microsoft.com/office/drawing/2014/main" id="{4327252B-B62B-4DE0-A924-B7F6E40AD9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1" name="Rectangle 45">
              <a:extLst>
                <a:ext uri="{FF2B5EF4-FFF2-40B4-BE49-F238E27FC236}">
                  <a16:creationId xmlns:a16="http://schemas.microsoft.com/office/drawing/2014/main" id="{778BC6A7-AC19-497B-A7C6-E447B2EBDA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a16="http://schemas.microsoft.com/office/drawing/2014/main" xmlns="" w="9525">
                  <a:solidFill>
                    <a:srgbClr val="000000"/>
                  </a:solidFill>
                  <a:miter lim="800000"/>
                  <a:headEnd/>
                  <a:tailEnd/>
                </a14:hiddenLine>
              </a:ext>
            </a:extLst>
          </p:spPr>
          <p:txBody>
            <a:bodyPr/>
            <a:lstStyle/>
            <a:p>
              <a:endParaRPr lang="en-GB" dirty="0"/>
            </a:p>
          </p:txBody>
        </p:sp>
        <p:sp>
          <p:nvSpPr>
            <p:cNvPr id="142" name="Freeform 46">
              <a:extLst>
                <a:ext uri="{FF2B5EF4-FFF2-40B4-BE49-F238E27FC236}">
                  <a16:creationId xmlns:a16="http://schemas.microsoft.com/office/drawing/2014/main" id="{4E79A87B-BF1F-437A-9FED-BE93025E5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3" name="Freeform 47">
              <a:extLst>
                <a:ext uri="{FF2B5EF4-FFF2-40B4-BE49-F238E27FC236}">
                  <a16:creationId xmlns:a16="http://schemas.microsoft.com/office/drawing/2014/main" id="{DFAAF3CC-B4E0-45C8-AC2D-EF0D6D823D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4" name="Freeform 48">
              <a:extLst>
                <a:ext uri="{FF2B5EF4-FFF2-40B4-BE49-F238E27FC236}">
                  <a16:creationId xmlns:a16="http://schemas.microsoft.com/office/drawing/2014/main" id="{A5A12C87-1E4A-4664-B2F4-A1C8B656F9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5" name="Freeform 49">
              <a:extLst>
                <a:ext uri="{FF2B5EF4-FFF2-40B4-BE49-F238E27FC236}">
                  <a16:creationId xmlns:a16="http://schemas.microsoft.com/office/drawing/2014/main" id="{B3AF8230-4630-4505-ADDB-16A9B6B377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6" name="Freeform 50">
              <a:extLst>
                <a:ext uri="{FF2B5EF4-FFF2-40B4-BE49-F238E27FC236}">
                  <a16:creationId xmlns:a16="http://schemas.microsoft.com/office/drawing/2014/main" id="{33F93F6D-724D-42F3-AF1D-3081EAB5D1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7" name="Freeform 51">
              <a:extLst>
                <a:ext uri="{FF2B5EF4-FFF2-40B4-BE49-F238E27FC236}">
                  <a16:creationId xmlns:a16="http://schemas.microsoft.com/office/drawing/2014/main" id="{F5DD7A8F-FB67-4E79-80DB-0FAF3A098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8" name="Freeform 52">
              <a:extLst>
                <a:ext uri="{FF2B5EF4-FFF2-40B4-BE49-F238E27FC236}">
                  <a16:creationId xmlns:a16="http://schemas.microsoft.com/office/drawing/2014/main" id="{7B140A84-E89E-4A80-9DF8-7BCA45F90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49" name="Freeform 53">
              <a:extLst>
                <a:ext uri="{FF2B5EF4-FFF2-40B4-BE49-F238E27FC236}">
                  <a16:creationId xmlns:a16="http://schemas.microsoft.com/office/drawing/2014/main" id="{279E1D6A-EFE2-44C6-A5BF-DFADF0DC91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50" name="Freeform 54">
              <a:extLst>
                <a:ext uri="{FF2B5EF4-FFF2-40B4-BE49-F238E27FC236}">
                  <a16:creationId xmlns:a16="http://schemas.microsoft.com/office/drawing/2014/main" id="{C9FA2204-561F-4ABB-988C-03053820F1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51" name="Freeform 55">
              <a:extLst>
                <a:ext uri="{FF2B5EF4-FFF2-40B4-BE49-F238E27FC236}">
                  <a16:creationId xmlns:a16="http://schemas.microsoft.com/office/drawing/2014/main" id="{8BD7D04E-AC0A-424F-BC40-28842DAFF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52" name="Freeform 56">
              <a:extLst>
                <a:ext uri="{FF2B5EF4-FFF2-40B4-BE49-F238E27FC236}">
                  <a16:creationId xmlns:a16="http://schemas.microsoft.com/office/drawing/2014/main" id="{32B616A2-FE09-47DD-B58C-12EE58B7CA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53" name="Freeform 57">
              <a:extLst>
                <a:ext uri="{FF2B5EF4-FFF2-40B4-BE49-F238E27FC236}">
                  <a16:creationId xmlns:a16="http://schemas.microsoft.com/office/drawing/2014/main" id="{08C5EAF5-6064-484E-BA05-80D09D84E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sp>
          <p:nvSpPr>
            <p:cNvPr id="154" name="Freeform 58">
              <a:extLst>
                <a:ext uri="{FF2B5EF4-FFF2-40B4-BE49-F238E27FC236}">
                  <a16:creationId xmlns:a16="http://schemas.microsoft.com/office/drawing/2014/main" id="{F11D90DF-D275-4725-884C-77E5E01D89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txBody>
            <a:bodyPr/>
            <a:lstStyle/>
            <a:p>
              <a:endParaRPr lang="en-GB" dirty="0"/>
            </a:p>
          </p:txBody>
        </p:sp>
      </p:grpSp>
      <p:sp>
        <p:nvSpPr>
          <p:cNvPr id="156" name="Rectangle 155">
            <a:extLst>
              <a:ext uri="{FF2B5EF4-FFF2-40B4-BE49-F238E27FC236}">
                <a16:creationId xmlns:a16="http://schemas.microsoft.com/office/drawing/2014/main" id="{4D6A640B-6684-4338-9199-6EE758735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8" name="Group 157">
            <a:extLst>
              <a:ext uri="{FF2B5EF4-FFF2-40B4-BE49-F238E27FC236}">
                <a16:creationId xmlns:a16="http://schemas.microsoft.com/office/drawing/2014/main" id="{5BAB052D-92E4-4715-895B-E423230754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2305051" cy="6858001"/>
            <a:chOff x="0" y="0"/>
            <a:chExt cx="2305051" cy="6858001"/>
          </a:xfrm>
          <a:solidFill>
            <a:schemeClr val="bg2">
              <a:lumMod val="60000"/>
              <a:lumOff val="40000"/>
              <a:alpha val="60000"/>
            </a:schemeClr>
          </a:solidFill>
          <a:effectLst/>
        </p:grpSpPr>
        <p:sp>
          <p:nvSpPr>
            <p:cNvPr id="159" name="Rectangle 5">
              <a:extLst>
                <a:ext uri="{FF2B5EF4-FFF2-40B4-BE49-F238E27FC236}">
                  <a16:creationId xmlns:a16="http://schemas.microsoft.com/office/drawing/2014/main" id="{F9792D54-14D4-44D6-A491-DEA72C26C37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GB" dirty="0"/>
            </a:p>
          </p:txBody>
        </p:sp>
        <p:sp>
          <p:nvSpPr>
            <p:cNvPr id="160" name="Freeform 6">
              <a:extLst>
                <a:ext uri="{FF2B5EF4-FFF2-40B4-BE49-F238E27FC236}">
                  <a16:creationId xmlns:a16="http://schemas.microsoft.com/office/drawing/2014/main" id="{D3CB19E7-637B-4FA1-B5E7-E35CF50AD39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61" name="Freeform 7">
              <a:extLst>
                <a:ext uri="{FF2B5EF4-FFF2-40B4-BE49-F238E27FC236}">
                  <a16:creationId xmlns:a16="http://schemas.microsoft.com/office/drawing/2014/main" id="{B8CED72B-CBE7-450E-BE7C-247E884393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62" name="Rectangle 8">
              <a:extLst>
                <a:ext uri="{FF2B5EF4-FFF2-40B4-BE49-F238E27FC236}">
                  <a16:creationId xmlns:a16="http://schemas.microsoft.com/office/drawing/2014/main" id="{3BBD7465-3665-40AE-98E8-F8503EE2096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GB" dirty="0"/>
            </a:p>
          </p:txBody>
        </p:sp>
        <p:sp>
          <p:nvSpPr>
            <p:cNvPr id="163" name="Freeform 9">
              <a:extLst>
                <a:ext uri="{FF2B5EF4-FFF2-40B4-BE49-F238E27FC236}">
                  <a16:creationId xmlns:a16="http://schemas.microsoft.com/office/drawing/2014/main" id="{86CB6F49-3080-4A29-860D-F8F1AC4AC3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64" name="Freeform 10">
              <a:extLst>
                <a:ext uri="{FF2B5EF4-FFF2-40B4-BE49-F238E27FC236}">
                  <a16:creationId xmlns:a16="http://schemas.microsoft.com/office/drawing/2014/main" id="{EA3A8EBB-EC1C-42C6-B409-E065ACD0E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65" name="Freeform 11">
              <a:extLst>
                <a:ext uri="{FF2B5EF4-FFF2-40B4-BE49-F238E27FC236}">
                  <a16:creationId xmlns:a16="http://schemas.microsoft.com/office/drawing/2014/main" id="{0F0AAA08-BD9A-4F88-A60C-F2ECB84CE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66" name="Freeform 12">
              <a:extLst>
                <a:ext uri="{FF2B5EF4-FFF2-40B4-BE49-F238E27FC236}">
                  <a16:creationId xmlns:a16="http://schemas.microsoft.com/office/drawing/2014/main" id="{44ACFC6E-01EE-4A01-8C39-0C4BC6B4EF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67" name="Freeform 13">
              <a:extLst>
                <a:ext uri="{FF2B5EF4-FFF2-40B4-BE49-F238E27FC236}">
                  <a16:creationId xmlns:a16="http://schemas.microsoft.com/office/drawing/2014/main" id="{DDE8B861-702A-45C6-A7C5-D20764B55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68" name="Freeform 14">
              <a:extLst>
                <a:ext uri="{FF2B5EF4-FFF2-40B4-BE49-F238E27FC236}">
                  <a16:creationId xmlns:a16="http://schemas.microsoft.com/office/drawing/2014/main" id="{28DFAFFC-4BAC-4606-8F45-47284ED21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69" name="Freeform 15">
              <a:extLst>
                <a:ext uri="{FF2B5EF4-FFF2-40B4-BE49-F238E27FC236}">
                  <a16:creationId xmlns:a16="http://schemas.microsoft.com/office/drawing/2014/main" id="{B141C913-8CB4-4E5B-B684-BD40367775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0" name="Freeform 16">
              <a:extLst>
                <a:ext uri="{FF2B5EF4-FFF2-40B4-BE49-F238E27FC236}">
                  <a16:creationId xmlns:a16="http://schemas.microsoft.com/office/drawing/2014/main" id="{81E80ADE-DC6D-491B-BAC4-A90D44FD45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1" name="Freeform 17">
              <a:extLst>
                <a:ext uri="{FF2B5EF4-FFF2-40B4-BE49-F238E27FC236}">
                  <a16:creationId xmlns:a16="http://schemas.microsoft.com/office/drawing/2014/main" id="{4A425A61-47B5-41CA-A1D6-21C358B89D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2" name="Freeform 18">
              <a:extLst>
                <a:ext uri="{FF2B5EF4-FFF2-40B4-BE49-F238E27FC236}">
                  <a16:creationId xmlns:a16="http://schemas.microsoft.com/office/drawing/2014/main" id="{B44D4532-40A1-4CEB-8A1C-711180D586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3" name="Freeform 19">
              <a:extLst>
                <a:ext uri="{FF2B5EF4-FFF2-40B4-BE49-F238E27FC236}">
                  <a16:creationId xmlns:a16="http://schemas.microsoft.com/office/drawing/2014/main" id="{31056221-3B7D-4E0B-A366-3E03523EF5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4" name="Freeform 20">
              <a:extLst>
                <a:ext uri="{FF2B5EF4-FFF2-40B4-BE49-F238E27FC236}">
                  <a16:creationId xmlns:a16="http://schemas.microsoft.com/office/drawing/2014/main" id="{0F4CE988-2CA1-4875-8419-BC9914E7A90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5" name="Freeform 21">
              <a:extLst>
                <a:ext uri="{FF2B5EF4-FFF2-40B4-BE49-F238E27FC236}">
                  <a16:creationId xmlns:a16="http://schemas.microsoft.com/office/drawing/2014/main" id="{D5E11DED-8522-4839-A2C5-9D64FBB031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6" name="Freeform 22">
              <a:extLst>
                <a:ext uri="{FF2B5EF4-FFF2-40B4-BE49-F238E27FC236}">
                  <a16:creationId xmlns:a16="http://schemas.microsoft.com/office/drawing/2014/main" id="{3A1EE55C-F160-4A56-ABFE-5EE18FE21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7" name="Freeform 23">
              <a:extLst>
                <a:ext uri="{FF2B5EF4-FFF2-40B4-BE49-F238E27FC236}">
                  <a16:creationId xmlns:a16="http://schemas.microsoft.com/office/drawing/2014/main" id="{519A9CFB-FBD5-4742-9228-976E852BCC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8" name="Freeform 24">
              <a:extLst>
                <a:ext uri="{FF2B5EF4-FFF2-40B4-BE49-F238E27FC236}">
                  <a16:creationId xmlns:a16="http://schemas.microsoft.com/office/drawing/2014/main" id="{E808A3F5-6663-49E0-B6BB-AFBBCD5087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79" name="Freeform 25">
              <a:extLst>
                <a:ext uri="{FF2B5EF4-FFF2-40B4-BE49-F238E27FC236}">
                  <a16:creationId xmlns:a16="http://schemas.microsoft.com/office/drawing/2014/main" id="{33A492F1-3A43-47FE-8E3E-4BF2B78649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0" name="Freeform 26">
              <a:extLst>
                <a:ext uri="{FF2B5EF4-FFF2-40B4-BE49-F238E27FC236}">
                  <a16:creationId xmlns:a16="http://schemas.microsoft.com/office/drawing/2014/main" id="{2ED7DF23-0B1F-4E17-8EC2-1B74D318FB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1" name="Freeform 27">
              <a:extLst>
                <a:ext uri="{FF2B5EF4-FFF2-40B4-BE49-F238E27FC236}">
                  <a16:creationId xmlns:a16="http://schemas.microsoft.com/office/drawing/2014/main" id="{FE1204BD-7481-4989-957D-B61AEA964A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2" name="Freeform 28">
              <a:extLst>
                <a:ext uri="{FF2B5EF4-FFF2-40B4-BE49-F238E27FC236}">
                  <a16:creationId xmlns:a16="http://schemas.microsoft.com/office/drawing/2014/main" id="{DD3C5673-1874-477D-AE35-B37A919741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3" name="Freeform 29">
              <a:extLst>
                <a:ext uri="{FF2B5EF4-FFF2-40B4-BE49-F238E27FC236}">
                  <a16:creationId xmlns:a16="http://schemas.microsoft.com/office/drawing/2014/main" id="{DA963A0C-386F-4A9E-89E8-67081094B9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4" name="Freeform 30">
              <a:extLst>
                <a:ext uri="{FF2B5EF4-FFF2-40B4-BE49-F238E27FC236}">
                  <a16:creationId xmlns:a16="http://schemas.microsoft.com/office/drawing/2014/main" id="{D527BB52-D4EE-4CAA-A8A0-53A27DC7FF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5" name="Freeform 31">
              <a:extLst>
                <a:ext uri="{FF2B5EF4-FFF2-40B4-BE49-F238E27FC236}">
                  <a16:creationId xmlns:a16="http://schemas.microsoft.com/office/drawing/2014/main" id="{2A037511-5E0A-4293-81AB-28C5DC96B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6" name="Freeform 32">
              <a:extLst>
                <a:ext uri="{FF2B5EF4-FFF2-40B4-BE49-F238E27FC236}">
                  <a16:creationId xmlns:a16="http://schemas.microsoft.com/office/drawing/2014/main" id="{42A7FE1C-EF14-483B-B5FC-FDC150282A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7" name="Rectangle 33">
              <a:extLst>
                <a:ext uri="{FF2B5EF4-FFF2-40B4-BE49-F238E27FC236}">
                  <a16:creationId xmlns:a16="http://schemas.microsoft.com/office/drawing/2014/main" id="{45A82D49-825B-47BC-8622-A1D54C5C212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GB" dirty="0"/>
            </a:p>
          </p:txBody>
        </p:sp>
        <p:sp>
          <p:nvSpPr>
            <p:cNvPr id="188" name="Freeform 34">
              <a:extLst>
                <a:ext uri="{FF2B5EF4-FFF2-40B4-BE49-F238E27FC236}">
                  <a16:creationId xmlns:a16="http://schemas.microsoft.com/office/drawing/2014/main" id="{039D74A5-B4AF-4800-B941-E5F8CD44E7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89" name="Freeform 35">
              <a:extLst>
                <a:ext uri="{FF2B5EF4-FFF2-40B4-BE49-F238E27FC236}">
                  <a16:creationId xmlns:a16="http://schemas.microsoft.com/office/drawing/2014/main" id="{70B5D059-1472-474F-BDE6-881B5D1CD7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0" name="Freeform 36">
              <a:extLst>
                <a:ext uri="{FF2B5EF4-FFF2-40B4-BE49-F238E27FC236}">
                  <a16:creationId xmlns:a16="http://schemas.microsoft.com/office/drawing/2014/main" id="{736D79CC-81E0-4C87-ABAC-58197ADBDA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1" name="Freeform 37">
              <a:extLst>
                <a:ext uri="{FF2B5EF4-FFF2-40B4-BE49-F238E27FC236}">
                  <a16:creationId xmlns:a16="http://schemas.microsoft.com/office/drawing/2014/main" id="{7E72BA97-1228-4006-B095-8D9FB45FB1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2" name="Freeform 38">
              <a:extLst>
                <a:ext uri="{FF2B5EF4-FFF2-40B4-BE49-F238E27FC236}">
                  <a16:creationId xmlns:a16="http://schemas.microsoft.com/office/drawing/2014/main" id="{36FA3A99-37FB-4B03-A810-425BC9B379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3" name="Freeform 39">
              <a:extLst>
                <a:ext uri="{FF2B5EF4-FFF2-40B4-BE49-F238E27FC236}">
                  <a16:creationId xmlns:a16="http://schemas.microsoft.com/office/drawing/2014/main" id="{2E45B959-2AD5-4FE4-BF6A-4F011011C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4" name="Freeform 40">
              <a:extLst>
                <a:ext uri="{FF2B5EF4-FFF2-40B4-BE49-F238E27FC236}">
                  <a16:creationId xmlns:a16="http://schemas.microsoft.com/office/drawing/2014/main" id="{CEE29A17-924F-4EED-A18C-E6A0137E52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5" name="Freeform 41">
              <a:extLst>
                <a:ext uri="{FF2B5EF4-FFF2-40B4-BE49-F238E27FC236}">
                  <a16:creationId xmlns:a16="http://schemas.microsoft.com/office/drawing/2014/main" id="{EFB8BDF1-3A59-4EE5-BFAB-4F4B301E3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6" name="Freeform 42">
              <a:extLst>
                <a:ext uri="{FF2B5EF4-FFF2-40B4-BE49-F238E27FC236}">
                  <a16:creationId xmlns:a16="http://schemas.microsoft.com/office/drawing/2014/main" id="{8F94E417-93B4-4071-A6D1-AE66CA6822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7" name="Freeform 43">
              <a:extLst>
                <a:ext uri="{FF2B5EF4-FFF2-40B4-BE49-F238E27FC236}">
                  <a16:creationId xmlns:a16="http://schemas.microsoft.com/office/drawing/2014/main" id="{A18F44A8-385D-4EB4-A013-7EB252A27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8" name="Freeform 44">
              <a:extLst>
                <a:ext uri="{FF2B5EF4-FFF2-40B4-BE49-F238E27FC236}">
                  <a16:creationId xmlns:a16="http://schemas.microsoft.com/office/drawing/2014/main" id="{B25FB320-9784-4EA9-B1AE-3BF9106E6E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199" name="Rectangle 45">
              <a:extLst>
                <a:ext uri="{FF2B5EF4-FFF2-40B4-BE49-F238E27FC236}">
                  <a16:creationId xmlns:a16="http://schemas.microsoft.com/office/drawing/2014/main" id="{C9EB05E6-5BE4-4EE1-9F0C-E8B57B362EA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GB" dirty="0"/>
            </a:p>
          </p:txBody>
        </p:sp>
        <p:sp>
          <p:nvSpPr>
            <p:cNvPr id="200" name="Freeform 46">
              <a:extLst>
                <a:ext uri="{FF2B5EF4-FFF2-40B4-BE49-F238E27FC236}">
                  <a16:creationId xmlns:a16="http://schemas.microsoft.com/office/drawing/2014/main" id="{C66CAA98-15DB-4EF7-B2CA-54F523A3C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1" name="Freeform 47">
              <a:extLst>
                <a:ext uri="{FF2B5EF4-FFF2-40B4-BE49-F238E27FC236}">
                  <a16:creationId xmlns:a16="http://schemas.microsoft.com/office/drawing/2014/main" id="{7A30C330-EB27-4D08-82D2-7311A8505E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2" name="Freeform 48">
              <a:extLst>
                <a:ext uri="{FF2B5EF4-FFF2-40B4-BE49-F238E27FC236}">
                  <a16:creationId xmlns:a16="http://schemas.microsoft.com/office/drawing/2014/main" id="{285C54D0-DCD8-43CD-AE6D-00487565C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3" name="Freeform 49">
              <a:extLst>
                <a:ext uri="{FF2B5EF4-FFF2-40B4-BE49-F238E27FC236}">
                  <a16:creationId xmlns:a16="http://schemas.microsoft.com/office/drawing/2014/main" id="{BC525C34-0A4A-4042-8FA3-F64A115AEA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4" name="Freeform 50">
              <a:extLst>
                <a:ext uri="{FF2B5EF4-FFF2-40B4-BE49-F238E27FC236}">
                  <a16:creationId xmlns:a16="http://schemas.microsoft.com/office/drawing/2014/main" id="{870751A2-DBE9-4631-86D3-800E774916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5" name="Freeform 51">
              <a:extLst>
                <a:ext uri="{FF2B5EF4-FFF2-40B4-BE49-F238E27FC236}">
                  <a16:creationId xmlns:a16="http://schemas.microsoft.com/office/drawing/2014/main" id="{ED6D7806-3E23-488D-80ED-281D3DA720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6" name="Freeform 52">
              <a:extLst>
                <a:ext uri="{FF2B5EF4-FFF2-40B4-BE49-F238E27FC236}">
                  <a16:creationId xmlns:a16="http://schemas.microsoft.com/office/drawing/2014/main" id="{170E0895-F9C9-44BA-AF81-F7938C7E4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7" name="Freeform 53">
              <a:extLst>
                <a:ext uri="{FF2B5EF4-FFF2-40B4-BE49-F238E27FC236}">
                  <a16:creationId xmlns:a16="http://schemas.microsoft.com/office/drawing/2014/main" id="{75AD3DD3-BD4A-4DD9-9AC1-C60E341744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8" name="Freeform 54">
              <a:extLst>
                <a:ext uri="{FF2B5EF4-FFF2-40B4-BE49-F238E27FC236}">
                  <a16:creationId xmlns:a16="http://schemas.microsoft.com/office/drawing/2014/main" id="{D047B55E-0847-4696-8101-A643C3C7E91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09" name="Freeform 55">
              <a:extLst>
                <a:ext uri="{FF2B5EF4-FFF2-40B4-BE49-F238E27FC236}">
                  <a16:creationId xmlns:a16="http://schemas.microsoft.com/office/drawing/2014/main" id="{CB3EF1DB-37BD-463B-A542-7AA57DC9F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10" name="Freeform 56">
              <a:extLst>
                <a:ext uri="{FF2B5EF4-FFF2-40B4-BE49-F238E27FC236}">
                  <a16:creationId xmlns:a16="http://schemas.microsoft.com/office/drawing/2014/main" id="{95D0E013-2F18-4248-9D83-3BFF25A05C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11" name="Freeform 57">
              <a:extLst>
                <a:ext uri="{FF2B5EF4-FFF2-40B4-BE49-F238E27FC236}">
                  <a16:creationId xmlns:a16="http://schemas.microsoft.com/office/drawing/2014/main" id="{E7D95722-3A1F-4917-8C16-D4D409941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sp>
          <p:nvSpPr>
            <p:cNvPr id="212" name="Freeform 58">
              <a:extLst>
                <a:ext uri="{FF2B5EF4-FFF2-40B4-BE49-F238E27FC236}">
                  <a16:creationId xmlns:a16="http://schemas.microsoft.com/office/drawing/2014/main" id="{A54912BE-A961-4720-992C-09A2D13DE2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GB" dirty="0"/>
            </a:p>
          </p:txBody>
        </p:sp>
      </p:grpSp>
      <p:sp useBgFill="1">
        <p:nvSpPr>
          <p:cNvPr id="214" name="Round Diagonal Corner Rectangle 7">
            <a:extLst>
              <a:ext uri="{FF2B5EF4-FFF2-40B4-BE49-F238E27FC236}">
                <a16:creationId xmlns:a16="http://schemas.microsoft.com/office/drawing/2014/main" id="{FF5E4228-419E-44B9-B090-94A9540E5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079" y="0"/>
            <a:ext cx="8132922"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8AE308-4453-7194-287C-D20D89EB02D4}"/>
              </a:ext>
            </a:extLst>
          </p:cNvPr>
          <p:cNvSpPr>
            <a:spLocks noGrp="1"/>
          </p:cNvSpPr>
          <p:nvPr>
            <p:ph type="ctrTitle"/>
          </p:nvPr>
        </p:nvSpPr>
        <p:spPr>
          <a:xfrm>
            <a:off x="4654296" y="963613"/>
            <a:ext cx="6013703" cy="4149724"/>
          </a:xfrm>
        </p:spPr>
        <p:txBody>
          <a:bodyPr vert="horz" lIns="91440" tIns="45720" rIns="91440" bIns="45720" rtlCol="0" anchor="ctr">
            <a:normAutofit/>
          </a:bodyPr>
          <a:lstStyle/>
          <a:p>
            <a:r>
              <a:rPr lang="en-US" sz="5600" dirty="0"/>
              <a:t>Hospital Management SQL Project</a:t>
            </a:r>
            <a:br>
              <a:rPr lang="en-US" sz="5600" dirty="0"/>
            </a:br>
            <a:r>
              <a:rPr lang="en-US" sz="5600" dirty="0"/>
              <a:t>Schema Build and Analytics</a:t>
            </a:r>
          </a:p>
        </p:txBody>
      </p:sp>
      <p:sp>
        <p:nvSpPr>
          <p:cNvPr id="3" name="Subtitle 2">
            <a:extLst>
              <a:ext uri="{FF2B5EF4-FFF2-40B4-BE49-F238E27FC236}">
                <a16:creationId xmlns:a16="http://schemas.microsoft.com/office/drawing/2014/main" id="{EC38DA61-42DB-C310-888E-AF0B929FFA61}"/>
              </a:ext>
            </a:extLst>
          </p:cNvPr>
          <p:cNvSpPr>
            <a:spLocks noGrp="1"/>
          </p:cNvSpPr>
          <p:nvPr>
            <p:ph type="subTitle" idx="1"/>
          </p:nvPr>
        </p:nvSpPr>
        <p:spPr>
          <a:xfrm>
            <a:off x="1180571" y="963612"/>
            <a:ext cx="2502269" cy="4149725"/>
          </a:xfrm>
        </p:spPr>
        <p:txBody>
          <a:bodyPr vert="horz" lIns="91440" tIns="45720" rIns="91440" bIns="45720" rtlCol="0" anchor="ctr">
            <a:normAutofit/>
          </a:bodyPr>
          <a:lstStyle/>
          <a:p>
            <a:pPr algn="r"/>
            <a:r>
              <a:rPr lang="en-US" sz="2000" cap="all" dirty="0"/>
              <a:t>Designing databases and </a:t>
            </a:r>
            <a:r>
              <a:rPr lang="en-GB" sz="2000" cap="all" dirty="0"/>
              <a:t>analysing</a:t>
            </a:r>
            <a:r>
              <a:rPr lang="en-US" sz="2000" cap="all" dirty="0"/>
              <a:t> hospital data efficiently</a:t>
            </a:r>
          </a:p>
        </p:txBody>
      </p:sp>
    </p:spTree>
    <p:extLst>
      <p:ext uri="{BB962C8B-B14F-4D97-AF65-F5344CB8AC3E}">
        <p14:creationId xmlns:p14="http://schemas.microsoft.com/office/powerpoint/2010/main" val="238591255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296B5-5DCD-BE47-101F-1C642938BD28}"/>
              </a:ext>
            </a:extLst>
          </p:cNvPr>
          <p:cNvSpPr>
            <a:spLocks noGrp="1"/>
          </p:cNvSpPr>
          <p:nvPr>
            <p:ph type="title"/>
          </p:nvPr>
        </p:nvSpPr>
        <p:spPr>
          <a:xfrm>
            <a:off x="1005840" y="2186302"/>
            <a:ext cx="8737600" cy="2716107"/>
          </a:xfrm>
        </p:spPr>
        <p:txBody>
          <a:bodyPr vert="horz" lIns="91440" tIns="45720" rIns="91440" bIns="45720" rtlCol="0" anchor="b">
            <a:normAutofit/>
          </a:bodyPr>
          <a:lstStyle/>
          <a:p>
            <a:r>
              <a:rPr lang="en-US" sz="5400" dirty="0">
                <a:solidFill>
                  <a:schemeClr val="tx2"/>
                </a:solidFill>
              </a:rPr>
              <a:t>Data Definition &amp; Schema Setup</a:t>
            </a:r>
          </a:p>
        </p:txBody>
      </p:sp>
    </p:spTree>
    <p:extLst>
      <p:ext uri="{BB962C8B-B14F-4D97-AF65-F5344CB8AC3E}">
        <p14:creationId xmlns:p14="http://schemas.microsoft.com/office/powerpoint/2010/main" val="1789612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5" name="Group 14">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7"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8"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9"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4"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2"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3"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6" name="Group 15">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7"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p:nvSpPr>
          <p:cNvPr id="2" name="Title 1">
            <a:extLst>
              <a:ext uri="{FF2B5EF4-FFF2-40B4-BE49-F238E27FC236}">
                <a16:creationId xmlns:a16="http://schemas.microsoft.com/office/drawing/2014/main" id="{4BFA94B6-EA83-B0CF-E1D2-D339765BD3C1}"/>
              </a:ext>
            </a:extLst>
          </p:cNvPr>
          <p:cNvSpPr>
            <a:spLocks noGrp="1"/>
          </p:cNvSpPr>
          <p:nvPr>
            <p:ph type="title"/>
          </p:nvPr>
        </p:nvSpPr>
        <p:spPr>
          <a:xfrm>
            <a:off x="1141413" y="618518"/>
            <a:ext cx="9905998" cy="1478570"/>
          </a:xfrm>
        </p:spPr>
        <p:txBody>
          <a:bodyPr vert="horz" lIns="91440" tIns="45720" rIns="91440" bIns="45720" rtlCol="0" anchor="ctr">
            <a:normAutofit/>
          </a:bodyPr>
          <a:lstStyle/>
          <a:p>
            <a:r>
              <a:rPr lang="en-US" dirty="0">
                <a:latin typeface="Arial" panose="020B0604020202020204" pitchFamily="34" charset="0"/>
                <a:cs typeface="Arial" panose="020B0604020202020204" pitchFamily="34" charset="0"/>
              </a:rPr>
              <a:t>Initial Raw Schema</a:t>
            </a:r>
          </a:p>
        </p:txBody>
      </p:sp>
      <p:pic>
        <p:nvPicPr>
          <p:cNvPr id="7" name="Picture 6" descr="A screenshot of a computer program&#10;&#10;AI-generated content may be incorrect.">
            <a:extLst>
              <a:ext uri="{FF2B5EF4-FFF2-40B4-BE49-F238E27FC236}">
                <a16:creationId xmlns:a16="http://schemas.microsoft.com/office/drawing/2014/main" id="{912CAA3B-0F05-0C39-864E-4DC34DFC46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36006" y="2249487"/>
            <a:ext cx="4100044" cy="354965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Content Placeholder 3">
            <a:extLst>
              <a:ext uri="{FF2B5EF4-FFF2-40B4-BE49-F238E27FC236}">
                <a16:creationId xmlns:a16="http://schemas.microsoft.com/office/drawing/2014/main" id="{6C8C1953-01BA-520B-98B5-75139D54206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36727" y="2249487"/>
            <a:ext cx="4710683" cy="3541714"/>
          </a:xfrm>
        </p:spPr>
        <p:txBody>
          <a:bodyPr>
            <a:noAutofit/>
          </a:bodyPr>
          <a:lstStyle/>
          <a:p>
            <a:pPr marL="0" indent="0">
              <a:lnSpc>
                <a:spcPct val="110000"/>
              </a:lnSpc>
              <a:spcBef>
                <a:spcPts val="2500"/>
              </a:spcBef>
              <a:buFont typeface="Arial" panose="020B0604020202020204" pitchFamily="34" charset="0"/>
              <a:buNone/>
            </a:pPr>
            <a:r>
              <a:rPr lang="en-GB" sz="1200" b="1" dirty="0">
                <a:latin typeface="Arial" panose="020B0604020202020204" pitchFamily="34" charset="0"/>
                <a:cs typeface="Arial" panose="020B0604020202020204" pitchFamily="34" charset="0"/>
              </a:rPr>
              <a:t>Baseline Raw Schema</a:t>
            </a:r>
          </a:p>
          <a:p>
            <a:pPr marL="0" lvl="1" indent="0">
              <a:lnSpc>
                <a:spcPct val="110000"/>
              </a:lnSpc>
              <a:buFont typeface="Arial" panose="020B0604020202020204" pitchFamily="34" charset="0"/>
              <a:buNone/>
            </a:pPr>
            <a:r>
              <a:rPr lang="en-GB" sz="1200" dirty="0">
                <a:latin typeface="Arial" panose="020B0604020202020204" pitchFamily="34" charset="0"/>
                <a:cs typeface="Arial" panose="020B0604020202020204" pitchFamily="34" charset="0"/>
              </a:rPr>
              <a:t>The raw schema contains tables with TEXT columns limiting indexing and constraints.</a:t>
            </a:r>
          </a:p>
          <a:p>
            <a:pPr marL="0" indent="0">
              <a:lnSpc>
                <a:spcPct val="110000"/>
              </a:lnSpc>
              <a:spcBef>
                <a:spcPts val="2500"/>
              </a:spcBef>
              <a:buFont typeface="Arial" panose="020B0604020202020204" pitchFamily="34" charset="0"/>
              <a:buNone/>
            </a:pPr>
            <a:r>
              <a:rPr lang="en-GB" sz="1200" b="1" dirty="0">
                <a:latin typeface="Arial" panose="020B0604020202020204" pitchFamily="34" charset="0"/>
                <a:cs typeface="Arial" panose="020B0604020202020204" pitchFamily="34" charset="0"/>
              </a:rPr>
              <a:t>Missing Keys and Constraints</a:t>
            </a:r>
          </a:p>
          <a:p>
            <a:pPr marL="0" lvl="1" indent="0">
              <a:lnSpc>
                <a:spcPct val="110000"/>
              </a:lnSpc>
              <a:buFont typeface="Arial" panose="020B0604020202020204" pitchFamily="34" charset="0"/>
              <a:buNone/>
            </a:pPr>
            <a:r>
              <a:rPr lang="en-GB" sz="1200" dirty="0">
                <a:latin typeface="Arial" panose="020B0604020202020204" pitchFamily="34" charset="0"/>
                <a:cs typeface="Arial" panose="020B0604020202020204" pitchFamily="34" charset="0"/>
              </a:rPr>
              <a:t>No primary or foreign keys exist, preventing uniqueness and referential integrity enforcement.</a:t>
            </a:r>
          </a:p>
          <a:p>
            <a:pPr marL="0" indent="0">
              <a:lnSpc>
                <a:spcPct val="110000"/>
              </a:lnSpc>
              <a:spcBef>
                <a:spcPts val="2500"/>
              </a:spcBef>
              <a:buFont typeface="Arial" panose="020B0604020202020204" pitchFamily="34" charset="0"/>
              <a:buNone/>
            </a:pPr>
            <a:r>
              <a:rPr lang="en-GB" sz="1200" b="1" dirty="0">
                <a:latin typeface="Arial" panose="020B0604020202020204" pitchFamily="34" charset="0"/>
                <a:cs typeface="Arial" panose="020B0604020202020204" pitchFamily="34" charset="0"/>
              </a:rPr>
              <a:t>Data Quality Risks</a:t>
            </a:r>
          </a:p>
          <a:p>
            <a:pPr marL="0" lvl="1" indent="0">
              <a:lnSpc>
                <a:spcPct val="110000"/>
              </a:lnSpc>
              <a:buFont typeface="Arial" panose="020B0604020202020204" pitchFamily="34" charset="0"/>
              <a:buNone/>
            </a:pPr>
            <a:r>
              <a:rPr lang="en-GB" sz="1200" dirty="0">
                <a:latin typeface="Arial" panose="020B0604020202020204" pitchFamily="34" charset="0"/>
                <a:cs typeface="Arial" panose="020B0604020202020204" pitchFamily="34" charset="0"/>
              </a:rPr>
              <a:t>Lack of structure causes risks like duplicate records and orphaned rows affecting reliability.</a:t>
            </a:r>
          </a:p>
          <a:p>
            <a:pPr marL="0" indent="0">
              <a:lnSpc>
                <a:spcPct val="110000"/>
              </a:lnSpc>
              <a:spcBef>
                <a:spcPts val="2500"/>
              </a:spcBef>
              <a:buFont typeface="Arial" panose="020B0604020202020204" pitchFamily="34" charset="0"/>
              <a:buNone/>
            </a:pPr>
            <a:r>
              <a:rPr lang="en-GB" sz="1200" b="1" dirty="0">
                <a:latin typeface="Arial" panose="020B0604020202020204" pitchFamily="34" charset="0"/>
                <a:cs typeface="Arial" panose="020B0604020202020204" pitchFamily="34" charset="0"/>
              </a:rPr>
              <a:t>Need for Schema Improvement</a:t>
            </a:r>
          </a:p>
          <a:p>
            <a:pPr marL="0" lvl="1" indent="0">
              <a:lnSpc>
                <a:spcPct val="110000"/>
              </a:lnSpc>
              <a:buFont typeface="Arial" panose="020B0604020202020204" pitchFamily="34" charset="0"/>
              <a:buNone/>
            </a:pPr>
            <a:r>
              <a:rPr lang="en-GB" sz="1200" dirty="0">
                <a:latin typeface="Arial" panose="020B0604020202020204" pitchFamily="34" charset="0"/>
                <a:cs typeface="Arial" panose="020B0604020202020204" pitchFamily="34" charset="0"/>
              </a:rPr>
              <a:t>Applying enhancements is necessary to add constraints and standardise data types for consistency.</a:t>
            </a:r>
          </a:p>
        </p:txBody>
      </p:sp>
    </p:spTree>
    <p:extLst>
      <p:ext uri="{BB962C8B-B14F-4D97-AF65-F5344CB8AC3E}">
        <p14:creationId xmlns:p14="http://schemas.microsoft.com/office/powerpoint/2010/main" val="10789763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2" name="Group 11">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26"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7"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2"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3"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grpSp>
          <p:nvGrpSpPr>
            <p:cNvPr id="14" name="Group 13">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8"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grpSp>
      </p:grpSp>
      <p:sp>
        <p:nvSpPr>
          <p:cNvPr id="2" name="Title 1">
            <a:extLst>
              <a:ext uri="{FF2B5EF4-FFF2-40B4-BE49-F238E27FC236}">
                <a16:creationId xmlns:a16="http://schemas.microsoft.com/office/drawing/2014/main" id="{97FF4119-258F-2B47-5FC0-5EA353B06B8E}"/>
              </a:ext>
            </a:extLst>
          </p:cNvPr>
          <p:cNvSpPr>
            <a:spLocks noGrp="1"/>
          </p:cNvSpPr>
          <p:nvPr>
            <p:ph type="title"/>
          </p:nvPr>
        </p:nvSpPr>
        <p:spPr>
          <a:xfrm>
            <a:off x="1141412" y="618518"/>
            <a:ext cx="5894387" cy="1478570"/>
          </a:xfrm>
        </p:spPr>
        <p:txBody>
          <a:bodyPr vert="horz" lIns="91440" tIns="45720" rIns="91440" bIns="45720" rtlCol="0" anchor="b">
            <a:normAutofit/>
          </a:bodyPr>
          <a:lstStyle/>
          <a:p>
            <a:r>
              <a:rPr lang="en-US" dirty="0">
                <a:latin typeface="Arial" panose="020B0604020202020204" pitchFamily="34" charset="0"/>
                <a:cs typeface="Arial" panose="020B0604020202020204" pitchFamily="34" charset="0"/>
              </a:rPr>
              <a:t>SQL Script: Primary Keys</a:t>
            </a:r>
          </a:p>
        </p:txBody>
      </p:sp>
      <p:sp>
        <p:nvSpPr>
          <p:cNvPr id="4" name="Content Placeholder 3">
            <a:extLst>
              <a:ext uri="{FF2B5EF4-FFF2-40B4-BE49-F238E27FC236}">
                <a16:creationId xmlns:a16="http://schemas.microsoft.com/office/drawing/2014/main" id="{D0EE412E-1146-7AC9-F273-62CFAF549AA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41412" y="2249487"/>
            <a:ext cx="5894388" cy="3541714"/>
          </a:xfrm>
        </p:spPr>
        <p:txBody>
          <a:bodyPr>
            <a:noAutofit/>
          </a:bodyPr>
          <a:lstStyle/>
          <a:p>
            <a:pPr marL="0" indent="0">
              <a:lnSpc>
                <a:spcPct val="110000"/>
              </a:lnSpc>
              <a:spcBef>
                <a:spcPts val="2500"/>
              </a:spcBef>
              <a:buFont typeface="Arial" panose="020B0604020202020204" pitchFamily="34" charset="0"/>
              <a:buNone/>
            </a:pPr>
            <a:r>
              <a:rPr lang="en-GB" sz="1200" b="1" dirty="0">
                <a:latin typeface="Arial" panose="020B0604020202020204" pitchFamily="34" charset="0"/>
                <a:cs typeface="Arial" panose="020B0604020202020204" pitchFamily="34" charset="0"/>
              </a:rPr>
              <a:t>Definition of Primary Keys</a:t>
            </a:r>
          </a:p>
          <a:p>
            <a:pPr marL="0" lvl="1" indent="0">
              <a:lnSpc>
                <a:spcPct val="110000"/>
              </a:lnSpc>
              <a:buFont typeface="Arial" panose="020B0604020202020204" pitchFamily="34" charset="0"/>
              <a:buNone/>
            </a:pPr>
            <a:r>
              <a:rPr lang="en-GB" sz="1200" dirty="0">
                <a:latin typeface="Arial" panose="020B0604020202020204" pitchFamily="34" charset="0"/>
                <a:cs typeface="Arial" panose="020B0604020202020204" pitchFamily="34" charset="0"/>
              </a:rPr>
              <a:t>Primary keys uniquely identify each record and are essential for relational integrity in databases.</a:t>
            </a:r>
          </a:p>
          <a:p>
            <a:pPr marL="0" indent="0">
              <a:lnSpc>
                <a:spcPct val="110000"/>
              </a:lnSpc>
              <a:spcBef>
                <a:spcPts val="2500"/>
              </a:spcBef>
              <a:buFont typeface="Arial" panose="020B0604020202020204" pitchFamily="34" charset="0"/>
              <a:buNone/>
            </a:pPr>
            <a:r>
              <a:rPr lang="en-GB" sz="1200" b="1" dirty="0">
                <a:latin typeface="Arial" panose="020B0604020202020204" pitchFamily="34" charset="0"/>
                <a:cs typeface="Arial" panose="020B0604020202020204" pitchFamily="34" charset="0"/>
              </a:rPr>
              <a:t>Role in Data Relationships</a:t>
            </a:r>
          </a:p>
          <a:p>
            <a:pPr marL="0" lvl="1" indent="0">
              <a:lnSpc>
                <a:spcPct val="110000"/>
              </a:lnSpc>
              <a:buFont typeface="Arial" panose="020B0604020202020204" pitchFamily="34" charset="0"/>
              <a:buNone/>
            </a:pPr>
            <a:r>
              <a:rPr lang="en-GB" sz="1200" dirty="0">
                <a:latin typeface="Arial" panose="020B0604020202020204" pitchFamily="34" charset="0"/>
                <a:cs typeface="Arial" panose="020B0604020202020204" pitchFamily="34" charset="0"/>
              </a:rPr>
              <a:t>Primary keys enable foreign keys, allowing accurate joins and enforcing referential integrity.</a:t>
            </a:r>
          </a:p>
          <a:p>
            <a:pPr marL="0" indent="0">
              <a:lnSpc>
                <a:spcPct val="110000"/>
              </a:lnSpc>
              <a:spcBef>
                <a:spcPts val="2500"/>
              </a:spcBef>
              <a:buFont typeface="Arial" panose="020B0604020202020204" pitchFamily="34" charset="0"/>
              <a:buNone/>
            </a:pPr>
            <a:r>
              <a:rPr lang="en-GB" sz="1200" b="1" dirty="0">
                <a:latin typeface="Arial" panose="020B0604020202020204" pitchFamily="34" charset="0"/>
                <a:cs typeface="Arial" panose="020B0604020202020204" pitchFamily="34" charset="0"/>
              </a:rPr>
              <a:t>Performance Benefits</a:t>
            </a:r>
          </a:p>
          <a:p>
            <a:pPr marL="0" lvl="1" indent="0">
              <a:lnSpc>
                <a:spcPct val="110000"/>
              </a:lnSpc>
              <a:buFont typeface="Arial" panose="020B0604020202020204" pitchFamily="34" charset="0"/>
              <a:buNone/>
            </a:pPr>
            <a:r>
              <a:rPr lang="en-GB" sz="1200" dirty="0">
                <a:latin typeface="Arial" panose="020B0604020202020204" pitchFamily="34" charset="0"/>
                <a:cs typeface="Arial" panose="020B0604020202020204" pitchFamily="34" charset="0"/>
              </a:rPr>
              <a:t>Indexed primary keys improve query performance and data retrieval efficiency in relational databases.</a:t>
            </a:r>
          </a:p>
          <a:p>
            <a:pPr marL="0" indent="0">
              <a:lnSpc>
                <a:spcPct val="110000"/>
              </a:lnSpc>
              <a:spcBef>
                <a:spcPts val="2500"/>
              </a:spcBef>
              <a:buFont typeface="Arial" panose="020B0604020202020204" pitchFamily="34" charset="0"/>
              <a:buNone/>
            </a:pPr>
            <a:r>
              <a:rPr lang="en-GB" sz="1200" b="1" dirty="0">
                <a:latin typeface="Arial" panose="020B0604020202020204" pitchFamily="34" charset="0"/>
                <a:cs typeface="Arial" panose="020B0604020202020204" pitchFamily="34" charset="0"/>
              </a:rPr>
              <a:t>Foundation for Schema Design</a:t>
            </a:r>
          </a:p>
          <a:p>
            <a:pPr marL="0" lvl="1" indent="0">
              <a:lnSpc>
                <a:spcPct val="110000"/>
              </a:lnSpc>
              <a:buFont typeface="Arial" panose="020B0604020202020204" pitchFamily="34" charset="0"/>
              <a:buNone/>
            </a:pPr>
            <a:r>
              <a:rPr lang="en-GB" sz="1200" dirty="0">
                <a:latin typeface="Arial" panose="020B0604020202020204" pitchFamily="34" charset="0"/>
                <a:cs typeface="Arial" panose="020B0604020202020204" pitchFamily="34" charset="0"/>
              </a:rPr>
              <a:t>Creating primary keys before foreign keys ensures a robust and well-structured relational schema.</a:t>
            </a:r>
          </a:p>
        </p:txBody>
      </p:sp>
      <p:pic>
        <p:nvPicPr>
          <p:cNvPr id="5" name="Picture 4" descr="A screenshot of a computer program&#10;&#10;AI-generated content may be incorrect.">
            <a:extLst>
              <a:ext uri="{FF2B5EF4-FFF2-40B4-BE49-F238E27FC236}">
                <a16:creationId xmlns:a16="http://schemas.microsoft.com/office/drawing/2014/main" id="{C9BADE65-06EE-4716-A4E2-192A53EA7986}"/>
              </a:ext>
            </a:extLst>
          </p:cNvPr>
          <p:cNvPicPr>
            <a:picLocks noChangeAspect="1"/>
          </p:cNvPicPr>
          <p:nvPr/>
        </p:nvPicPr>
        <p:blipFill>
          <a:blip r:embed="rId5">
            <a:extLst>
              <a:ext uri="{28A0092B-C50C-407E-A947-70E740481C1C}">
                <a14:useLocalDpi xmlns:a14="http://schemas.microsoft.com/office/drawing/2010/main" val="0"/>
              </a:ext>
            </a:extLst>
          </a:blip>
          <a:srcRect r="10458" b="-5"/>
          <a:stretch>
            <a:fillRect/>
          </a:stretch>
        </p:blipFill>
        <p:spPr>
          <a:xfrm>
            <a:off x="7619998" y="780235"/>
            <a:ext cx="3425199" cy="484033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2601619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p:nvSpPr>
          <p:cNvPr id="53" name="Rectangle 52">
            <a:extLst>
              <a:ext uri="{FF2B5EF4-FFF2-40B4-BE49-F238E27FC236}">
                <a16:creationId xmlns:a16="http://schemas.microsoft.com/office/drawing/2014/main" id="{046B922C-5BA7-4973-B12F-71A509E4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96D34D8D-9EE9-4659-8C22-7551A95F96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56" name="Group 55">
              <a:extLst>
                <a:ext uri="{FF2B5EF4-FFF2-40B4-BE49-F238E27FC236}">
                  <a16:creationId xmlns:a16="http://schemas.microsoft.com/office/drawing/2014/main" id="{3CA93C16-1147-4EB3-B4E7-3C43102494D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68" name="Rectangle 5">
                <a:extLst>
                  <a:ext uri="{FF2B5EF4-FFF2-40B4-BE49-F238E27FC236}">
                    <a16:creationId xmlns:a16="http://schemas.microsoft.com/office/drawing/2014/main" id="{C4779968-92AF-4B85-8C27-EBBFE1D699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69" name="Freeform 6">
                <a:extLst>
                  <a:ext uri="{FF2B5EF4-FFF2-40B4-BE49-F238E27FC236}">
                    <a16:creationId xmlns:a16="http://schemas.microsoft.com/office/drawing/2014/main" id="{2C43E18D-7024-4F17-A664-E23BFBC12B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0" name="Freeform 7">
                <a:extLst>
                  <a:ext uri="{FF2B5EF4-FFF2-40B4-BE49-F238E27FC236}">
                    <a16:creationId xmlns:a16="http://schemas.microsoft.com/office/drawing/2014/main" id="{CA2ACEBA-081B-4B0B-AFB1-C596B834FD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1" name="Freeform 8">
                <a:extLst>
                  <a:ext uri="{FF2B5EF4-FFF2-40B4-BE49-F238E27FC236}">
                    <a16:creationId xmlns:a16="http://schemas.microsoft.com/office/drawing/2014/main" id="{2AFBB163-514B-493A-983F-8BE96848F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2" name="Freeform 9">
                <a:extLst>
                  <a:ext uri="{FF2B5EF4-FFF2-40B4-BE49-F238E27FC236}">
                    <a16:creationId xmlns:a16="http://schemas.microsoft.com/office/drawing/2014/main" id="{7720326C-7DB1-4745-9015-3FA6990855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3" name="Freeform 10">
                <a:extLst>
                  <a:ext uri="{FF2B5EF4-FFF2-40B4-BE49-F238E27FC236}">
                    <a16:creationId xmlns:a16="http://schemas.microsoft.com/office/drawing/2014/main" id="{01D5FBDC-A284-440B-8D5F-84287B0A2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4" name="Freeform 11">
                <a:extLst>
                  <a:ext uri="{FF2B5EF4-FFF2-40B4-BE49-F238E27FC236}">
                    <a16:creationId xmlns:a16="http://schemas.microsoft.com/office/drawing/2014/main" id="{517CE611-1CB0-442B-8998-98487209B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5" name="Freeform 12">
                <a:extLst>
                  <a:ext uri="{FF2B5EF4-FFF2-40B4-BE49-F238E27FC236}">
                    <a16:creationId xmlns:a16="http://schemas.microsoft.com/office/drawing/2014/main" id="{EF0F0E46-9222-4FCF-A79E-9B4953C6F0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6" name="Freeform 13">
                <a:extLst>
                  <a:ext uri="{FF2B5EF4-FFF2-40B4-BE49-F238E27FC236}">
                    <a16:creationId xmlns:a16="http://schemas.microsoft.com/office/drawing/2014/main" id="{371A87C3-0804-4AB9-8EAD-FBFF597ED82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7" name="Freeform 14">
                <a:extLst>
                  <a:ext uri="{FF2B5EF4-FFF2-40B4-BE49-F238E27FC236}">
                    <a16:creationId xmlns:a16="http://schemas.microsoft.com/office/drawing/2014/main" id="{89F39433-8BC3-48D6-B705-F951DBD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8" name="Freeform 15">
                <a:extLst>
                  <a:ext uri="{FF2B5EF4-FFF2-40B4-BE49-F238E27FC236}">
                    <a16:creationId xmlns:a16="http://schemas.microsoft.com/office/drawing/2014/main" id="{AE671C9D-E91C-4143-A422-273B2F53F6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9" name="Line 16">
                <a:extLst>
                  <a:ext uri="{FF2B5EF4-FFF2-40B4-BE49-F238E27FC236}">
                    <a16:creationId xmlns:a16="http://schemas.microsoft.com/office/drawing/2014/main" id="{83A72EA3-8833-41C6-9333-6A04C1C08DF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80" name="Freeform 17">
                <a:extLst>
                  <a:ext uri="{FF2B5EF4-FFF2-40B4-BE49-F238E27FC236}">
                    <a16:creationId xmlns:a16="http://schemas.microsoft.com/office/drawing/2014/main" id="{2C0D7AAB-DC9C-4B37-A50E-A7185DE92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1" name="Freeform 18">
                <a:extLst>
                  <a:ext uri="{FF2B5EF4-FFF2-40B4-BE49-F238E27FC236}">
                    <a16:creationId xmlns:a16="http://schemas.microsoft.com/office/drawing/2014/main" id="{6E7D9D6B-3455-4363-934B-FA2D6829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2" name="Freeform 19">
                <a:extLst>
                  <a:ext uri="{FF2B5EF4-FFF2-40B4-BE49-F238E27FC236}">
                    <a16:creationId xmlns:a16="http://schemas.microsoft.com/office/drawing/2014/main" id="{FFFFCA54-2217-4DAE-B791-4A6CA7DE0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3" name="Freeform 20">
                <a:extLst>
                  <a:ext uri="{FF2B5EF4-FFF2-40B4-BE49-F238E27FC236}">
                    <a16:creationId xmlns:a16="http://schemas.microsoft.com/office/drawing/2014/main" id="{BAE43BA5-C104-4FBB-B1C6-C210D3CC53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4" name="Rectangle 21">
                <a:extLst>
                  <a:ext uri="{FF2B5EF4-FFF2-40B4-BE49-F238E27FC236}">
                    <a16:creationId xmlns:a16="http://schemas.microsoft.com/office/drawing/2014/main" id="{3BDB2330-DF01-460D-83FB-00C37965CD5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85" name="Freeform 22">
                <a:extLst>
                  <a:ext uri="{FF2B5EF4-FFF2-40B4-BE49-F238E27FC236}">
                    <a16:creationId xmlns:a16="http://schemas.microsoft.com/office/drawing/2014/main" id="{51261093-9B7F-4406-B2F8-0F5BE7676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6" name="Freeform 23">
                <a:extLst>
                  <a:ext uri="{FF2B5EF4-FFF2-40B4-BE49-F238E27FC236}">
                    <a16:creationId xmlns:a16="http://schemas.microsoft.com/office/drawing/2014/main" id="{9971E195-2AB6-4CB6-9BD7-A8407B5C80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7" name="Freeform 24">
                <a:extLst>
                  <a:ext uri="{FF2B5EF4-FFF2-40B4-BE49-F238E27FC236}">
                    <a16:creationId xmlns:a16="http://schemas.microsoft.com/office/drawing/2014/main" id="{A3D843E7-8A86-4676-9C98-DECE0DFF6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8" name="Freeform 25">
                <a:extLst>
                  <a:ext uri="{FF2B5EF4-FFF2-40B4-BE49-F238E27FC236}">
                    <a16:creationId xmlns:a16="http://schemas.microsoft.com/office/drawing/2014/main" id="{FAF42817-AB3E-40FA-997F-EAC1411F46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9" name="Freeform 26">
                <a:extLst>
                  <a:ext uri="{FF2B5EF4-FFF2-40B4-BE49-F238E27FC236}">
                    <a16:creationId xmlns:a16="http://schemas.microsoft.com/office/drawing/2014/main" id="{50ED3298-A6DC-4825-93B1-68DB8CB62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0" name="Freeform 27">
                <a:extLst>
                  <a:ext uri="{FF2B5EF4-FFF2-40B4-BE49-F238E27FC236}">
                    <a16:creationId xmlns:a16="http://schemas.microsoft.com/office/drawing/2014/main" id="{2B951778-3B6B-4BB9-9D89-2ED650C820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1" name="Freeform 28">
                <a:extLst>
                  <a:ext uri="{FF2B5EF4-FFF2-40B4-BE49-F238E27FC236}">
                    <a16:creationId xmlns:a16="http://schemas.microsoft.com/office/drawing/2014/main" id="{8F3ED9A8-A83F-463A-8C2E-E83977D9A9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2" name="Freeform 29">
                <a:extLst>
                  <a:ext uri="{FF2B5EF4-FFF2-40B4-BE49-F238E27FC236}">
                    <a16:creationId xmlns:a16="http://schemas.microsoft.com/office/drawing/2014/main" id="{9A0C113E-781D-4083-86C0-EC936092D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3" name="Freeform 30">
                <a:extLst>
                  <a:ext uri="{FF2B5EF4-FFF2-40B4-BE49-F238E27FC236}">
                    <a16:creationId xmlns:a16="http://schemas.microsoft.com/office/drawing/2014/main" id="{B63D60EF-1E99-4D4C-BF11-AAF8ABEB86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4" name="Freeform 31">
                <a:extLst>
                  <a:ext uri="{FF2B5EF4-FFF2-40B4-BE49-F238E27FC236}">
                    <a16:creationId xmlns:a16="http://schemas.microsoft.com/office/drawing/2014/main" id="{50403E41-7079-49EA-8D0B-4F678552D9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57" name="Group 56">
              <a:extLst>
                <a:ext uri="{FF2B5EF4-FFF2-40B4-BE49-F238E27FC236}">
                  <a16:creationId xmlns:a16="http://schemas.microsoft.com/office/drawing/2014/main" id="{E3B2C458-4D37-49A0-A94E-D516E05C3CC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58" name="Freeform 32">
                <a:extLst>
                  <a:ext uri="{FF2B5EF4-FFF2-40B4-BE49-F238E27FC236}">
                    <a16:creationId xmlns:a16="http://schemas.microsoft.com/office/drawing/2014/main" id="{C1B10016-E0C4-4526-A466-9911541D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9" name="Freeform 33">
                <a:extLst>
                  <a:ext uri="{FF2B5EF4-FFF2-40B4-BE49-F238E27FC236}">
                    <a16:creationId xmlns:a16="http://schemas.microsoft.com/office/drawing/2014/main" id="{D574C3F0-FC2B-43A3-94B2-75D305FBF7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0" name="Freeform 34">
                <a:extLst>
                  <a:ext uri="{FF2B5EF4-FFF2-40B4-BE49-F238E27FC236}">
                    <a16:creationId xmlns:a16="http://schemas.microsoft.com/office/drawing/2014/main" id="{D92A5F66-F404-433B-BDBE-5E0DFF40D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1" name="Freeform 35">
                <a:extLst>
                  <a:ext uri="{FF2B5EF4-FFF2-40B4-BE49-F238E27FC236}">
                    <a16:creationId xmlns:a16="http://schemas.microsoft.com/office/drawing/2014/main" id="{0A0BDF81-64CC-431D-81B1-A21938C0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2" name="Freeform 36">
                <a:extLst>
                  <a:ext uri="{FF2B5EF4-FFF2-40B4-BE49-F238E27FC236}">
                    <a16:creationId xmlns:a16="http://schemas.microsoft.com/office/drawing/2014/main" id="{42871530-50EC-42C2-879A-AE8154DADC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3" name="Freeform 37">
                <a:extLst>
                  <a:ext uri="{FF2B5EF4-FFF2-40B4-BE49-F238E27FC236}">
                    <a16:creationId xmlns:a16="http://schemas.microsoft.com/office/drawing/2014/main" id="{53AF2F2A-B148-4906-B90D-6E2223978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4" name="Freeform 38">
                <a:extLst>
                  <a:ext uri="{FF2B5EF4-FFF2-40B4-BE49-F238E27FC236}">
                    <a16:creationId xmlns:a16="http://schemas.microsoft.com/office/drawing/2014/main" id="{9A79EAA4-6F5D-4A2C-B688-CD29C2217C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5" name="Freeform 39">
                <a:extLst>
                  <a:ext uri="{FF2B5EF4-FFF2-40B4-BE49-F238E27FC236}">
                    <a16:creationId xmlns:a16="http://schemas.microsoft.com/office/drawing/2014/main" id="{B9CE5833-22CF-4408-9338-4B7749FEA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6" name="Freeform 40">
                <a:extLst>
                  <a:ext uri="{FF2B5EF4-FFF2-40B4-BE49-F238E27FC236}">
                    <a16:creationId xmlns:a16="http://schemas.microsoft.com/office/drawing/2014/main" id="{316A985A-7ADD-4BEE-A7B6-E5B49E1839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7" name="Rectangle 41">
                <a:extLst>
                  <a:ext uri="{FF2B5EF4-FFF2-40B4-BE49-F238E27FC236}">
                    <a16:creationId xmlns:a16="http://schemas.microsoft.com/office/drawing/2014/main" id="{352CFA3F-5CFE-412E-9196-C966F34579D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pic>
        <p:nvPicPr>
          <p:cNvPr id="96" name="Picture 2">
            <a:extLst>
              <a:ext uri="{FF2B5EF4-FFF2-40B4-BE49-F238E27FC236}">
                <a16:creationId xmlns:a16="http://schemas.microsoft.com/office/drawing/2014/main" id="{2FB01CCF-839B-4126-9BF9-132C64D8A1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AD06567-6409-E66E-D0FB-F35E290BF05D}"/>
              </a:ext>
            </a:extLst>
          </p:cNvPr>
          <p:cNvSpPr>
            <a:spLocks noGrp="1"/>
          </p:cNvSpPr>
          <p:nvPr>
            <p:ph type="title"/>
          </p:nvPr>
        </p:nvSpPr>
        <p:spPr>
          <a:xfrm>
            <a:off x="5128643" y="618518"/>
            <a:ext cx="6188402" cy="1478570"/>
          </a:xfrm>
        </p:spPr>
        <p:txBody>
          <a:bodyPr vert="horz" lIns="91440" tIns="45720" rIns="91440" bIns="45720" rtlCol="0" anchor="ctr">
            <a:normAutofit/>
          </a:bodyPr>
          <a:lstStyle/>
          <a:p>
            <a:r>
              <a:rPr lang="en-US">
                <a:solidFill>
                  <a:srgbClr val="FFFFFF"/>
                </a:solidFill>
              </a:rPr>
              <a:t>Schema Progress After PKs</a:t>
            </a:r>
          </a:p>
        </p:txBody>
      </p:sp>
      <p:sp useBgFill="1">
        <p:nvSpPr>
          <p:cNvPr id="98" name="Round Diagonal Corner Rectangle 6">
            <a:extLst>
              <a:ext uri="{FF2B5EF4-FFF2-40B4-BE49-F238E27FC236}">
                <a16:creationId xmlns:a16="http://schemas.microsoft.com/office/drawing/2014/main" id="{F2B1468C-8227-4785-8776-7BDBDDF0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medical application&#10;&#10;AI-generated content may be incorrect.">
            <a:extLst>
              <a:ext uri="{FF2B5EF4-FFF2-40B4-BE49-F238E27FC236}">
                <a16:creationId xmlns:a16="http://schemas.microsoft.com/office/drawing/2014/main" id="{1C0C93CB-F619-5B14-7952-2201C5495B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576" y="1350912"/>
            <a:ext cx="3821431" cy="3785378"/>
          </a:xfrm>
          <a:prstGeom prst="rect">
            <a:avLst/>
          </a:prstGeom>
        </p:spPr>
      </p:pic>
      <p:sp>
        <p:nvSpPr>
          <p:cNvPr id="4" name="Content Placeholder 3">
            <a:extLst>
              <a:ext uri="{FF2B5EF4-FFF2-40B4-BE49-F238E27FC236}">
                <a16:creationId xmlns:a16="http://schemas.microsoft.com/office/drawing/2014/main" id="{9B735ADB-FA7D-6F53-15C5-B87196224B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8643" y="2249487"/>
            <a:ext cx="6188402" cy="3541714"/>
          </a:xfrm>
        </p:spPr>
        <p:txBody>
          <a:bodyPr>
            <a:normAutofit/>
          </a:bodyPr>
          <a:lstStyle/>
          <a:p>
            <a:pPr marL="0" indent="0">
              <a:spcBef>
                <a:spcPts val="2500"/>
              </a:spcBef>
              <a:buFont typeface="Arial" panose="020B0604020202020204" pitchFamily="34" charset="0"/>
              <a:buNone/>
            </a:pPr>
            <a:r>
              <a:rPr lang="en-US" sz="1400" b="1">
                <a:solidFill>
                  <a:srgbClr val="FFFFFF"/>
                </a:solidFill>
                <a:latin typeface="Arial" panose="020B0604020202020204" pitchFamily="34" charset="0"/>
                <a:cs typeface="Arial" panose="020B0604020202020204" pitchFamily="34" charset="0"/>
              </a:rPr>
              <a:t>Primary Key Assignment</a:t>
            </a:r>
          </a:p>
          <a:p>
            <a:pPr marL="0" lvl="1" indent="0">
              <a:buFont typeface="Arial" panose="020B0604020202020204" pitchFamily="34" charset="0"/>
              <a:buNone/>
            </a:pPr>
            <a:r>
              <a:rPr lang="en-US">
                <a:solidFill>
                  <a:srgbClr val="FFFFFF"/>
                </a:solidFill>
                <a:latin typeface="Arial" panose="020B0604020202020204" pitchFamily="34" charset="0"/>
                <a:cs typeface="Arial" panose="020B0604020202020204" pitchFamily="34" charset="0"/>
              </a:rPr>
              <a:t>Assigning primary keys structures the schema and reduces duplicate records, enhancing database reliability.</a:t>
            </a:r>
          </a:p>
          <a:p>
            <a:pPr marL="0" indent="0">
              <a:spcBef>
                <a:spcPts val="2500"/>
              </a:spcBef>
              <a:buFont typeface="Arial" panose="020B0604020202020204" pitchFamily="34" charset="0"/>
              <a:buNone/>
            </a:pPr>
            <a:r>
              <a:rPr lang="en-US" sz="1400" b="1">
                <a:solidFill>
                  <a:srgbClr val="FFFFFF"/>
                </a:solidFill>
                <a:latin typeface="Arial" panose="020B0604020202020204" pitchFamily="34" charset="0"/>
                <a:cs typeface="Arial" panose="020B0604020202020204" pitchFamily="34" charset="0"/>
              </a:rPr>
              <a:t>Logical Table Linking</a:t>
            </a:r>
          </a:p>
          <a:p>
            <a:pPr marL="0" lvl="1" indent="0">
              <a:buFont typeface="Arial" panose="020B0604020202020204" pitchFamily="34" charset="0"/>
              <a:buNone/>
            </a:pPr>
            <a:r>
              <a:rPr lang="en-US">
                <a:solidFill>
                  <a:srgbClr val="FFFFFF"/>
                </a:solidFill>
                <a:latin typeface="Arial" panose="020B0604020202020204" pitchFamily="34" charset="0"/>
                <a:cs typeface="Arial" panose="020B0604020202020204" pitchFamily="34" charset="0"/>
              </a:rPr>
              <a:t>Primary keys enable logical linking of tables reflecting real-world relationships like patients, doctors, and appointments.</a:t>
            </a:r>
          </a:p>
          <a:p>
            <a:pPr marL="0" indent="0">
              <a:spcBef>
                <a:spcPts val="2500"/>
              </a:spcBef>
              <a:buFont typeface="Arial" panose="020B0604020202020204" pitchFamily="34" charset="0"/>
              <a:buNone/>
            </a:pPr>
            <a:r>
              <a:rPr lang="en-US" sz="1400" b="1">
                <a:solidFill>
                  <a:srgbClr val="FFFFFF"/>
                </a:solidFill>
                <a:latin typeface="Arial" panose="020B0604020202020204" pitchFamily="34" charset="0"/>
                <a:cs typeface="Arial" panose="020B0604020202020204" pitchFamily="34" charset="0"/>
              </a:rPr>
              <a:t>Improved Data Integrity</a:t>
            </a:r>
          </a:p>
          <a:p>
            <a:pPr marL="0" lvl="1" indent="0">
              <a:buFont typeface="Arial" panose="020B0604020202020204" pitchFamily="34" charset="0"/>
              <a:buNone/>
            </a:pPr>
            <a:r>
              <a:rPr lang="en-US">
                <a:solidFill>
                  <a:srgbClr val="FFFFFF"/>
                </a:solidFill>
                <a:latin typeface="Arial" panose="020B0604020202020204" pitchFamily="34" charset="0"/>
                <a:cs typeface="Arial" panose="020B0604020202020204" pitchFamily="34" charset="0"/>
              </a:rPr>
              <a:t>Structural improvements from primary keys prepare the schema for referential constraints and stronger data integrity.</a:t>
            </a:r>
          </a:p>
        </p:txBody>
      </p:sp>
    </p:spTree>
    <p:extLst>
      <p:ext uri="{BB962C8B-B14F-4D97-AF65-F5344CB8AC3E}">
        <p14:creationId xmlns:p14="http://schemas.microsoft.com/office/powerpoint/2010/main" val="354023374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3F589-05FA-36FF-30B5-8E784FA530E9}"/>
              </a:ext>
            </a:extLst>
          </p:cNvPr>
          <p:cNvSpPr>
            <a:spLocks noGrp="1"/>
          </p:cNvSpPr>
          <p:nvPr>
            <p:ph type="title"/>
          </p:nvPr>
        </p:nvSpPr>
        <p:spPr/>
        <p:txBody>
          <a:bodyPr anchor="b">
            <a:normAutofit/>
          </a:bodyPr>
          <a:lstStyle/>
          <a:p>
            <a:r>
              <a:rPr lang="en-US" dirty="0"/>
              <a:t>Data </a:t>
            </a:r>
            <a:r>
              <a:rPr lang="en-GB" dirty="0"/>
              <a:t>Standardisation</a:t>
            </a:r>
            <a:r>
              <a:rPr lang="en-US" dirty="0"/>
              <a:t> &amp; Cleaning</a:t>
            </a:r>
          </a:p>
        </p:txBody>
      </p:sp>
    </p:spTree>
    <p:extLst>
      <p:ext uri="{BB962C8B-B14F-4D97-AF65-F5344CB8AC3E}">
        <p14:creationId xmlns:p14="http://schemas.microsoft.com/office/powerpoint/2010/main" val="14762296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useBgFill="1">
        <p:nvSpPr>
          <p:cNvPr id="53" name="Rectangle 52">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57" name="Rectangle 56">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9"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1E93F2C-A955-0DC2-EFBC-BFFDAA81B2F4}"/>
              </a:ext>
            </a:extLst>
          </p:cNvPr>
          <p:cNvSpPr>
            <a:spLocks noGrp="1"/>
          </p:cNvSpPr>
          <p:nvPr>
            <p:ph type="title"/>
          </p:nvPr>
        </p:nvSpPr>
        <p:spPr>
          <a:xfrm>
            <a:off x="855266" y="618518"/>
            <a:ext cx="2851417" cy="1478570"/>
          </a:xfrm>
        </p:spPr>
        <p:txBody>
          <a:bodyPr vert="horz" lIns="91440" tIns="45720" rIns="91440" bIns="45720" rtlCol="0" anchor="ctr">
            <a:normAutofit/>
          </a:bodyPr>
          <a:lstStyle/>
          <a:p>
            <a:r>
              <a:rPr lang="en-US" sz="3200">
                <a:solidFill>
                  <a:srgbClr val="FFFFFF"/>
                </a:solidFill>
              </a:rPr>
              <a:t>Data Typing &amp; Foreign Keys</a:t>
            </a:r>
          </a:p>
        </p:txBody>
      </p:sp>
      <p:sp>
        <p:nvSpPr>
          <p:cNvPr id="4" name="Content Placeholder 3">
            <a:extLst>
              <a:ext uri="{FF2B5EF4-FFF2-40B4-BE49-F238E27FC236}">
                <a16:creationId xmlns:a16="http://schemas.microsoft.com/office/drawing/2014/main" id="{7BD5B99E-10A2-8137-6D8D-DDEEE7F7115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44620" y="2249487"/>
            <a:ext cx="2862444" cy="3957302"/>
          </a:xfrm>
        </p:spPr>
        <p:txBody>
          <a:bodyPr>
            <a:normAutofit/>
          </a:bodyPr>
          <a:lstStyle/>
          <a:p>
            <a:pPr marL="0" indent="0">
              <a:lnSpc>
                <a:spcPct val="110000"/>
              </a:lnSpc>
              <a:spcBef>
                <a:spcPts val="2500"/>
              </a:spcBef>
              <a:buFont typeface="Arial" panose="020B0604020202020204" pitchFamily="34" charset="0"/>
              <a:buNone/>
            </a:pPr>
            <a:r>
              <a:rPr lang="en-GB" sz="1300" b="1">
                <a:solidFill>
                  <a:srgbClr val="FFFFFF"/>
                </a:solidFill>
                <a:latin typeface="Arial" panose="020B0604020202020204" pitchFamily="34" charset="0"/>
                <a:cs typeface="Arial" panose="020B0604020202020204" pitchFamily="34" charset="0"/>
              </a:rPr>
              <a:t>Standardising</a:t>
            </a:r>
            <a:r>
              <a:rPr lang="en-US" sz="1300" b="1">
                <a:solidFill>
                  <a:srgbClr val="FFFFFF"/>
                </a:solidFill>
                <a:latin typeface="Arial" panose="020B0604020202020204" pitchFamily="34" charset="0"/>
                <a:cs typeface="Arial" panose="020B0604020202020204" pitchFamily="34" charset="0"/>
              </a:rPr>
              <a:t> Data Types</a:t>
            </a:r>
          </a:p>
          <a:p>
            <a:pPr marL="0" lvl="1" indent="0">
              <a:lnSpc>
                <a:spcPct val="110000"/>
              </a:lnSpc>
              <a:buFont typeface="Arial" panose="020B0604020202020204" pitchFamily="34" charset="0"/>
              <a:buNone/>
            </a:pPr>
            <a:r>
              <a:rPr lang="en-US" sz="1300">
                <a:solidFill>
                  <a:srgbClr val="FFFFFF"/>
                </a:solidFill>
                <a:latin typeface="Arial" panose="020B0604020202020204" pitchFamily="34" charset="0"/>
                <a:cs typeface="Arial" panose="020B0604020202020204" pitchFamily="34" charset="0"/>
              </a:rPr>
              <a:t>Converting ID columns from TEXT to VARCHAR(50) ensures type compatibility for relational integrity.</a:t>
            </a:r>
          </a:p>
          <a:p>
            <a:pPr marL="0" indent="0">
              <a:lnSpc>
                <a:spcPct val="110000"/>
              </a:lnSpc>
              <a:spcBef>
                <a:spcPts val="2500"/>
              </a:spcBef>
              <a:buFont typeface="Arial" panose="020B0604020202020204" pitchFamily="34" charset="0"/>
              <a:buNone/>
            </a:pPr>
            <a:r>
              <a:rPr lang="en-US" sz="1300" b="1">
                <a:solidFill>
                  <a:srgbClr val="FFFFFF"/>
                </a:solidFill>
                <a:latin typeface="Arial" panose="020B0604020202020204" pitchFamily="34" charset="0"/>
                <a:cs typeface="Arial" panose="020B0604020202020204" pitchFamily="34" charset="0"/>
              </a:rPr>
              <a:t>Establishing Foreign Keys</a:t>
            </a:r>
          </a:p>
          <a:p>
            <a:pPr marL="0" lvl="1" indent="0">
              <a:lnSpc>
                <a:spcPct val="110000"/>
              </a:lnSpc>
              <a:buFont typeface="Arial" panose="020B0604020202020204" pitchFamily="34" charset="0"/>
              <a:buNone/>
            </a:pPr>
            <a:r>
              <a:rPr lang="en-US" sz="1300">
                <a:solidFill>
                  <a:srgbClr val="FFFFFF"/>
                </a:solidFill>
                <a:latin typeface="Arial" panose="020B0604020202020204" pitchFamily="34" charset="0"/>
                <a:cs typeface="Arial" panose="020B0604020202020204" pitchFamily="34" charset="0"/>
              </a:rPr>
              <a:t>Foreign key constraints link related tables, such as appointments to patients and doctors, ensuring data consistency.</a:t>
            </a:r>
          </a:p>
          <a:p>
            <a:pPr marL="0" indent="0">
              <a:lnSpc>
                <a:spcPct val="110000"/>
              </a:lnSpc>
              <a:spcBef>
                <a:spcPts val="2500"/>
              </a:spcBef>
              <a:buFont typeface="Arial" panose="020B0604020202020204" pitchFamily="34" charset="0"/>
              <a:buNone/>
            </a:pPr>
            <a:r>
              <a:rPr lang="en-US" sz="1300" b="1">
                <a:solidFill>
                  <a:srgbClr val="FFFFFF"/>
                </a:solidFill>
                <a:latin typeface="Arial" panose="020B0604020202020204" pitchFamily="34" charset="0"/>
                <a:cs typeface="Arial" panose="020B0604020202020204" pitchFamily="34" charset="0"/>
              </a:rPr>
              <a:t>Maintaining Data Integrity</a:t>
            </a:r>
          </a:p>
          <a:p>
            <a:pPr marL="0" lvl="1" indent="0">
              <a:lnSpc>
                <a:spcPct val="110000"/>
              </a:lnSpc>
              <a:buFont typeface="Arial" panose="020B0604020202020204" pitchFamily="34" charset="0"/>
              <a:buNone/>
            </a:pPr>
            <a:r>
              <a:rPr lang="en-US" sz="1300">
                <a:solidFill>
                  <a:srgbClr val="FFFFFF"/>
                </a:solidFill>
                <a:latin typeface="Arial" panose="020B0604020202020204" pitchFamily="34" charset="0"/>
                <a:cs typeface="Arial" panose="020B0604020202020204" pitchFamily="34" charset="0"/>
              </a:rPr>
              <a:t>Constraints prevent orphan records and enable automatic validation during data insert and update operations.</a:t>
            </a:r>
          </a:p>
        </p:txBody>
      </p:sp>
      <p:grpSp>
        <p:nvGrpSpPr>
          <p:cNvPr id="61" name="Group 60">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62"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63"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4"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5"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6"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7"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8"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9"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0"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1"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2"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3"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74"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5"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6"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7"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8"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79"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0"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1"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2"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3"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4"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5"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6"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7"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8"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pic>
        <p:nvPicPr>
          <p:cNvPr id="5" name="Picture 4" descr="A screenshot of a computer program&#10;&#10;AI-generated content may be incorrect.">
            <a:extLst>
              <a:ext uri="{FF2B5EF4-FFF2-40B4-BE49-F238E27FC236}">
                <a16:creationId xmlns:a16="http://schemas.microsoft.com/office/drawing/2014/main" id="{D7746265-ED82-F187-3417-ADBD83FF2E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1778" y="909225"/>
            <a:ext cx="6844045" cy="5035046"/>
          </a:xfrm>
          <a:prstGeom prst="rect">
            <a:avLst/>
          </a:prstGeom>
        </p:spPr>
      </p:pic>
    </p:spTree>
    <p:extLst>
      <p:ext uri="{BB962C8B-B14F-4D97-AF65-F5344CB8AC3E}">
        <p14:creationId xmlns:p14="http://schemas.microsoft.com/office/powerpoint/2010/main" val="374018987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5" name="Group 14">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7"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8"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9"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4"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2"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3"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6" name="Group 15">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7"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useBgFill="1">
        <p:nvSpPr>
          <p:cNvPr id="55" name="Rectangle 54">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59" name="Rectangle 58">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61"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48C243A-C621-92D8-5867-8320022B00C1}"/>
              </a:ext>
            </a:extLst>
          </p:cNvPr>
          <p:cNvSpPr>
            <a:spLocks noGrp="1"/>
          </p:cNvSpPr>
          <p:nvPr>
            <p:ph type="title"/>
          </p:nvPr>
        </p:nvSpPr>
        <p:spPr>
          <a:xfrm>
            <a:off x="855266" y="618518"/>
            <a:ext cx="2851417" cy="1478570"/>
          </a:xfrm>
        </p:spPr>
        <p:txBody>
          <a:bodyPr vert="horz" lIns="91440" tIns="45720" rIns="91440" bIns="45720" rtlCol="0" anchor="ctr">
            <a:normAutofit/>
          </a:bodyPr>
          <a:lstStyle/>
          <a:p>
            <a:r>
              <a:rPr lang="en-US" sz="3200">
                <a:solidFill>
                  <a:srgbClr val="FFFFFF"/>
                </a:solidFill>
              </a:rPr>
              <a:t>Final ERD Diagram</a:t>
            </a:r>
          </a:p>
        </p:txBody>
      </p:sp>
      <p:sp>
        <p:nvSpPr>
          <p:cNvPr id="4" name="Content Placeholder 3">
            <a:extLst>
              <a:ext uri="{FF2B5EF4-FFF2-40B4-BE49-F238E27FC236}">
                <a16:creationId xmlns:a16="http://schemas.microsoft.com/office/drawing/2014/main" id="{24E2E4F7-C2F3-36ED-D10A-DCDAF0FA2E1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44620" y="2249487"/>
            <a:ext cx="2862444" cy="3957302"/>
          </a:xfrm>
        </p:spPr>
        <p:txBody>
          <a:bodyPr>
            <a:normAutofit/>
          </a:bodyPr>
          <a:lstStyle/>
          <a:p>
            <a:pPr marL="0" indent="0">
              <a:lnSpc>
                <a:spcPct val="110000"/>
              </a:lnSpc>
              <a:spcBef>
                <a:spcPts val="2500"/>
              </a:spcBef>
              <a:buFont typeface="Arial" panose="020B0604020202020204" pitchFamily="34" charset="0"/>
              <a:buNone/>
            </a:pPr>
            <a:r>
              <a:rPr lang="en-US" sz="1200" b="1" dirty="0">
                <a:solidFill>
                  <a:srgbClr val="FFFFFF"/>
                </a:solidFill>
                <a:latin typeface="Arial" panose="020B0604020202020204" pitchFamily="34" charset="0"/>
                <a:cs typeface="Arial" panose="020B0604020202020204" pitchFamily="34" charset="0"/>
              </a:rPr>
              <a:t>Relational Schema Representation</a:t>
            </a:r>
          </a:p>
          <a:p>
            <a:pPr marL="0" lvl="1" indent="0">
              <a:lnSpc>
                <a:spcPct val="110000"/>
              </a:lnSpc>
              <a:buFont typeface="Arial" panose="020B0604020202020204" pitchFamily="34" charset="0"/>
              <a:buNone/>
            </a:pPr>
            <a:r>
              <a:rPr lang="en-US" sz="1200" dirty="0">
                <a:solidFill>
                  <a:srgbClr val="FFFFFF"/>
                </a:solidFill>
                <a:latin typeface="Arial" panose="020B0604020202020204" pitchFamily="34" charset="0"/>
                <a:cs typeface="Arial" panose="020B0604020202020204" pitchFamily="34" charset="0"/>
              </a:rPr>
              <a:t>The Entity Relationship Diagram visually illustrates interconnected tables via primary and foreign keys modeling hospital workflows.</a:t>
            </a:r>
          </a:p>
          <a:p>
            <a:pPr marL="0" indent="0">
              <a:lnSpc>
                <a:spcPct val="110000"/>
              </a:lnSpc>
              <a:spcBef>
                <a:spcPts val="2500"/>
              </a:spcBef>
              <a:buFont typeface="Arial" panose="020B0604020202020204" pitchFamily="34" charset="0"/>
              <a:buNone/>
            </a:pPr>
            <a:r>
              <a:rPr lang="en-US" sz="1200" b="1" dirty="0">
                <a:solidFill>
                  <a:srgbClr val="FFFFFF"/>
                </a:solidFill>
                <a:latin typeface="Arial" panose="020B0604020202020204" pitchFamily="34" charset="0"/>
                <a:cs typeface="Arial" panose="020B0604020202020204" pitchFamily="34" charset="0"/>
              </a:rPr>
              <a:t>Workflow Integration</a:t>
            </a:r>
          </a:p>
          <a:p>
            <a:pPr marL="0" lvl="1" indent="0">
              <a:lnSpc>
                <a:spcPct val="110000"/>
              </a:lnSpc>
              <a:buFont typeface="Arial" panose="020B0604020202020204" pitchFamily="34" charset="0"/>
              <a:buNone/>
            </a:pPr>
            <a:r>
              <a:rPr lang="en-US" sz="1200" dirty="0">
                <a:solidFill>
                  <a:srgbClr val="FFFFFF"/>
                </a:solidFill>
                <a:latin typeface="Arial" panose="020B0604020202020204" pitchFamily="34" charset="0"/>
                <a:cs typeface="Arial" panose="020B0604020202020204" pitchFamily="34" charset="0"/>
              </a:rPr>
              <a:t>Patients, doctors, appointments, treatments, and billing entities are logically connected representing real hospital processes.</a:t>
            </a:r>
          </a:p>
          <a:p>
            <a:pPr marL="0" indent="0">
              <a:lnSpc>
                <a:spcPct val="110000"/>
              </a:lnSpc>
              <a:spcBef>
                <a:spcPts val="2500"/>
              </a:spcBef>
              <a:buFont typeface="Arial" panose="020B0604020202020204" pitchFamily="34" charset="0"/>
              <a:buNone/>
            </a:pPr>
            <a:r>
              <a:rPr lang="en-US" sz="1200" b="1" dirty="0">
                <a:solidFill>
                  <a:srgbClr val="FFFFFF"/>
                </a:solidFill>
                <a:latin typeface="Arial" panose="020B0604020202020204" pitchFamily="34" charset="0"/>
                <a:cs typeface="Arial" panose="020B0604020202020204" pitchFamily="34" charset="0"/>
              </a:rPr>
              <a:t>Database Robustness and Analytics</a:t>
            </a:r>
          </a:p>
          <a:p>
            <a:pPr marL="0" lvl="1" indent="0">
              <a:lnSpc>
                <a:spcPct val="110000"/>
              </a:lnSpc>
              <a:buFont typeface="Arial" panose="020B0604020202020204" pitchFamily="34" charset="0"/>
              <a:buNone/>
            </a:pPr>
            <a:r>
              <a:rPr lang="en-US" sz="1200" dirty="0">
                <a:solidFill>
                  <a:srgbClr val="FFFFFF"/>
                </a:solidFill>
                <a:latin typeface="Arial" panose="020B0604020202020204" pitchFamily="34" charset="0"/>
                <a:cs typeface="Arial" panose="020B0604020202020204" pitchFamily="34" charset="0"/>
              </a:rPr>
              <a:t>The structured schema supports reliable joins, accurate reports, and advanced analytics for clinical and financial insights.</a:t>
            </a:r>
          </a:p>
        </p:txBody>
      </p:sp>
      <p:grpSp>
        <p:nvGrpSpPr>
          <p:cNvPr id="63" name="Group 62">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64"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65"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6"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7"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8"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9"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0"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1"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2"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3"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4"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5"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76"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7"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8"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9"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0"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81"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2"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3"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4"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5"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6"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7"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8"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9"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0"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pic>
        <p:nvPicPr>
          <p:cNvPr id="7" name="Picture 6" descr="A screenshot of a computer&#10;&#10;AI-generated content may be incorrect.">
            <a:extLst>
              <a:ext uri="{FF2B5EF4-FFF2-40B4-BE49-F238E27FC236}">
                <a16:creationId xmlns:a16="http://schemas.microsoft.com/office/drawing/2014/main" id="{09C6EEE8-00DD-41E2-DD4A-9C04075F73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3245" y="776"/>
            <a:ext cx="7977675" cy="6781024"/>
          </a:xfrm>
          <a:prstGeom prst="rect">
            <a:avLst/>
          </a:prstGeom>
        </p:spPr>
      </p:pic>
    </p:spTree>
    <p:extLst>
      <p:ext uri="{BB962C8B-B14F-4D97-AF65-F5344CB8AC3E}">
        <p14:creationId xmlns:p14="http://schemas.microsoft.com/office/powerpoint/2010/main" val="294949742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FF1CC-3268-A4FE-A35B-E38B762DD2F9}"/>
              </a:ext>
            </a:extLst>
          </p:cNvPr>
          <p:cNvSpPr>
            <a:spLocks noGrp="1"/>
          </p:cNvSpPr>
          <p:nvPr>
            <p:ph type="title"/>
          </p:nvPr>
        </p:nvSpPr>
        <p:spPr/>
        <p:txBody>
          <a:bodyPr anchor="b">
            <a:normAutofit/>
          </a:bodyPr>
          <a:lstStyle/>
          <a:p>
            <a:r>
              <a:rPr lang="en-US" dirty="0"/>
              <a:t>Data Transformation</a:t>
            </a:r>
          </a:p>
        </p:txBody>
      </p:sp>
    </p:spTree>
    <p:extLst>
      <p:ext uri="{BB962C8B-B14F-4D97-AF65-F5344CB8AC3E}">
        <p14:creationId xmlns:p14="http://schemas.microsoft.com/office/powerpoint/2010/main" val="1324022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775AF3B-5284-4B97-9BB7-55C6FB369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0F1F7ED-DA39-478F-85DA-317DE08941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13" name="Group 12">
              <a:extLst>
                <a:ext uri="{FF2B5EF4-FFF2-40B4-BE49-F238E27FC236}">
                  <a16:creationId xmlns:a16="http://schemas.microsoft.com/office/drawing/2014/main" id="{1DAE5903-52E8-4F25-8473-93EF4837763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5" name="Rectangle 5">
                <a:extLst>
                  <a:ext uri="{FF2B5EF4-FFF2-40B4-BE49-F238E27FC236}">
                    <a16:creationId xmlns:a16="http://schemas.microsoft.com/office/drawing/2014/main" id="{894835C1-32DE-4571-AD10-28D58CB8CFD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6" name="Freeform 6">
                <a:extLst>
                  <a:ext uri="{FF2B5EF4-FFF2-40B4-BE49-F238E27FC236}">
                    <a16:creationId xmlns:a16="http://schemas.microsoft.com/office/drawing/2014/main" id="{097A5B92-0B48-4251-9764-D34DF88920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7">
                <a:extLst>
                  <a:ext uri="{FF2B5EF4-FFF2-40B4-BE49-F238E27FC236}">
                    <a16:creationId xmlns:a16="http://schemas.microsoft.com/office/drawing/2014/main" id="{E222BF19-57E7-43F3-A2B9-2398BEF966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8">
                <a:extLst>
                  <a:ext uri="{FF2B5EF4-FFF2-40B4-BE49-F238E27FC236}">
                    <a16:creationId xmlns:a16="http://schemas.microsoft.com/office/drawing/2014/main" id="{60C8836E-B7D9-48A9-8FD9-4CC52AF44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9">
                <a:extLst>
                  <a:ext uri="{FF2B5EF4-FFF2-40B4-BE49-F238E27FC236}">
                    <a16:creationId xmlns:a16="http://schemas.microsoft.com/office/drawing/2014/main" id="{8504740E-456D-4FB9-9520-4317CCFA71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10">
                <a:extLst>
                  <a:ext uri="{FF2B5EF4-FFF2-40B4-BE49-F238E27FC236}">
                    <a16:creationId xmlns:a16="http://schemas.microsoft.com/office/drawing/2014/main" id="{1563A7B4-B1D5-4F93-AFF9-2EB78655F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11">
                <a:extLst>
                  <a:ext uri="{FF2B5EF4-FFF2-40B4-BE49-F238E27FC236}">
                    <a16:creationId xmlns:a16="http://schemas.microsoft.com/office/drawing/2014/main" id="{D139ED24-FA37-4470-8B42-D0D00EDE1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2">
                <a:extLst>
                  <a:ext uri="{FF2B5EF4-FFF2-40B4-BE49-F238E27FC236}">
                    <a16:creationId xmlns:a16="http://schemas.microsoft.com/office/drawing/2014/main" id="{48825AA7-BB26-45C2-93A2-1AD8D9A232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3">
                <a:extLst>
                  <a:ext uri="{FF2B5EF4-FFF2-40B4-BE49-F238E27FC236}">
                    <a16:creationId xmlns:a16="http://schemas.microsoft.com/office/drawing/2014/main" id="{A98D0B91-D4E4-402D-8234-E96987219E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4">
                <a:extLst>
                  <a:ext uri="{FF2B5EF4-FFF2-40B4-BE49-F238E27FC236}">
                    <a16:creationId xmlns:a16="http://schemas.microsoft.com/office/drawing/2014/main" id="{94F1DB97-3769-4DA5-9F45-47132C312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5">
                <a:extLst>
                  <a:ext uri="{FF2B5EF4-FFF2-40B4-BE49-F238E27FC236}">
                    <a16:creationId xmlns:a16="http://schemas.microsoft.com/office/drawing/2014/main" id="{A9BC86E2-B185-4D80-81B5-A8D387E67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Line 16">
                <a:extLst>
                  <a:ext uri="{FF2B5EF4-FFF2-40B4-BE49-F238E27FC236}">
                    <a16:creationId xmlns:a16="http://schemas.microsoft.com/office/drawing/2014/main" id="{FA773F49-8CD0-46DC-B986-F2DB57BD726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7" name="Freeform 17">
                <a:extLst>
                  <a:ext uri="{FF2B5EF4-FFF2-40B4-BE49-F238E27FC236}">
                    <a16:creationId xmlns:a16="http://schemas.microsoft.com/office/drawing/2014/main" id="{8C55A009-3401-4888-93C7-4ED51CBC6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8">
                <a:extLst>
                  <a:ext uri="{FF2B5EF4-FFF2-40B4-BE49-F238E27FC236}">
                    <a16:creationId xmlns:a16="http://schemas.microsoft.com/office/drawing/2014/main" id="{10B44829-5BB5-48C5-8492-699971FE7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Freeform 19">
                <a:extLst>
                  <a:ext uri="{FF2B5EF4-FFF2-40B4-BE49-F238E27FC236}">
                    <a16:creationId xmlns:a16="http://schemas.microsoft.com/office/drawing/2014/main" id="{30C1F9A0-4FA6-4F6F-B2D0-A1BBA41DF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20">
                <a:extLst>
                  <a:ext uri="{FF2B5EF4-FFF2-40B4-BE49-F238E27FC236}">
                    <a16:creationId xmlns:a16="http://schemas.microsoft.com/office/drawing/2014/main" id="{01BF274F-C7B8-44B4-A183-307D8619D2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Rectangle 21">
                <a:extLst>
                  <a:ext uri="{FF2B5EF4-FFF2-40B4-BE49-F238E27FC236}">
                    <a16:creationId xmlns:a16="http://schemas.microsoft.com/office/drawing/2014/main" id="{037E8930-0F22-4558-9432-F18953E32A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2" name="Freeform 22">
                <a:extLst>
                  <a:ext uri="{FF2B5EF4-FFF2-40B4-BE49-F238E27FC236}">
                    <a16:creationId xmlns:a16="http://schemas.microsoft.com/office/drawing/2014/main" id="{9AFC3429-FF29-47FF-A4A8-317A979DB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3">
                <a:extLst>
                  <a:ext uri="{FF2B5EF4-FFF2-40B4-BE49-F238E27FC236}">
                    <a16:creationId xmlns:a16="http://schemas.microsoft.com/office/drawing/2014/main" id="{91D48543-2C05-4768-80B1-ECA6F8850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24">
                <a:extLst>
                  <a:ext uri="{FF2B5EF4-FFF2-40B4-BE49-F238E27FC236}">
                    <a16:creationId xmlns:a16="http://schemas.microsoft.com/office/drawing/2014/main" id="{3AC527CC-154C-4370-A25B-74AC5B4A6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5">
                <a:extLst>
                  <a:ext uri="{FF2B5EF4-FFF2-40B4-BE49-F238E27FC236}">
                    <a16:creationId xmlns:a16="http://schemas.microsoft.com/office/drawing/2014/main" id="{798B18F5-51C9-4E50-95C5-A850EF5398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6">
                <a:extLst>
                  <a:ext uri="{FF2B5EF4-FFF2-40B4-BE49-F238E27FC236}">
                    <a16:creationId xmlns:a16="http://schemas.microsoft.com/office/drawing/2014/main" id="{15B4CF27-638C-4979-B0FD-6263E13074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7">
                <a:extLst>
                  <a:ext uri="{FF2B5EF4-FFF2-40B4-BE49-F238E27FC236}">
                    <a16:creationId xmlns:a16="http://schemas.microsoft.com/office/drawing/2014/main" id="{236C6A22-48A2-4442-B82D-30DB49827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8">
                <a:extLst>
                  <a:ext uri="{FF2B5EF4-FFF2-40B4-BE49-F238E27FC236}">
                    <a16:creationId xmlns:a16="http://schemas.microsoft.com/office/drawing/2014/main" id="{1BB7BCE1-0D99-412E-ABA6-81412638E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9">
                <a:extLst>
                  <a:ext uri="{FF2B5EF4-FFF2-40B4-BE49-F238E27FC236}">
                    <a16:creationId xmlns:a16="http://schemas.microsoft.com/office/drawing/2014/main" id="{C20E57E0-0912-44F2-93DA-75E4D13F3B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30">
                <a:extLst>
                  <a:ext uri="{FF2B5EF4-FFF2-40B4-BE49-F238E27FC236}">
                    <a16:creationId xmlns:a16="http://schemas.microsoft.com/office/drawing/2014/main" id="{DF059390-54ED-44F4-983F-92FF36AD9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31">
                <a:extLst>
                  <a:ext uri="{FF2B5EF4-FFF2-40B4-BE49-F238E27FC236}">
                    <a16:creationId xmlns:a16="http://schemas.microsoft.com/office/drawing/2014/main" id="{42D5E9ED-595D-443D-8CDC-D8FCD4021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4" name="Group 13">
              <a:extLst>
                <a:ext uri="{FF2B5EF4-FFF2-40B4-BE49-F238E27FC236}">
                  <a16:creationId xmlns:a16="http://schemas.microsoft.com/office/drawing/2014/main" id="{DB14A457-C54A-4F1E-91FB-0FEE49877D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5" name="Freeform 32">
                <a:extLst>
                  <a:ext uri="{FF2B5EF4-FFF2-40B4-BE49-F238E27FC236}">
                    <a16:creationId xmlns:a16="http://schemas.microsoft.com/office/drawing/2014/main" id="{791F3E2E-D393-464E-84B4-9B30D071A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 name="Freeform 33">
                <a:extLst>
                  <a:ext uri="{FF2B5EF4-FFF2-40B4-BE49-F238E27FC236}">
                    <a16:creationId xmlns:a16="http://schemas.microsoft.com/office/drawing/2014/main" id="{EBEEAD6F-6425-4F85-A8A8-4FF19A909B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 name="Freeform 34">
                <a:extLst>
                  <a:ext uri="{FF2B5EF4-FFF2-40B4-BE49-F238E27FC236}">
                    <a16:creationId xmlns:a16="http://schemas.microsoft.com/office/drawing/2014/main" id="{8AACA44E-9D6C-4708-8D61-D767B6620B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 name="Freeform 35">
                <a:extLst>
                  <a:ext uri="{FF2B5EF4-FFF2-40B4-BE49-F238E27FC236}">
                    <a16:creationId xmlns:a16="http://schemas.microsoft.com/office/drawing/2014/main" id="{B6E3525F-9937-463E-872C-8EB7C62D1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6">
                <a:extLst>
                  <a:ext uri="{FF2B5EF4-FFF2-40B4-BE49-F238E27FC236}">
                    <a16:creationId xmlns:a16="http://schemas.microsoft.com/office/drawing/2014/main" id="{BE829B0B-C602-40F1-81D1-A55332343D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7">
                <a:extLst>
                  <a:ext uri="{FF2B5EF4-FFF2-40B4-BE49-F238E27FC236}">
                    <a16:creationId xmlns:a16="http://schemas.microsoft.com/office/drawing/2014/main" id="{92660531-24B5-4B97-A4A2-64686E235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8">
                <a:extLst>
                  <a:ext uri="{FF2B5EF4-FFF2-40B4-BE49-F238E27FC236}">
                    <a16:creationId xmlns:a16="http://schemas.microsoft.com/office/drawing/2014/main" id="{6242D0CE-6FFD-4D17-AC26-BD3E481195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9">
                <a:extLst>
                  <a:ext uri="{FF2B5EF4-FFF2-40B4-BE49-F238E27FC236}">
                    <a16:creationId xmlns:a16="http://schemas.microsoft.com/office/drawing/2014/main" id="{61631F37-AF37-4DB9-8D98-A08586C76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40">
                <a:extLst>
                  <a:ext uri="{FF2B5EF4-FFF2-40B4-BE49-F238E27FC236}">
                    <a16:creationId xmlns:a16="http://schemas.microsoft.com/office/drawing/2014/main" id="{2A2597FF-2F22-40BB-A7B3-19C4DFCFFA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Rectangle 41">
                <a:extLst>
                  <a:ext uri="{FF2B5EF4-FFF2-40B4-BE49-F238E27FC236}">
                    <a16:creationId xmlns:a16="http://schemas.microsoft.com/office/drawing/2014/main" id="{DCC8773C-0113-4046-B222-C8F4080AF3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pic>
        <p:nvPicPr>
          <p:cNvPr id="53" name="Picture 2">
            <a:extLst>
              <a:ext uri="{FF2B5EF4-FFF2-40B4-BE49-F238E27FC236}">
                <a16:creationId xmlns:a16="http://schemas.microsoft.com/office/drawing/2014/main" id="{1B17CCE2-CEEF-40CA-8C4D-0DC2DCA78A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6A61B55-4BE1-E959-CAB9-CFC34F67707D}"/>
              </a:ext>
            </a:extLst>
          </p:cNvPr>
          <p:cNvSpPr>
            <a:spLocks noGrp="1"/>
          </p:cNvSpPr>
          <p:nvPr>
            <p:ph type="title"/>
          </p:nvPr>
        </p:nvSpPr>
        <p:spPr>
          <a:xfrm>
            <a:off x="6569957" y="618518"/>
            <a:ext cx="4747088" cy="1478570"/>
          </a:xfrm>
        </p:spPr>
        <p:txBody>
          <a:bodyPr>
            <a:normAutofit/>
          </a:bodyPr>
          <a:lstStyle/>
          <a:p>
            <a:r>
              <a:rPr lang="en-US">
                <a:solidFill>
                  <a:srgbClr val="FFFFFF"/>
                </a:solidFill>
              </a:rPr>
              <a:t>SQL Script: Type Conversion</a:t>
            </a:r>
          </a:p>
        </p:txBody>
      </p:sp>
      <p:sp useBgFill="1">
        <p:nvSpPr>
          <p:cNvPr id="55" name="Round Diagonal Corner Rectangle 9">
            <a:extLst>
              <a:ext uri="{FF2B5EF4-FFF2-40B4-BE49-F238E27FC236}">
                <a16:creationId xmlns:a16="http://schemas.microsoft.com/office/drawing/2014/main" id="{66D4F5BA-1D71-49B2-8A7F-6B4EB94D7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0" y="808057"/>
            <a:ext cx="5286376"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
            <a:extLst>
              <a:ext uri="{FF2B5EF4-FFF2-40B4-BE49-F238E27FC236}">
                <a16:creationId xmlns:a16="http://schemas.microsoft.com/office/drawing/2014/main" id="{B0C3EF5C-87B2-C4F7-1BE4-D917B4D7D00B}"/>
              </a:ext>
            </a:extLst>
          </p:cNvPr>
          <p:cNvPicPr>
            <a:picLocks noChangeAspect="1"/>
          </p:cNvPicPr>
          <p:nvPr/>
        </p:nvPicPr>
        <p:blipFill>
          <a:blip r:embed="rId4">
            <a:extLst>
              <a:ext uri="{28A0092B-C50C-407E-A947-70E740481C1C}">
                <a14:useLocalDpi xmlns:a14="http://schemas.microsoft.com/office/drawing/2010/main" val="0"/>
              </a:ext>
            </a:extLst>
          </a:blip>
          <a:srcRect r="4290"/>
          <a:stretch/>
        </p:blipFill>
        <p:spPr>
          <a:xfrm>
            <a:off x="856099" y="1107196"/>
            <a:ext cx="5170411" cy="4282367"/>
          </a:xfrm>
          <a:prstGeom prst="rect">
            <a:avLst/>
          </a:prstGeom>
        </p:spPr>
      </p:pic>
      <p:sp>
        <p:nvSpPr>
          <p:cNvPr id="3" name="Content Placeholder 2">
            <a:extLst>
              <a:ext uri="{FF2B5EF4-FFF2-40B4-BE49-F238E27FC236}">
                <a16:creationId xmlns:a16="http://schemas.microsoft.com/office/drawing/2014/main" id="{9B3AABD9-B556-C889-E50E-C0AEA15D14EC}"/>
              </a:ext>
            </a:extLst>
          </p:cNvPr>
          <p:cNvSpPr>
            <a:spLocks noGrp="1"/>
          </p:cNvSpPr>
          <p:nvPr>
            <p:ph idx="1"/>
          </p:nvPr>
        </p:nvSpPr>
        <p:spPr>
          <a:xfrm>
            <a:off x="6569957" y="2249487"/>
            <a:ext cx="4747087" cy="3541714"/>
          </a:xfrm>
        </p:spPr>
        <p:txBody>
          <a:bodyPr>
            <a:normAutofit/>
          </a:bodyPr>
          <a:lstStyle/>
          <a:p>
            <a:pPr lvl="0">
              <a:lnSpc>
                <a:spcPct val="110000"/>
              </a:lnSpc>
              <a:defRPr b="1"/>
            </a:pPr>
            <a:r>
              <a:rPr lang="en-US" sz="1500">
                <a:solidFill>
                  <a:srgbClr val="FFFFFF"/>
                </a:solidFill>
                <a:latin typeface="Arial" panose="020B0604020202020204" pitchFamily="34" charset="0"/>
                <a:cs typeface="Arial" panose="020B0604020202020204" pitchFamily="34" charset="0"/>
              </a:rPr>
              <a:t>Date Type Conversion</a:t>
            </a:r>
          </a:p>
          <a:p>
            <a:pPr marL="0" lvl="0" indent="0">
              <a:lnSpc>
                <a:spcPct val="110000"/>
              </a:lnSpc>
              <a:buNone/>
              <a:defRPr b="1"/>
            </a:pPr>
            <a:r>
              <a:rPr lang="en-US" sz="1500">
                <a:solidFill>
                  <a:srgbClr val="FFFFFF"/>
                </a:solidFill>
                <a:latin typeface="Arial" panose="020B0604020202020204" pitchFamily="34" charset="0"/>
                <a:cs typeface="Arial" panose="020B0604020202020204" pitchFamily="34" charset="0"/>
              </a:rPr>
              <a:t>Converting string dates to DATE type enables accurate filtering and time-based analysis.</a:t>
            </a:r>
          </a:p>
          <a:p>
            <a:pPr lvl="0">
              <a:lnSpc>
                <a:spcPct val="110000"/>
              </a:lnSpc>
              <a:defRPr b="1"/>
            </a:pPr>
            <a:r>
              <a:rPr lang="en-US" sz="1500">
                <a:solidFill>
                  <a:srgbClr val="FFFFFF"/>
                </a:solidFill>
                <a:latin typeface="Arial" panose="020B0604020202020204" pitchFamily="34" charset="0"/>
                <a:cs typeface="Arial" panose="020B0604020202020204" pitchFamily="34" charset="0"/>
              </a:rPr>
              <a:t>Currency Precision</a:t>
            </a:r>
          </a:p>
          <a:p>
            <a:pPr marL="0" lvl="0" indent="0">
              <a:lnSpc>
                <a:spcPct val="110000"/>
              </a:lnSpc>
              <a:buNone/>
              <a:defRPr b="1"/>
            </a:pPr>
            <a:r>
              <a:rPr lang="en-US" sz="1500">
                <a:solidFill>
                  <a:srgbClr val="FFFFFF"/>
                </a:solidFill>
                <a:latin typeface="Arial" panose="020B0604020202020204" pitchFamily="34" charset="0"/>
                <a:cs typeface="Arial" panose="020B0604020202020204" pitchFamily="34" charset="0"/>
              </a:rPr>
              <a:t>Currency fields use DECIMAL(10,2) to avoid rounding errors and ensure financial accuracy.</a:t>
            </a:r>
          </a:p>
          <a:p>
            <a:pPr lvl="0">
              <a:lnSpc>
                <a:spcPct val="110000"/>
              </a:lnSpc>
              <a:defRPr b="1"/>
            </a:pPr>
            <a:r>
              <a:rPr lang="en-US" sz="1500">
                <a:solidFill>
                  <a:srgbClr val="FFFFFF"/>
                </a:solidFill>
                <a:latin typeface="Arial" panose="020B0604020202020204" pitchFamily="34" charset="0"/>
                <a:cs typeface="Arial" panose="020B0604020202020204" pitchFamily="34" charset="0"/>
              </a:rPr>
              <a:t>Audit Timestamps</a:t>
            </a:r>
          </a:p>
          <a:p>
            <a:pPr marL="0" lvl="0" indent="0">
              <a:lnSpc>
                <a:spcPct val="110000"/>
              </a:lnSpc>
              <a:buNone/>
              <a:defRPr b="1"/>
            </a:pPr>
            <a:r>
              <a:rPr lang="en-US" sz="1500">
                <a:solidFill>
                  <a:srgbClr val="FFFFFF"/>
                </a:solidFill>
                <a:latin typeface="Arial" panose="020B0604020202020204" pitchFamily="34" charset="0"/>
                <a:cs typeface="Arial" panose="020B0604020202020204" pitchFamily="34" charset="0"/>
              </a:rPr>
              <a:t>Added timestamps like created at support traceability and enable trend analysis in data.</a:t>
            </a:r>
          </a:p>
        </p:txBody>
      </p:sp>
    </p:spTree>
    <p:extLst>
      <p:ext uri="{BB962C8B-B14F-4D97-AF65-F5344CB8AC3E}">
        <p14:creationId xmlns:p14="http://schemas.microsoft.com/office/powerpoint/2010/main" val="464963573"/>
      </p:ext>
    </p:extLst>
  </p:cSld>
  <p:clrMapOvr>
    <a:overrideClrMapping bg1="lt1" tx1="dk1" bg2="lt2" tx2="dk2" accent1="accent1" accent2="accent2" accent3="accent3" accent4="accent4" accent5="accent5" accent6="accent6" hlink="hlink" folHlink="folHlink"/>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59788-E876-CB46-EA7F-D3A7E7E57BEF}"/>
              </a:ext>
            </a:extLst>
          </p:cNvPr>
          <p:cNvSpPr>
            <a:spLocks noGrp="1"/>
          </p:cNvSpPr>
          <p:nvPr>
            <p:ph type="title"/>
          </p:nvPr>
        </p:nvSpPr>
        <p:spPr/>
        <p:txBody>
          <a:bodyPr anchor="b">
            <a:normAutofit/>
          </a:bodyPr>
          <a:lstStyle/>
          <a:p>
            <a:r>
              <a:rPr lang="en-US"/>
              <a:t>Operational Efficiency &amp; Hospital Performance</a:t>
            </a:r>
          </a:p>
        </p:txBody>
      </p:sp>
    </p:spTree>
    <p:extLst>
      <p:ext uri="{BB962C8B-B14F-4D97-AF65-F5344CB8AC3E}">
        <p14:creationId xmlns:p14="http://schemas.microsoft.com/office/powerpoint/2010/main" val="12778890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 name="Rectangle 117">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20" name="Group 119">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121" name="Group 120">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133"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34"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5"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6"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7"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8"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9"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0"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1"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2"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3"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4"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145"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6"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7"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8"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9"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50"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1"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2"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3"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4"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5"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6"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7"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8"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9"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22" name="Group 121">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23"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4"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5"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6"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7"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8"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9"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0"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1"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2"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pic>
        <p:nvPicPr>
          <p:cNvPr id="161"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C11E636-3836-536D-2CAB-2F854CCDFE5F}"/>
              </a:ext>
            </a:extLst>
          </p:cNvPr>
          <p:cNvSpPr>
            <a:spLocks noGrp="1"/>
          </p:cNvSpPr>
          <p:nvPr>
            <p:ph type="title"/>
          </p:nvPr>
        </p:nvSpPr>
        <p:spPr>
          <a:xfrm>
            <a:off x="8036041" y="618518"/>
            <a:ext cx="3281003" cy="1478570"/>
          </a:xfrm>
        </p:spPr>
        <p:txBody>
          <a:bodyPr vert="horz" lIns="91440" tIns="45720" rIns="91440" bIns="45720" rtlCol="0" anchor="b">
            <a:normAutofit/>
          </a:bodyPr>
          <a:lstStyle/>
          <a:p>
            <a:r>
              <a:rPr lang="en-US" sz="2800" dirty="0">
                <a:solidFill>
                  <a:srgbClr val="FFFFFF"/>
                </a:solidFill>
                <a:latin typeface="Arial" panose="020B0604020202020204" pitchFamily="34" charset="0"/>
                <a:cs typeface="Arial" panose="020B0604020202020204" pitchFamily="34" charset="0"/>
              </a:rPr>
              <a:t>Analysis Peak Busy Days</a:t>
            </a:r>
          </a:p>
        </p:txBody>
      </p:sp>
      <p:sp useBgFill="1">
        <p:nvSpPr>
          <p:cNvPr id="163"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312CBC66-E672-3B79-2C6C-A68FFAEABD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057" y="1656317"/>
            <a:ext cx="6631852" cy="3282766"/>
          </a:xfrm>
          <a:prstGeom prst="rect">
            <a:avLst/>
          </a:prstGeom>
        </p:spPr>
      </p:pic>
      <p:sp>
        <p:nvSpPr>
          <p:cNvPr id="25" name="TextBox 24">
            <a:extLst>
              <a:ext uri="{FF2B5EF4-FFF2-40B4-BE49-F238E27FC236}">
                <a16:creationId xmlns:a16="http://schemas.microsoft.com/office/drawing/2014/main" id="{2897A1B2-4740-B976-44C6-B6F3D7979DBB}"/>
              </a:ext>
            </a:extLst>
          </p:cNvPr>
          <p:cNvSpPr txBox="1"/>
          <p:nvPr/>
        </p:nvSpPr>
        <p:spPr>
          <a:xfrm>
            <a:off x="8036041" y="2249487"/>
            <a:ext cx="3281004" cy="3541714"/>
          </a:xfrm>
          <a:prstGeom prst="rect">
            <a:avLst/>
          </a:prstGeom>
        </p:spPr>
        <p:txBody>
          <a:bodyPr vert="horz" lIns="91440" tIns="45720" rIns="91440" bIns="45720" rtlCol="0">
            <a:normAutofit/>
          </a:bodyPr>
          <a:lstStyle/>
          <a:p>
            <a:pPr indent="-228600" defTabSz="914400">
              <a:lnSpc>
                <a:spcPct val="110000"/>
              </a:lnSpc>
              <a:spcAft>
                <a:spcPts val="600"/>
              </a:spcAft>
              <a:buSzPct val="125000"/>
              <a:buFont typeface="Arial" panose="020B0604020202020204" pitchFamily="34" charset="0"/>
              <a:buChar char="•"/>
            </a:pPr>
            <a:r>
              <a:rPr lang="en-US" sz="1100" b="1" dirty="0">
                <a:solidFill>
                  <a:srgbClr val="FFFFFF"/>
                </a:solidFill>
                <a:latin typeface="Arial" panose="020B0604020202020204" pitchFamily="34" charset="0"/>
                <a:cs typeface="Arial" panose="020B0604020202020204" pitchFamily="34" charset="0"/>
              </a:rPr>
              <a:t>Identifying Peak Days</a:t>
            </a:r>
          </a:p>
          <a:p>
            <a:pPr indent="-228600" defTabSz="914400">
              <a:lnSpc>
                <a:spcPct val="110000"/>
              </a:lnSpc>
              <a:spcAft>
                <a:spcPts val="600"/>
              </a:spcAft>
              <a:buSzPct val="125000"/>
              <a:buFont typeface="Arial" panose="020B0604020202020204" pitchFamily="34" charset="0"/>
              <a:buChar char="•"/>
            </a:pPr>
            <a:r>
              <a:rPr lang="en-GB" sz="1100" dirty="0">
                <a:solidFill>
                  <a:srgbClr val="FFFFFF"/>
                </a:solidFill>
                <a:latin typeface="Arial" panose="020B0604020202020204" pitchFamily="34" charset="0"/>
                <a:cs typeface="Arial" panose="020B0604020202020204" pitchFamily="34" charset="0"/>
              </a:rPr>
              <a:t>Analyse</a:t>
            </a:r>
            <a:r>
              <a:rPr lang="en-US" sz="1100" dirty="0">
                <a:solidFill>
                  <a:srgbClr val="FFFFFF"/>
                </a:solidFill>
                <a:latin typeface="Arial" panose="020B0604020202020204" pitchFamily="34" charset="0"/>
                <a:cs typeface="Arial" panose="020B0604020202020204" pitchFamily="34" charset="0"/>
              </a:rPr>
              <a:t> appointment data to pinpoint the busiest days of the week for patient visits and service demand.</a:t>
            </a:r>
          </a:p>
          <a:p>
            <a:pPr indent="-228600" defTabSz="914400">
              <a:lnSpc>
                <a:spcPct val="110000"/>
              </a:lnSpc>
              <a:spcAft>
                <a:spcPts val="600"/>
              </a:spcAft>
              <a:buSzPct val="125000"/>
              <a:buFont typeface="Arial" panose="020B0604020202020204" pitchFamily="34" charset="0"/>
              <a:buChar char="•"/>
            </a:pPr>
            <a:endParaRPr lang="en-US" sz="1100" dirty="0">
              <a:solidFill>
                <a:srgbClr val="FFFFFF"/>
              </a:solidFill>
              <a:latin typeface="Arial" panose="020B0604020202020204" pitchFamily="34" charset="0"/>
              <a:cs typeface="Arial" panose="020B0604020202020204" pitchFamily="34" charset="0"/>
            </a:endParaRPr>
          </a:p>
          <a:p>
            <a:pPr indent="-228600" defTabSz="914400">
              <a:lnSpc>
                <a:spcPct val="110000"/>
              </a:lnSpc>
              <a:spcAft>
                <a:spcPts val="600"/>
              </a:spcAft>
              <a:buSzPct val="125000"/>
              <a:buFont typeface="Arial" panose="020B0604020202020204" pitchFamily="34" charset="0"/>
              <a:buChar char="•"/>
            </a:pPr>
            <a:r>
              <a:rPr lang="en-GB" sz="1200" b="1" dirty="0">
                <a:solidFill>
                  <a:srgbClr val="FFFFFF"/>
                </a:solidFill>
                <a:latin typeface="Arial" panose="020B0604020202020204" pitchFamily="34" charset="0"/>
                <a:cs typeface="Arial" panose="020B0604020202020204" pitchFamily="34" charset="0"/>
              </a:rPr>
              <a:t>Optimising</a:t>
            </a:r>
            <a:r>
              <a:rPr lang="en-US" sz="1100" b="1" dirty="0">
                <a:solidFill>
                  <a:srgbClr val="FFFFFF"/>
                </a:solidFill>
                <a:latin typeface="Arial" panose="020B0604020202020204" pitchFamily="34" charset="0"/>
                <a:cs typeface="Arial" panose="020B0604020202020204" pitchFamily="34" charset="0"/>
              </a:rPr>
              <a:t> Staffing and Rooms</a:t>
            </a:r>
          </a:p>
          <a:p>
            <a:pPr indent="-228600" defTabSz="914400">
              <a:lnSpc>
                <a:spcPct val="110000"/>
              </a:lnSpc>
              <a:spcAft>
                <a:spcPts val="600"/>
              </a:spcAft>
              <a:buSzPct val="125000"/>
              <a:buFont typeface="Arial" panose="020B0604020202020204" pitchFamily="34" charset="0"/>
              <a:buChar char="•"/>
            </a:pPr>
            <a:r>
              <a:rPr lang="en-US" sz="1100" dirty="0">
                <a:solidFill>
                  <a:srgbClr val="FFFFFF"/>
                </a:solidFill>
                <a:latin typeface="Arial" panose="020B0604020202020204" pitchFamily="34" charset="0"/>
                <a:cs typeface="Arial" panose="020B0604020202020204" pitchFamily="34" charset="0"/>
              </a:rPr>
              <a:t>Use peak day insights to allocate staff and rooms efficiently, reducing patient wait times and improving care quality.</a:t>
            </a:r>
          </a:p>
          <a:p>
            <a:pPr indent="-228600" defTabSz="914400">
              <a:lnSpc>
                <a:spcPct val="110000"/>
              </a:lnSpc>
              <a:spcAft>
                <a:spcPts val="600"/>
              </a:spcAft>
              <a:buSzPct val="125000"/>
              <a:buFont typeface="Arial" panose="020B0604020202020204" pitchFamily="34" charset="0"/>
              <a:buChar char="•"/>
            </a:pPr>
            <a:endParaRPr lang="en-US" sz="1100" dirty="0">
              <a:solidFill>
                <a:srgbClr val="FFFFFF"/>
              </a:solidFill>
              <a:latin typeface="Arial" panose="020B0604020202020204" pitchFamily="34" charset="0"/>
              <a:cs typeface="Arial" panose="020B0604020202020204" pitchFamily="34" charset="0"/>
            </a:endParaRPr>
          </a:p>
          <a:p>
            <a:pPr indent="-228600" defTabSz="914400">
              <a:lnSpc>
                <a:spcPct val="110000"/>
              </a:lnSpc>
              <a:spcAft>
                <a:spcPts val="600"/>
              </a:spcAft>
              <a:buSzPct val="125000"/>
              <a:buFont typeface="Arial" panose="020B0604020202020204" pitchFamily="34" charset="0"/>
              <a:buChar char="•"/>
            </a:pPr>
            <a:r>
              <a:rPr lang="en-US" sz="1100" b="1" dirty="0">
                <a:solidFill>
                  <a:srgbClr val="FFFFFF"/>
                </a:solidFill>
                <a:latin typeface="Arial" panose="020B0604020202020204" pitchFamily="34" charset="0"/>
                <a:cs typeface="Arial" panose="020B0604020202020204" pitchFamily="34" charset="0"/>
              </a:rPr>
              <a:t>Supporting Forecasting and Planning</a:t>
            </a:r>
          </a:p>
          <a:p>
            <a:pPr indent="-228600" defTabSz="914400">
              <a:lnSpc>
                <a:spcPct val="110000"/>
              </a:lnSpc>
              <a:spcAft>
                <a:spcPts val="600"/>
              </a:spcAft>
              <a:buSzPct val="125000"/>
              <a:buFont typeface="Arial" panose="020B0604020202020204" pitchFamily="34" charset="0"/>
              <a:buChar char="•"/>
            </a:pPr>
            <a:r>
              <a:rPr lang="en-US" sz="1100" dirty="0">
                <a:solidFill>
                  <a:srgbClr val="FFFFFF"/>
                </a:solidFill>
                <a:latin typeface="Arial" panose="020B0604020202020204" pitchFamily="34" charset="0"/>
                <a:cs typeface="Arial" panose="020B0604020202020204" pitchFamily="34" charset="0"/>
              </a:rPr>
              <a:t>Leverage analysis for seasonal planning and forecasting to ensure operational capacity meets patient demand effectively.</a:t>
            </a:r>
          </a:p>
          <a:p>
            <a:pPr indent="-228600" defTabSz="914400">
              <a:lnSpc>
                <a:spcPct val="110000"/>
              </a:lnSpc>
              <a:spcAft>
                <a:spcPts val="600"/>
              </a:spcAft>
              <a:buSzPct val="125000"/>
              <a:buFont typeface="Arial" panose="020B0604020202020204" pitchFamily="34" charset="0"/>
              <a:buChar char="•"/>
            </a:pPr>
            <a:endParaRPr lang="en-US" sz="1100" dirty="0">
              <a:solidFill>
                <a:srgbClr val="FFFFFF"/>
              </a:solidFill>
              <a:latin typeface="Arial" panose="020B0604020202020204" pitchFamily="34" charset="0"/>
              <a:cs typeface="Arial" panose="020B0604020202020204" pitchFamily="34" charset="0"/>
            </a:endParaRPr>
          </a:p>
          <a:p>
            <a:pPr indent="-228600" defTabSz="914400">
              <a:lnSpc>
                <a:spcPct val="110000"/>
              </a:lnSpc>
              <a:spcAft>
                <a:spcPts val="600"/>
              </a:spcAft>
              <a:buSzPct val="125000"/>
              <a:buFont typeface="Arial" panose="020B0604020202020204" pitchFamily="34" charset="0"/>
              <a:buChar char="•"/>
            </a:pPr>
            <a:endParaRPr lang="en-US" sz="1100" dirty="0">
              <a:solidFill>
                <a:srgbClr val="FFFFFF"/>
              </a:solidFill>
              <a:latin typeface="Arial" panose="020B0604020202020204" pitchFamily="34" charset="0"/>
              <a:cs typeface="Arial" panose="020B0604020202020204" pitchFamily="34" charset="0"/>
            </a:endParaRPr>
          </a:p>
          <a:p>
            <a:pPr indent="-228600" defTabSz="914400">
              <a:lnSpc>
                <a:spcPct val="110000"/>
              </a:lnSpc>
              <a:spcAft>
                <a:spcPts val="600"/>
              </a:spcAft>
              <a:buSzPct val="125000"/>
              <a:buFont typeface="Arial" panose="020B0604020202020204" pitchFamily="34" charset="0"/>
              <a:buChar char="•"/>
            </a:pPr>
            <a:endParaRPr lang="en-US" sz="1100" dirty="0">
              <a:solidFill>
                <a:srgbClr val="FFFFFF"/>
              </a:solidFill>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0B0F9F84-BD09-C724-13A6-FE6EB2704160}"/>
              </a:ext>
            </a:extLst>
          </p:cNvPr>
          <p:cNvSpPr/>
          <p:nvPr/>
        </p:nvSpPr>
        <p:spPr>
          <a:xfrm>
            <a:off x="2133600" y="1975144"/>
            <a:ext cx="8643425" cy="713361"/>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8" name="Rectangle 17">
            <a:extLst>
              <a:ext uri="{FF2B5EF4-FFF2-40B4-BE49-F238E27FC236}">
                <a16:creationId xmlns:a16="http://schemas.microsoft.com/office/drawing/2014/main" id="{2766F573-DF18-FE67-1114-FBE9F58999C8}"/>
              </a:ext>
            </a:extLst>
          </p:cNvPr>
          <p:cNvSpPr/>
          <p:nvPr/>
        </p:nvSpPr>
        <p:spPr>
          <a:xfrm>
            <a:off x="1774287" y="3088465"/>
            <a:ext cx="8643425" cy="297328"/>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12" name="Rectangle 11">
            <a:extLst>
              <a:ext uri="{FF2B5EF4-FFF2-40B4-BE49-F238E27FC236}">
                <a16:creationId xmlns:a16="http://schemas.microsoft.com/office/drawing/2014/main" id="{C4ACD74B-E55A-10A3-8B05-EC7A4478D43D}"/>
              </a:ext>
            </a:extLst>
          </p:cNvPr>
          <p:cNvSpPr/>
          <p:nvPr/>
        </p:nvSpPr>
        <p:spPr>
          <a:xfrm>
            <a:off x="1774287" y="4483042"/>
            <a:ext cx="8643425" cy="718641"/>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a:lstStyle/>
          <a:p>
            <a:endParaRPr lang="en-GB"/>
          </a:p>
        </p:txBody>
      </p:sp>
    </p:spTree>
    <p:extLst>
      <p:ext uri="{BB962C8B-B14F-4D97-AF65-F5344CB8AC3E}">
        <p14:creationId xmlns:p14="http://schemas.microsoft.com/office/powerpoint/2010/main" val="3026424020"/>
      </p:ext>
    </p:extLst>
  </p:cSld>
  <p:clrMapOvr>
    <a:overrideClrMapping bg1="lt1" tx1="dk1" bg2="lt2" tx2="dk2" accent1="accent1" accent2="accent2" accent3="accent3" accent4="accent4" accent5="accent5" accent6="accent6" hlink="hlink" folHlink="folHlink"/>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useBgFill="1">
        <p:nvSpPr>
          <p:cNvPr id="53" name="Rectangle 52">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426572F-CAD1-7A0E-727B-D7BC4756F9E4}"/>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dirty="0">
                <a:latin typeface="Arial" panose="020B0604020202020204" pitchFamily="34" charset="0"/>
                <a:cs typeface="Arial" panose="020B0604020202020204" pitchFamily="34" charset="0"/>
              </a:rPr>
              <a:t>Analysis Doctor Workload</a:t>
            </a:r>
          </a:p>
        </p:txBody>
      </p:sp>
      <p:sp>
        <p:nvSpPr>
          <p:cNvPr id="4" name="Content Placeholder 3">
            <a:extLst>
              <a:ext uri="{FF2B5EF4-FFF2-40B4-BE49-F238E27FC236}">
                <a16:creationId xmlns:a16="http://schemas.microsoft.com/office/drawing/2014/main" id="{CB1953BA-0C9B-24AB-F94C-485D1B412DA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41412" y="2249487"/>
            <a:ext cx="4459287" cy="3965046"/>
          </a:xfrm>
        </p:spPr>
        <p:txBody>
          <a:bodyPr>
            <a:normAutofit/>
          </a:bodyPr>
          <a:lstStyle/>
          <a:p>
            <a:pPr marL="0" indent="0">
              <a:lnSpc>
                <a:spcPct val="110000"/>
              </a:lnSpc>
              <a:spcBef>
                <a:spcPts val="2500"/>
              </a:spcBef>
              <a:buFont typeface="Arial" panose="020B0604020202020204" pitchFamily="34" charset="0"/>
              <a:buNone/>
            </a:pPr>
            <a:r>
              <a:rPr lang="en-US" sz="1400" b="1" dirty="0">
                <a:latin typeface="Arial" panose="020B0604020202020204" pitchFamily="34" charset="0"/>
                <a:cs typeface="Arial" panose="020B0604020202020204" pitchFamily="34" charset="0"/>
              </a:rPr>
              <a:t>Workload Distribution</a:t>
            </a:r>
          </a:p>
          <a:p>
            <a:pPr marL="0" lvl="1" indent="0">
              <a:lnSpc>
                <a:spcPct val="110000"/>
              </a:lnSpc>
              <a:buFont typeface="Arial" panose="020B0604020202020204" pitchFamily="34" charset="0"/>
              <a:buNone/>
            </a:pPr>
            <a:r>
              <a:rPr lang="en-GB" dirty="0">
                <a:latin typeface="Arial" panose="020B0604020202020204" pitchFamily="34" charset="0"/>
                <a:cs typeface="Arial" panose="020B0604020202020204" pitchFamily="34" charset="0"/>
              </a:rPr>
              <a:t>Analysing</a:t>
            </a:r>
            <a:r>
              <a:rPr lang="en-US" dirty="0">
                <a:latin typeface="Arial" panose="020B0604020202020204" pitchFamily="34" charset="0"/>
                <a:cs typeface="Arial" panose="020B0604020202020204" pitchFamily="34" charset="0"/>
              </a:rPr>
              <a:t> appointment distribution helps balance workloads and prevent physician burnout for better healthcare delivery.</a:t>
            </a:r>
          </a:p>
          <a:p>
            <a:pPr marL="0" indent="0">
              <a:lnSpc>
                <a:spcPct val="110000"/>
              </a:lnSpc>
              <a:spcBef>
                <a:spcPts val="2500"/>
              </a:spcBef>
              <a:buFont typeface="Arial" panose="020B0604020202020204" pitchFamily="34" charset="0"/>
              <a:buNone/>
            </a:pPr>
            <a:r>
              <a:rPr lang="en-US" sz="1400" b="1" dirty="0">
                <a:latin typeface="Arial" panose="020B0604020202020204" pitchFamily="34" charset="0"/>
                <a:cs typeface="Arial" panose="020B0604020202020204" pitchFamily="34" charset="0"/>
              </a:rPr>
              <a:t>Capacity and Recruitment</a:t>
            </a:r>
          </a:p>
          <a:p>
            <a:pPr marL="0" lvl="1" indent="0">
              <a:lnSpc>
                <a:spcPct val="110000"/>
              </a:lnSpc>
              <a:buFont typeface="Arial" panose="020B0604020202020204" pitchFamily="34" charset="0"/>
              <a:buNone/>
            </a:pPr>
            <a:r>
              <a:rPr lang="en-US" dirty="0">
                <a:latin typeface="Arial" panose="020B0604020202020204" pitchFamily="34" charset="0"/>
                <a:cs typeface="Arial" panose="020B0604020202020204" pitchFamily="34" charset="0"/>
              </a:rPr>
              <a:t>Identifying high-demand doctors supports addressing capacity issues and guides recruitment planning effectively.</a:t>
            </a:r>
          </a:p>
          <a:p>
            <a:pPr marL="0" indent="0">
              <a:lnSpc>
                <a:spcPct val="110000"/>
              </a:lnSpc>
              <a:spcBef>
                <a:spcPts val="2500"/>
              </a:spcBef>
              <a:buFont typeface="Arial" panose="020B0604020202020204" pitchFamily="34" charset="0"/>
              <a:buNone/>
            </a:pPr>
            <a:r>
              <a:rPr lang="en-GB" sz="1400" b="1" dirty="0">
                <a:latin typeface="Arial" panose="020B0604020202020204" pitchFamily="34" charset="0"/>
                <a:cs typeface="Arial" panose="020B0604020202020204" pitchFamily="34" charset="0"/>
              </a:rPr>
              <a:t>Optimising</a:t>
            </a:r>
            <a:r>
              <a:rPr lang="en-US" sz="1400" b="1" dirty="0">
                <a:latin typeface="Arial" panose="020B0604020202020204" pitchFamily="34" charset="0"/>
                <a:cs typeface="Arial" panose="020B0604020202020204" pitchFamily="34" charset="0"/>
              </a:rPr>
              <a:t> Resource Use</a:t>
            </a:r>
          </a:p>
          <a:p>
            <a:pPr marL="0" lvl="1" indent="0">
              <a:lnSpc>
                <a:spcPct val="110000"/>
              </a:lnSpc>
              <a:buFont typeface="Arial" panose="020B0604020202020204" pitchFamily="34" charset="0"/>
              <a:buNone/>
            </a:pPr>
            <a:r>
              <a:rPr lang="en-US" dirty="0">
                <a:latin typeface="Arial" panose="020B0604020202020204" pitchFamily="34" charset="0"/>
                <a:cs typeface="Arial" panose="020B0604020202020204" pitchFamily="34" charset="0"/>
              </a:rPr>
              <a:t>Monitoring workload patterns allows hospitals to </a:t>
            </a:r>
            <a:r>
              <a:rPr lang="en-GB" dirty="0">
                <a:latin typeface="Arial" panose="020B0604020202020204" pitchFamily="34" charset="0"/>
                <a:cs typeface="Arial" panose="020B0604020202020204" pitchFamily="34" charset="0"/>
              </a:rPr>
              <a:t>optimise</a:t>
            </a:r>
            <a:r>
              <a:rPr lang="en-US" dirty="0">
                <a:latin typeface="Arial" panose="020B0604020202020204" pitchFamily="34" charset="0"/>
                <a:cs typeface="Arial" panose="020B0604020202020204" pitchFamily="34" charset="0"/>
              </a:rPr>
              <a:t> resources and maintain high-quality patient care.</a:t>
            </a:r>
          </a:p>
        </p:txBody>
      </p:sp>
      <p:pic>
        <p:nvPicPr>
          <p:cNvPr id="5" name="Picture 4" descr="A screenshot of a computer program&#10;&#10;AI-generated content may be incorrect.">
            <a:extLst>
              <a:ext uri="{FF2B5EF4-FFF2-40B4-BE49-F238E27FC236}">
                <a16:creationId xmlns:a16="http://schemas.microsoft.com/office/drawing/2014/main" id="{7BF7A49D-B6E5-24B9-D955-C28F5F5609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1369196"/>
            <a:ext cx="5456279" cy="409465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7" name="Group 56">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8"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5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0"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2"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3"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4"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5"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6"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7"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8"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9"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70"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1"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2"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3"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4"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75"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6"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7"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8"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9"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0"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1"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2"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3"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4"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spTree>
    <p:extLst>
      <p:ext uri="{BB962C8B-B14F-4D97-AF65-F5344CB8AC3E}">
        <p14:creationId xmlns:p14="http://schemas.microsoft.com/office/powerpoint/2010/main" val="3149163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20"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E6CB617-A32C-A83C-50B6-5940B9B1C50C}"/>
              </a:ext>
            </a:extLst>
          </p:cNvPr>
          <p:cNvSpPr>
            <a:spLocks noGrp="1"/>
          </p:cNvSpPr>
          <p:nvPr>
            <p:ph type="title"/>
          </p:nvPr>
        </p:nvSpPr>
        <p:spPr>
          <a:xfrm>
            <a:off x="855266" y="618518"/>
            <a:ext cx="2851417" cy="1478570"/>
          </a:xfrm>
        </p:spPr>
        <p:txBody>
          <a:bodyPr>
            <a:normAutofit/>
          </a:bodyPr>
          <a:lstStyle/>
          <a:p>
            <a:r>
              <a:rPr lang="en-US" sz="3200" dirty="0">
                <a:solidFill>
                  <a:srgbClr val="FFFFFF"/>
                </a:solidFill>
                <a:latin typeface="Arial" panose="020B0604020202020204" pitchFamily="34" charset="0"/>
                <a:cs typeface="Arial" panose="020B0604020202020204" pitchFamily="34" charset="0"/>
              </a:rPr>
              <a:t>Analysis</a:t>
            </a:r>
            <a:br>
              <a:rPr lang="en-US" sz="3200" dirty="0">
                <a:solidFill>
                  <a:srgbClr val="FFFFFF"/>
                </a:solidFill>
                <a:latin typeface="Arial" panose="020B0604020202020204" pitchFamily="34" charset="0"/>
                <a:cs typeface="Arial" panose="020B0604020202020204" pitchFamily="34" charset="0"/>
              </a:rPr>
            </a:br>
            <a:r>
              <a:rPr lang="en-US" sz="3200" dirty="0">
                <a:solidFill>
                  <a:srgbClr val="FFFFFF"/>
                </a:solidFill>
                <a:latin typeface="Arial" panose="020B0604020202020204" pitchFamily="34" charset="0"/>
                <a:cs typeface="Arial" panose="020B0604020202020204" pitchFamily="34" charset="0"/>
              </a:rPr>
              <a:t>No-Show Impact</a:t>
            </a:r>
          </a:p>
        </p:txBody>
      </p:sp>
      <p:grpSp>
        <p:nvGrpSpPr>
          <p:cNvPr id="22" name="Group 21">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3"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4"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5"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0"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pic>
        <p:nvPicPr>
          <p:cNvPr id="9" name="Picture 8" descr="A screenshot of a computer program&#10;&#10;AI-generated content may be incorrect.">
            <a:extLst>
              <a:ext uri="{FF2B5EF4-FFF2-40B4-BE49-F238E27FC236}">
                <a16:creationId xmlns:a16="http://schemas.microsoft.com/office/drawing/2014/main" id="{E4D8DBF7-241A-34C9-C8F0-8819AD2894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6584" y="1042149"/>
            <a:ext cx="8007791" cy="4164052"/>
          </a:xfrm>
          <a:prstGeom prst="rect">
            <a:avLst/>
          </a:prstGeom>
        </p:spPr>
      </p:pic>
      <p:graphicFrame>
        <p:nvGraphicFramePr>
          <p:cNvPr id="4" name="Content Placeholder 3">
            <a:extLst>
              <a:ext uri="{FF2B5EF4-FFF2-40B4-BE49-F238E27FC236}">
                <a16:creationId xmlns:a16="http://schemas.microsoft.com/office/drawing/2014/main" id="{DA3CF51A-BAD1-460E-A260-0F8BE1CFE890}"/>
              </a:ext>
            </a:extLst>
          </p:cNvPr>
          <p:cNvGraphicFramePr>
            <a:graphicFrameLocks noGrp="1"/>
          </p:cNvGraphicFramePr>
          <p:nvPr>
            <p:ph idx="1"/>
            <p:extLst>
              <p:ext uri="{D42A27DB-BD31-4B8C-83A1-F6EECF244321}">
                <p14:modId xmlns:p14="http://schemas.microsoft.com/office/powerpoint/2010/main" val="366179226"/>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844620" y="2249487"/>
          <a:ext cx="2862444" cy="395730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866728568"/>
      </p:ext>
    </p:extLst>
  </p:cSld>
  <p:clrMapOvr>
    <a:overrideClrMapping bg1="lt1" tx1="dk1" bg2="lt2" tx2="dk2" accent1="accent1" accent2="accent2" accent3="accent3" accent4="accent4" accent5="accent5" accent6="accent6" hlink="hlink" folHlink="folHlink"/>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6" name="Group 15">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8"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9"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40"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5"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2"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3"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4"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7" name="Group 16">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8"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p:nvSpPr>
          <p:cNvPr id="56" name="Rectangle 55">
            <a:extLst>
              <a:ext uri="{FF2B5EF4-FFF2-40B4-BE49-F238E27FC236}">
                <a16:creationId xmlns:a16="http://schemas.microsoft.com/office/drawing/2014/main" id="{9775AF3B-5284-4B97-9BB7-55C6FB369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A0F1F7ED-DA39-478F-85DA-317DE08941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59" name="Group 58">
              <a:extLst>
                <a:ext uri="{FF2B5EF4-FFF2-40B4-BE49-F238E27FC236}">
                  <a16:creationId xmlns:a16="http://schemas.microsoft.com/office/drawing/2014/main" id="{1DAE5903-52E8-4F25-8473-93EF4837763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71" name="Rectangle 5">
                <a:extLst>
                  <a:ext uri="{FF2B5EF4-FFF2-40B4-BE49-F238E27FC236}">
                    <a16:creationId xmlns:a16="http://schemas.microsoft.com/office/drawing/2014/main" id="{894835C1-32DE-4571-AD10-28D58CB8CFD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72" name="Freeform 6">
                <a:extLst>
                  <a:ext uri="{FF2B5EF4-FFF2-40B4-BE49-F238E27FC236}">
                    <a16:creationId xmlns:a16="http://schemas.microsoft.com/office/drawing/2014/main" id="{097A5B92-0B48-4251-9764-D34DF88920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3" name="Freeform 7">
                <a:extLst>
                  <a:ext uri="{FF2B5EF4-FFF2-40B4-BE49-F238E27FC236}">
                    <a16:creationId xmlns:a16="http://schemas.microsoft.com/office/drawing/2014/main" id="{E222BF19-57E7-43F3-A2B9-2398BEF966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4" name="Freeform 8">
                <a:extLst>
                  <a:ext uri="{FF2B5EF4-FFF2-40B4-BE49-F238E27FC236}">
                    <a16:creationId xmlns:a16="http://schemas.microsoft.com/office/drawing/2014/main" id="{60C8836E-B7D9-48A9-8FD9-4CC52AF44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5" name="Freeform 9">
                <a:extLst>
                  <a:ext uri="{FF2B5EF4-FFF2-40B4-BE49-F238E27FC236}">
                    <a16:creationId xmlns:a16="http://schemas.microsoft.com/office/drawing/2014/main" id="{8504740E-456D-4FB9-9520-4317CCFA71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6" name="Freeform 10">
                <a:extLst>
                  <a:ext uri="{FF2B5EF4-FFF2-40B4-BE49-F238E27FC236}">
                    <a16:creationId xmlns:a16="http://schemas.microsoft.com/office/drawing/2014/main" id="{1563A7B4-B1D5-4F93-AFF9-2EB78655F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7" name="Freeform 11">
                <a:extLst>
                  <a:ext uri="{FF2B5EF4-FFF2-40B4-BE49-F238E27FC236}">
                    <a16:creationId xmlns:a16="http://schemas.microsoft.com/office/drawing/2014/main" id="{D139ED24-FA37-4470-8B42-D0D00EDE1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8" name="Freeform 12">
                <a:extLst>
                  <a:ext uri="{FF2B5EF4-FFF2-40B4-BE49-F238E27FC236}">
                    <a16:creationId xmlns:a16="http://schemas.microsoft.com/office/drawing/2014/main" id="{48825AA7-BB26-45C2-93A2-1AD8D9A232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9" name="Freeform 13">
                <a:extLst>
                  <a:ext uri="{FF2B5EF4-FFF2-40B4-BE49-F238E27FC236}">
                    <a16:creationId xmlns:a16="http://schemas.microsoft.com/office/drawing/2014/main" id="{A98D0B91-D4E4-402D-8234-E96987219E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0" name="Freeform 14">
                <a:extLst>
                  <a:ext uri="{FF2B5EF4-FFF2-40B4-BE49-F238E27FC236}">
                    <a16:creationId xmlns:a16="http://schemas.microsoft.com/office/drawing/2014/main" id="{94F1DB97-3769-4DA5-9F45-47132C312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1" name="Freeform 15">
                <a:extLst>
                  <a:ext uri="{FF2B5EF4-FFF2-40B4-BE49-F238E27FC236}">
                    <a16:creationId xmlns:a16="http://schemas.microsoft.com/office/drawing/2014/main" id="{A9BC86E2-B185-4D80-81B5-A8D387E67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2" name="Line 16">
                <a:extLst>
                  <a:ext uri="{FF2B5EF4-FFF2-40B4-BE49-F238E27FC236}">
                    <a16:creationId xmlns:a16="http://schemas.microsoft.com/office/drawing/2014/main" id="{FA773F49-8CD0-46DC-B986-F2DB57BD726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83" name="Freeform 17">
                <a:extLst>
                  <a:ext uri="{FF2B5EF4-FFF2-40B4-BE49-F238E27FC236}">
                    <a16:creationId xmlns:a16="http://schemas.microsoft.com/office/drawing/2014/main" id="{8C55A009-3401-4888-93C7-4ED51CBC6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4" name="Freeform 18">
                <a:extLst>
                  <a:ext uri="{FF2B5EF4-FFF2-40B4-BE49-F238E27FC236}">
                    <a16:creationId xmlns:a16="http://schemas.microsoft.com/office/drawing/2014/main" id="{10B44829-5BB5-48C5-8492-699971FE7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5" name="Freeform 19">
                <a:extLst>
                  <a:ext uri="{FF2B5EF4-FFF2-40B4-BE49-F238E27FC236}">
                    <a16:creationId xmlns:a16="http://schemas.microsoft.com/office/drawing/2014/main" id="{30C1F9A0-4FA6-4F6F-B2D0-A1BBA41DF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6" name="Freeform 20">
                <a:extLst>
                  <a:ext uri="{FF2B5EF4-FFF2-40B4-BE49-F238E27FC236}">
                    <a16:creationId xmlns:a16="http://schemas.microsoft.com/office/drawing/2014/main" id="{01BF274F-C7B8-44B4-A183-307D8619D2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7" name="Rectangle 21">
                <a:extLst>
                  <a:ext uri="{FF2B5EF4-FFF2-40B4-BE49-F238E27FC236}">
                    <a16:creationId xmlns:a16="http://schemas.microsoft.com/office/drawing/2014/main" id="{037E8930-0F22-4558-9432-F18953E32A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88" name="Freeform 22">
                <a:extLst>
                  <a:ext uri="{FF2B5EF4-FFF2-40B4-BE49-F238E27FC236}">
                    <a16:creationId xmlns:a16="http://schemas.microsoft.com/office/drawing/2014/main" id="{9AFC3429-FF29-47FF-A4A8-317A979DB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9" name="Freeform 23">
                <a:extLst>
                  <a:ext uri="{FF2B5EF4-FFF2-40B4-BE49-F238E27FC236}">
                    <a16:creationId xmlns:a16="http://schemas.microsoft.com/office/drawing/2014/main" id="{91D48543-2C05-4768-80B1-ECA6F8850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0" name="Freeform 24">
                <a:extLst>
                  <a:ext uri="{FF2B5EF4-FFF2-40B4-BE49-F238E27FC236}">
                    <a16:creationId xmlns:a16="http://schemas.microsoft.com/office/drawing/2014/main" id="{3AC527CC-154C-4370-A25B-74AC5B4A6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1" name="Freeform 25">
                <a:extLst>
                  <a:ext uri="{FF2B5EF4-FFF2-40B4-BE49-F238E27FC236}">
                    <a16:creationId xmlns:a16="http://schemas.microsoft.com/office/drawing/2014/main" id="{798B18F5-51C9-4E50-95C5-A850EF5398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2" name="Freeform 26">
                <a:extLst>
                  <a:ext uri="{FF2B5EF4-FFF2-40B4-BE49-F238E27FC236}">
                    <a16:creationId xmlns:a16="http://schemas.microsoft.com/office/drawing/2014/main" id="{15B4CF27-638C-4979-B0FD-6263E13074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3" name="Freeform 27">
                <a:extLst>
                  <a:ext uri="{FF2B5EF4-FFF2-40B4-BE49-F238E27FC236}">
                    <a16:creationId xmlns:a16="http://schemas.microsoft.com/office/drawing/2014/main" id="{236C6A22-48A2-4442-B82D-30DB49827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4" name="Freeform 28">
                <a:extLst>
                  <a:ext uri="{FF2B5EF4-FFF2-40B4-BE49-F238E27FC236}">
                    <a16:creationId xmlns:a16="http://schemas.microsoft.com/office/drawing/2014/main" id="{1BB7BCE1-0D99-412E-ABA6-81412638E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5" name="Freeform 29">
                <a:extLst>
                  <a:ext uri="{FF2B5EF4-FFF2-40B4-BE49-F238E27FC236}">
                    <a16:creationId xmlns:a16="http://schemas.microsoft.com/office/drawing/2014/main" id="{C20E57E0-0912-44F2-93DA-75E4D13F3B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6" name="Freeform 30">
                <a:extLst>
                  <a:ext uri="{FF2B5EF4-FFF2-40B4-BE49-F238E27FC236}">
                    <a16:creationId xmlns:a16="http://schemas.microsoft.com/office/drawing/2014/main" id="{DF059390-54ED-44F4-983F-92FF36AD9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7" name="Freeform 31">
                <a:extLst>
                  <a:ext uri="{FF2B5EF4-FFF2-40B4-BE49-F238E27FC236}">
                    <a16:creationId xmlns:a16="http://schemas.microsoft.com/office/drawing/2014/main" id="{42D5E9ED-595D-443D-8CDC-D8FCD4021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60" name="Group 59">
              <a:extLst>
                <a:ext uri="{FF2B5EF4-FFF2-40B4-BE49-F238E27FC236}">
                  <a16:creationId xmlns:a16="http://schemas.microsoft.com/office/drawing/2014/main" id="{DB14A457-C54A-4F1E-91FB-0FEE49877D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61" name="Freeform 32">
                <a:extLst>
                  <a:ext uri="{FF2B5EF4-FFF2-40B4-BE49-F238E27FC236}">
                    <a16:creationId xmlns:a16="http://schemas.microsoft.com/office/drawing/2014/main" id="{791F3E2E-D393-464E-84B4-9B30D071A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2" name="Freeform 33">
                <a:extLst>
                  <a:ext uri="{FF2B5EF4-FFF2-40B4-BE49-F238E27FC236}">
                    <a16:creationId xmlns:a16="http://schemas.microsoft.com/office/drawing/2014/main" id="{EBEEAD6F-6425-4F85-A8A8-4FF19A909B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3" name="Freeform 34">
                <a:extLst>
                  <a:ext uri="{FF2B5EF4-FFF2-40B4-BE49-F238E27FC236}">
                    <a16:creationId xmlns:a16="http://schemas.microsoft.com/office/drawing/2014/main" id="{8AACA44E-9D6C-4708-8D61-D767B6620B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4" name="Freeform 35">
                <a:extLst>
                  <a:ext uri="{FF2B5EF4-FFF2-40B4-BE49-F238E27FC236}">
                    <a16:creationId xmlns:a16="http://schemas.microsoft.com/office/drawing/2014/main" id="{B6E3525F-9937-463E-872C-8EB7C62D1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5" name="Freeform 36">
                <a:extLst>
                  <a:ext uri="{FF2B5EF4-FFF2-40B4-BE49-F238E27FC236}">
                    <a16:creationId xmlns:a16="http://schemas.microsoft.com/office/drawing/2014/main" id="{BE829B0B-C602-40F1-81D1-A55332343D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6" name="Freeform 37">
                <a:extLst>
                  <a:ext uri="{FF2B5EF4-FFF2-40B4-BE49-F238E27FC236}">
                    <a16:creationId xmlns:a16="http://schemas.microsoft.com/office/drawing/2014/main" id="{92660531-24B5-4B97-A4A2-64686E235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7" name="Freeform 38">
                <a:extLst>
                  <a:ext uri="{FF2B5EF4-FFF2-40B4-BE49-F238E27FC236}">
                    <a16:creationId xmlns:a16="http://schemas.microsoft.com/office/drawing/2014/main" id="{6242D0CE-6FFD-4D17-AC26-BD3E481195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8" name="Freeform 39">
                <a:extLst>
                  <a:ext uri="{FF2B5EF4-FFF2-40B4-BE49-F238E27FC236}">
                    <a16:creationId xmlns:a16="http://schemas.microsoft.com/office/drawing/2014/main" id="{61631F37-AF37-4DB9-8D98-A08586C76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9" name="Freeform 40">
                <a:extLst>
                  <a:ext uri="{FF2B5EF4-FFF2-40B4-BE49-F238E27FC236}">
                    <a16:creationId xmlns:a16="http://schemas.microsoft.com/office/drawing/2014/main" id="{2A2597FF-2F22-40BB-A7B3-19C4DFCFFA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0" name="Rectangle 41">
                <a:extLst>
                  <a:ext uri="{FF2B5EF4-FFF2-40B4-BE49-F238E27FC236}">
                    <a16:creationId xmlns:a16="http://schemas.microsoft.com/office/drawing/2014/main" id="{DCC8773C-0113-4046-B222-C8F4080AF3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pic>
        <p:nvPicPr>
          <p:cNvPr id="99" name="Picture 2">
            <a:extLst>
              <a:ext uri="{FF2B5EF4-FFF2-40B4-BE49-F238E27FC236}">
                <a16:creationId xmlns:a16="http://schemas.microsoft.com/office/drawing/2014/main" id="{1B17CCE2-CEEF-40CA-8C4D-0DC2DCA78A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CBD29A-5723-6A38-269B-756CFB9E1A6E}"/>
              </a:ext>
            </a:extLst>
          </p:cNvPr>
          <p:cNvSpPr>
            <a:spLocks noGrp="1"/>
          </p:cNvSpPr>
          <p:nvPr>
            <p:ph type="title"/>
          </p:nvPr>
        </p:nvSpPr>
        <p:spPr>
          <a:xfrm>
            <a:off x="6569957" y="618518"/>
            <a:ext cx="4747088" cy="1478570"/>
          </a:xfrm>
        </p:spPr>
        <p:txBody>
          <a:bodyPr vert="horz" lIns="91440" tIns="45720" rIns="91440" bIns="45720" rtlCol="0" anchor="ctr">
            <a:normAutofit/>
          </a:bodyPr>
          <a:lstStyle/>
          <a:p>
            <a:r>
              <a:rPr lang="en-US" sz="3300">
                <a:solidFill>
                  <a:srgbClr val="FFFFFF"/>
                </a:solidFill>
              </a:rPr>
              <a:t>Analysis Departmental Success</a:t>
            </a:r>
          </a:p>
        </p:txBody>
      </p:sp>
      <p:sp useBgFill="1">
        <p:nvSpPr>
          <p:cNvPr id="101" name="Round Diagonal Corner Rectangle 9">
            <a:extLst>
              <a:ext uri="{FF2B5EF4-FFF2-40B4-BE49-F238E27FC236}">
                <a16:creationId xmlns:a16="http://schemas.microsoft.com/office/drawing/2014/main" id="{66D4F5BA-1D71-49B2-8A7F-6B4EB94D7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0" y="808057"/>
            <a:ext cx="5286376"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AI-generated content may be incorrect.">
            <a:extLst>
              <a:ext uri="{FF2B5EF4-FFF2-40B4-BE49-F238E27FC236}">
                <a16:creationId xmlns:a16="http://schemas.microsoft.com/office/drawing/2014/main" id="{B66CBED0-2829-089E-6FF9-ECA646E863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948" y="1561018"/>
            <a:ext cx="5286376" cy="3330069"/>
          </a:xfrm>
          <a:prstGeom prst="rect">
            <a:avLst/>
          </a:prstGeom>
        </p:spPr>
      </p:pic>
      <p:sp>
        <p:nvSpPr>
          <p:cNvPr id="4" name="Content Placeholder 3">
            <a:extLst>
              <a:ext uri="{FF2B5EF4-FFF2-40B4-BE49-F238E27FC236}">
                <a16:creationId xmlns:a16="http://schemas.microsoft.com/office/drawing/2014/main" id="{7CBDC448-D202-9CB8-A83B-2E654AD723E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69957" y="2249487"/>
            <a:ext cx="4747087" cy="3541714"/>
          </a:xfrm>
        </p:spPr>
        <p:txBody>
          <a:bodyPr>
            <a:normAutofit/>
          </a:bodyPr>
          <a:lstStyle/>
          <a:p>
            <a:pPr marL="0" indent="0">
              <a:spcBef>
                <a:spcPts val="2500"/>
              </a:spcBef>
              <a:buFont typeface="Arial" panose="020B0604020202020204" pitchFamily="34" charset="0"/>
              <a:buNone/>
            </a:pPr>
            <a:r>
              <a:rPr lang="en-US" sz="1400" b="1" dirty="0">
                <a:solidFill>
                  <a:srgbClr val="FFFFFF"/>
                </a:solidFill>
                <a:latin typeface="Arial" panose="020B0604020202020204" pitchFamily="34" charset="0"/>
                <a:cs typeface="Arial" panose="020B0604020202020204" pitchFamily="34" charset="0"/>
              </a:rPr>
              <a:t>Visit Completion Comparison</a:t>
            </a:r>
          </a:p>
          <a:p>
            <a:pPr marL="0" lvl="1" indent="0">
              <a:buFont typeface="Arial" panose="020B0604020202020204" pitchFamily="34" charset="0"/>
              <a:buNone/>
            </a:pPr>
            <a:r>
              <a:rPr lang="en-US" dirty="0">
                <a:solidFill>
                  <a:srgbClr val="FFFFFF"/>
                </a:solidFill>
                <a:latin typeface="Arial" panose="020B0604020202020204" pitchFamily="34" charset="0"/>
                <a:cs typeface="Arial" panose="020B0604020202020204" pitchFamily="34" charset="0"/>
              </a:rPr>
              <a:t>Comparing completed versus cancelled visits by </a:t>
            </a:r>
            <a:r>
              <a:rPr lang="en-GB" dirty="0">
                <a:solidFill>
                  <a:srgbClr val="FFFFFF"/>
                </a:solidFill>
                <a:latin typeface="Arial" panose="020B0604020202020204" pitchFamily="34" charset="0"/>
                <a:cs typeface="Arial" panose="020B0604020202020204" pitchFamily="34" charset="0"/>
              </a:rPr>
              <a:t>specialisation</a:t>
            </a:r>
            <a:r>
              <a:rPr lang="en-US" dirty="0">
                <a:solidFill>
                  <a:srgbClr val="FFFFFF"/>
                </a:solidFill>
                <a:latin typeface="Arial" panose="020B0604020202020204" pitchFamily="34" charset="0"/>
                <a:cs typeface="Arial" panose="020B0604020202020204" pitchFamily="34" charset="0"/>
              </a:rPr>
              <a:t> highlights departmental performance variations.</a:t>
            </a:r>
          </a:p>
          <a:p>
            <a:pPr marL="0" indent="0">
              <a:spcBef>
                <a:spcPts val="2500"/>
              </a:spcBef>
              <a:buFont typeface="Arial" panose="020B0604020202020204" pitchFamily="34" charset="0"/>
              <a:buNone/>
            </a:pPr>
            <a:r>
              <a:rPr lang="en-US" sz="1400" b="1" dirty="0">
                <a:solidFill>
                  <a:srgbClr val="FFFFFF"/>
                </a:solidFill>
                <a:latin typeface="Arial" panose="020B0604020202020204" pitchFamily="34" charset="0"/>
                <a:cs typeface="Arial" panose="020B0604020202020204" pitchFamily="34" charset="0"/>
              </a:rPr>
              <a:t>Causes of High Cancellation</a:t>
            </a:r>
          </a:p>
          <a:p>
            <a:pPr marL="0" lvl="1" indent="0">
              <a:buFont typeface="Arial" panose="020B0604020202020204" pitchFamily="34" charset="0"/>
              <a:buNone/>
            </a:pPr>
            <a:r>
              <a:rPr lang="en-US" dirty="0">
                <a:solidFill>
                  <a:srgbClr val="FFFFFF"/>
                </a:solidFill>
                <a:latin typeface="Arial" panose="020B0604020202020204" pitchFamily="34" charset="0"/>
                <a:cs typeface="Arial" panose="020B0604020202020204" pitchFamily="34" charset="0"/>
              </a:rPr>
              <a:t>High cancellation rates suggest inefficiencies or communication gaps impacting patient scheduling.</a:t>
            </a:r>
          </a:p>
          <a:p>
            <a:pPr marL="0" indent="0">
              <a:spcBef>
                <a:spcPts val="2500"/>
              </a:spcBef>
              <a:buFont typeface="Arial" panose="020B0604020202020204" pitchFamily="34" charset="0"/>
              <a:buNone/>
            </a:pPr>
            <a:r>
              <a:rPr lang="en-US" sz="1400" b="1" dirty="0">
                <a:solidFill>
                  <a:srgbClr val="FFFFFF"/>
                </a:solidFill>
                <a:latin typeface="Arial" panose="020B0604020202020204" pitchFamily="34" charset="0"/>
                <a:cs typeface="Arial" panose="020B0604020202020204" pitchFamily="34" charset="0"/>
              </a:rPr>
              <a:t>Improvement Opportunities</a:t>
            </a:r>
          </a:p>
          <a:p>
            <a:pPr marL="0" lvl="1" indent="0">
              <a:buFont typeface="Arial" panose="020B0604020202020204" pitchFamily="34" charset="0"/>
              <a:buNone/>
            </a:pPr>
            <a:r>
              <a:rPr lang="en-US" dirty="0">
                <a:solidFill>
                  <a:srgbClr val="FFFFFF"/>
                </a:solidFill>
                <a:latin typeface="Arial" panose="020B0604020202020204" pitchFamily="34" charset="0"/>
                <a:cs typeface="Arial" panose="020B0604020202020204" pitchFamily="34" charset="0"/>
              </a:rPr>
              <a:t>Analysis enables targeted improvements, resource prioritization, and service redesign to optimize operations.</a:t>
            </a:r>
          </a:p>
        </p:txBody>
      </p:sp>
    </p:spTree>
    <p:extLst>
      <p:ext uri="{BB962C8B-B14F-4D97-AF65-F5344CB8AC3E}">
        <p14:creationId xmlns:p14="http://schemas.microsoft.com/office/powerpoint/2010/main" val="96685040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72C48-0936-89D3-7E64-3DE204074F9B}"/>
              </a:ext>
            </a:extLst>
          </p:cNvPr>
          <p:cNvSpPr>
            <a:spLocks noGrp="1"/>
          </p:cNvSpPr>
          <p:nvPr>
            <p:ph type="title"/>
          </p:nvPr>
        </p:nvSpPr>
        <p:spPr/>
        <p:txBody>
          <a:bodyPr anchor="b">
            <a:normAutofit/>
          </a:bodyPr>
          <a:lstStyle/>
          <a:p>
            <a:r>
              <a:rPr lang="en-US"/>
              <a:t>Financial &amp; Insurance Performance</a:t>
            </a:r>
          </a:p>
        </p:txBody>
      </p:sp>
    </p:spTree>
    <p:extLst>
      <p:ext uri="{BB962C8B-B14F-4D97-AF65-F5344CB8AC3E}">
        <p14:creationId xmlns:p14="http://schemas.microsoft.com/office/powerpoint/2010/main" val="1836611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5" name="Group 14">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6" name="Group 15">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8"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29"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40"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3"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5"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grpSp>
          <p:nvGrpSpPr>
            <p:cNvPr id="17" name="Group 16">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8"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grpSp>
      </p:grpSp>
      <p:grpSp>
        <p:nvGrpSpPr>
          <p:cNvPr id="56" name="Group 55">
            <a:extLst>
              <a:ext uri="{FF2B5EF4-FFF2-40B4-BE49-F238E27FC236}">
                <a16:creationId xmlns:a16="http://schemas.microsoft.com/office/drawing/2014/main" id="{8E1DDAD8-1D10-4640-A034-BE90015E37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57" name="Rectangle 56">
              <a:extLst>
                <a:ext uri="{FF2B5EF4-FFF2-40B4-BE49-F238E27FC236}">
                  <a16:creationId xmlns:a16="http://schemas.microsoft.com/office/drawing/2014/main" id="{52FE7688-721D-4A97-B007-BDE056094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2">
              <a:extLst>
                <a:ext uri="{FF2B5EF4-FFF2-40B4-BE49-F238E27FC236}">
                  <a16:creationId xmlns:a16="http://schemas.microsoft.com/office/drawing/2014/main" id="{9E73A810-8571-4A9D-A3CB-336933AB4C0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5DF910BC-6216-3484-A338-B064C27A6653}"/>
              </a:ext>
            </a:extLst>
          </p:cNvPr>
          <p:cNvSpPr>
            <a:spLocks noGrp="1"/>
          </p:cNvSpPr>
          <p:nvPr>
            <p:ph type="title"/>
          </p:nvPr>
        </p:nvSpPr>
        <p:spPr>
          <a:xfrm>
            <a:off x="7962519" y="618518"/>
            <a:ext cx="3084891" cy="1478570"/>
          </a:xfrm>
        </p:spPr>
        <p:txBody>
          <a:bodyPr vert="horz" lIns="91440" tIns="45720" rIns="91440" bIns="45720" rtlCol="0" anchor="ctr">
            <a:normAutofit/>
          </a:bodyPr>
          <a:lstStyle/>
          <a:p>
            <a:r>
              <a:rPr lang="en-US" sz="3200"/>
              <a:t>Insurance Revenue Streams</a:t>
            </a:r>
          </a:p>
        </p:txBody>
      </p:sp>
      <p:pic>
        <p:nvPicPr>
          <p:cNvPr id="8" name="Picture 7" descr="A screenshot of a computer&#10;&#10;AI-generated content may be incorrect.">
            <a:extLst>
              <a:ext uri="{FF2B5EF4-FFF2-40B4-BE49-F238E27FC236}">
                <a16:creationId xmlns:a16="http://schemas.microsoft.com/office/drawing/2014/main" id="{934F4ACA-109E-1893-ED79-70F88DA5E893}"/>
              </a:ext>
            </a:extLst>
          </p:cNvPr>
          <p:cNvPicPr>
            <a:picLocks noChangeAspect="1"/>
          </p:cNvPicPr>
          <p:nvPr/>
        </p:nvPicPr>
        <p:blipFill>
          <a:blip r:embed="rId5">
            <a:extLst>
              <a:ext uri="{28A0092B-C50C-407E-A947-70E740481C1C}">
                <a14:useLocalDpi xmlns:a14="http://schemas.microsoft.com/office/drawing/2010/main" val="0"/>
              </a:ext>
            </a:extLst>
          </a:blip>
          <a:srcRect r="43791" b="1"/>
          <a:stretch>
            <a:fillRect/>
          </a:stretch>
        </p:blipFill>
        <p:spPr>
          <a:xfrm>
            <a:off x="-5597" y="10"/>
            <a:ext cx="7558541" cy="6857990"/>
          </a:xfrm>
          <a:prstGeom prst="rect">
            <a:avLst/>
          </a:prstGeom>
        </p:spPr>
      </p:pic>
      <p:grpSp>
        <p:nvGrpSpPr>
          <p:cNvPr id="60" name="Group 59">
            <a:extLst>
              <a:ext uri="{FF2B5EF4-FFF2-40B4-BE49-F238E27FC236}">
                <a16:creationId xmlns:a16="http://schemas.microsoft.com/office/drawing/2014/main" id="{FD642FB6-2808-4BC5-AE0B-7302C24B78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61" name="Rectangle 60">
              <a:extLst>
                <a:ext uri="{FF2B5EF4-FFF2-40B4-BE49-F238E27FC236}">
                  <a16:creationId xmlns:a16="http://schemas.microsoft.com/office/drawing/2014/main" id="{0B0B8F04-D9A7-48E5-A29C-51A66B59DFF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62" name="Freeform 6">
              <a:extLst>
                <a:ext uri="{FF2B5EF4-FFF2-40B4-BE49-F238E27FC236}">
                  <a16:creationId xmlns:a16="http://schemas.microsoft.com/office/drawing/2014/main" id="{D6D18883-6BFF-42BB-8088-FCCF83F9CF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7">
              <a:extLst>
                <a:ext uri="{FF2B5EF4-FFF2-40B4-BE49-F238E27FC236}">
                  <a16:creationId xmlns:a16="http://schemas.microsoft.com/office/drawing/2014/main" id="{1D0FEFB3-A009-4D0F-9107-C0B17786FB0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Rectangle 63">
              <a:extLst>
                <a:ext uri="{FF2B5EF4-FFF2-40B4-BE49-F238E27FC236}">
                  <a16:creationId xmlns:a16="http://schemas.microsoft.com/office/drawing/2014/main" id="{78E86C7F-B981-4448-8A1A-856F7124FF4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65" name="Freeform 9">
              <a:extLst>
                <a:ext uri="{FF2B5EF4-FFF2-40B4-BE49-F238E27FC236}">
                  <a16:creationId xmlns:a16="http://schemas.microsoft.com/office/drawing/2014/main" id="{4C6CFFD9-BA00-4184-8310-5FC9550954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10">
              <a:extLst>
                <a:ext uri="{FF2B5EF4-FFF2-40B4-BE49-F238E27FC236}">
                  <a16:creationId xmlns:a16="http://schemas.microsoft.com/office/drawing/2014/main" id="{A1892DF3-4848-496C-8664-DFD32EE25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11">
              <a:extLst>
                <a:ext uri="{FF2B5EF4-FFF2-40B4-BE49-F238E27FC236}">
                  <a16:creationId xmlns:a16="http://schemas.microsoft.com/office/drawing/2014/main" id="{D6DB8C30-651E-4D8F-A70C-163FC5842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8" name="Freeform 12">
              <a:extLst>
                <a:ext uri="{FF2B5EF4-FFF2-40B4-BE49-F238E27FC236}">
                  <a16:creationId xmlns:a16="http://schemas.microsoft.com/office/drawing/2014/main" id="{563DFB81-F969-4F44-BA6C-6347956423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9" name="Freeform 13">
              <a:extLst>
                <a:ext uri="{FF2B5EF4-FFF2-40B4-BE49-F238E27FC236}">
                  <a16:creationId xmlns:a16="http://schemas.microsoft.com/office/drawing/2014/main" id="{8E5DE346-AFCA-40DA-B5E2-93A86EA54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0" name="Freeform 14">
              <a:extLst>
                <a:ext uri="{FF2B5EF4-FFF2-40B4-BE49-F238E27FC236}">
                  <a16:creationId xmlns:a16="http://schemas.microsoft.com/office/drawing/2014/main" id="{77A34306-2AE8-43D0-9686-E97B3B53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1" name="Freeform 15">
              <a:extLst>
                <a:ext uri="{FF2B5EF4-FFF2-40B4-BE49-F238E27FC236}">
                  <a16:creationId xmlns:a16="http://schemas.microsoft.com/office/drawing/2014/main" id="{B9CC10F0-FFCD-4CB9-AF4C-22722D20B7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2" name="Freeform 16">
              <a:extLst>
                <a:ext uri="{FF2B5EF4-FFF2-40B4-BE49-F238E27FC236}">
                  <a16:creationId xmlns:a16="http://schemas.microsoft.com/office/drawing/2014/main" id="{2A6B0E38-C962-4491-BFDA-75378B4D67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3" name="Freeform 17">
              <a:extLst>
                <a:ext uri="{FF2B5EF4-FFF2-40B4-BE49-F238E27FC236}">
                  <a16:creationId xmlns:a16="http://schemas.microsoft.com/office/drawing/2014/main" id="{655F640B-8407-487C-8696-F47451478E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4" name="Freeform 18">
              <a:extLst>
                <a:ext uri="{FF2B5EF4-FFF2-40B4-BE49-F238E27FC236}">
                  <a16:creationId xmlns:a16="http://schemas.microsoft.com/office/drawing/2014/main" id="{FAB4F099-4FF6-4410-A5B9-2A5355719C9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5" name="Freeform 19">
              <a:extLst>
                <a:ext uri="{FF2B5EF4-FFF2-40B4-BE49-F238E27FC236}">
                  <a16:creationId xmlns:a16="http://schemas.microsoft.com/office/drawing/2014/main" id="{6FE80B6E-3DA9-4304-9925-12E578C4E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6" name="Freeform 20">
              <a:extLst>
                <a:ext uri="{FF2B5EF4-FFF2-40B4-BE49-F238E27FC236}">
                  <a16:creationId xmlns:a16="http://schemas.microsoft.com/office/drawing/2014/main" id="{67D1CB75-0CBA-4E13-924C-21F221D7BF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7" name="Freeform 21">
              <a:extLst>
                <a:ext uri="{FF2B5EF4-FFF2-40B4-BE49-F238E27FC236}">
                  <a16:creationId xmlns:a16="http://schemas.microsoft.com/office/drawing/2014/main" id="{F2CC783B-FA45-4777-A76A-982B285C7C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8" name="Freeform 22">
              <a:extLst>
                <a:ext uri="{FF2B5EF4-FFF2-40B4-BE49-F238E27FC236}">
                  <a16:creationId xmlns:a16="http://schemas.microsoft.com/office/drawing/2014/main" id="{D68F4DD3-D736-4B78-972E-F5128CFBE7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9" name="Freeform 23">
              <a:extLst>
                <a:ext uri="{FF2B5EF4-FFF2-40B4-BE49-F238E27FC236}">
                  <a16:creationId xmlns:a16="http://schemas.microsoft.com/office/drawing/2014/main" id="{B14AF103-15B3-4796-A71A-297D37E176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0" name="Freeform 24">
              <a:extLst>
                <a:ext uri="{FF2B5EF4-FFF2-40B4-BE49-F238E27FC236}">
                  <a16:creationId xmlns:a16="http://schemas.microsoft.com/office/drawing/2014/main" id="{B0B240FB-0453-4B6F-9F9B-C2C3305AC5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1" name="Freeform 25">
              <a:extLst>
                <a:ext uri="{FF2B5EF4-FFF2-40B4-BE49-F238E27FC236}">
                  <a16:creationId xmlns:a16="http://schemas.microsoft.com/office/drawing/2014/main" id="{EBBBDCEE-433E-40F3-B49D-375CB162A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2" name="Freeform 26">
              <a:extLst>
                <a:ext uri="{FF2B5EF4-FFF2-40B4-BE49-F238E27FC236}">
                  <a16:creationId xmlns:a16="http://schemas.microsoft.com/office/drawing/2014/main" id="{09B123C6-141E-4A37-B5A7-27E7764FA1F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3" name="Freeform 27">
              <a:extLst>
                <a:ext uri="{FF2B5EF4-FFF2-40B4-BE49-F238E27FC236}">
                  <a16:creationId xmlns:a16="http://schemas.microsoft.com/office/drawing/2014/main" id="{1FA1F521-36A1-49FF-84A7-229E8970F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4" name="Freeform 28">
              <a:extLst>
                <a:ext uri="{FF2B5EF4-FFF2-40B4-BE49-F238E27FC236}">
                  <a16:creationId xmlns:a16="http://schemas.microsoft.com/office/drawing/2014/main" id="{DE512F89-D901-4487-A42C-02345EC5FC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5" name="Freeform 29">
              <a:extLst>
                <a:ext uri="{FF2B5EF4-FFF2-40B4-BE49-F238E27FC236}">
                  <a16:creationId xmlns:a16="http://schemas.microsoft.com/office/drawing/2014/main" id="{ED3ED0E5-3226-4B78-B3EA-C591824B8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6" name="Freeform 30">
              <a:extLst>
                <a:ext uri="{FF2B5EF4-FFF2-40B4-BE49-F238E27FC236}">
                  <a16:creationId xmlns:a16="http://schemas.microsoft.com/office/drawing/2014/main" id="{9CBB1F68-B6DE-4ECF-B20F-328F9811E2F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7" name="Freeform 31">
              <a:extLst>
                <a:ext uri="{FF2B5EF4-FFF2-40B4-BE49-F238E27FC236}">
                  <a16:creationId xmlns:a16="http://schemas.microsoft.com/office/drawing/2014/main" id="{A566C551-9523-4D97-A8CF-5C91F436C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8" name="Freeform 32">
              <a:extLst>
                <a:ext uri="{FF2B5EF4-FFF2-40B4-BE49-F238E27FC236}">
                  <a16:creationId xmlns:a16="http://schemas.microsoft.com/office/drawing/2014/main" id="{9E166BA0-9268-4419-9332-2D30C21239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89" name="Rectangle 88">
              <a:extLst>
                <a:ext uri="{FF2B5EF4-FFF2-40B4-BE49-F238E27FC236}">
                  <a16:creationId xmlns:a16="http://schemas.microsoft.com/office/drawing/2014/main" id="{B700C031-AA54-4DC7-B8A2-2569B3FA653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90" name="Freeform 34">
              <a:extLst>
                <a:ext uri="{FF2B5EF4-FFF2-40B4-BE49-F238E27FC236}">
                  <a16:creationId xmlns:a16="http://schemas.microsoft.com/office/drawing/2014/main" id="{03045EC8-ECC8-473F-8786-DE266F05B1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1" name="Freeform 35">
              <a:extLst>
                <a:ext uri="{FF2B5EF4-FFF2-40B4-BE49-F238E27FC236}">
                  <a16:creationId xmlns:a16="http://schemas.microsoft.com/office/drawing/2014/main" id="{9337EBA2-5088-4A44-8C0B-A6EE78989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2" name="Freeform 36">
              <a:extLst>
                <a:ext uri="{FF2B5EF4-FFF2-40B4-BE49-F238E27FC236}">
                  <a16:creationId xmlns:a16="http://schemas.microsoft.com/office/drawing/2014/main" id="{3486A705-2593-45C9-A13E-8E2FB7C35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3" name="Freeform 37">
              <a:extLst>
                <a:ext uri="{FF2B5EF4-FFF2-40B4-BE49-F238E27FC236}">
                  <a16:creationId xmlns:a16="http://schemas.microsoft.com/office/drawing/2014/main" id="{F357321C-6DEE-4D02-A997-75E47EE0E0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4" name="Freeform 38">
              <a:extLst>
                <a:ext uri="{FF2B5EF4-FFF2-40B4-BE49-F238E27FC236}">
                  <a16:creationId xmlns:a16="http://schemas.microsoft.com/office/drawing/2014/main" id="{D0B8F87F-3530-4BCD-A8E5-C1B83707B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5" name="Freeform 39">
              <a:extLst>
                <a:ext uri="{FF2B5EF4-FFF2-40B4-BE49-F238E27FC236}">
                  <a16:creationId xmlns:a16="http://schemas.microsoft.com/office/drawing/2014/main" id="{5BE86BA3-AB0E-4F70-A552-0D9EB9E98E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6" name="Freeform 40">
              <a:extLst>
                <a:ext uri="{FF2B5EF4-FFF2-40B4-BE49-F238E27FC236}">
                  <a16:creationId xmlns:a16="http://schemas.microsoft.com/office/drawing/2014/main" id="{DF5FE773-B9AE-4A3F-8EDC-165CE579BD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7" name="Freeform 41">
              <a:extLst>
                <a:ext uri="{FF2B5EF4-FFF2-40B4-BE49-F238E27FC236}">
                  <a16:creationId xmlns:a16="http://schemas.microsoft.com/office/drawing/2014/main" id="{4A03D7BE-B358-4F8B-85EA-65E0CBF2D1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8" name="Freeform 42">
              <a:extLst>
                <a:ext uri="{FF2B5EF4-FFF2-40B4-BE49-F238E27FC236}">
                  <a16:creationId xmlns:a16="http://schemas.microsoft.com/office/drawing/2014/main" id="{A6548877-0957-435B-A419-389A278E57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99" name="Freeform 43">
              <a:extLst>
                <a:ext uri="{FF2B5EF4-FFF2-40B4-BE49-F238E27FC236}">
                  <a16:creationId xmlns:a16="http://schemas.microsoft.com/office/drawing/2014/main" id="{B2D5EA95-9E60-468A-8DA1-40F05C9BDA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0" name="Freeform 44">
              <a:extLst>
                <a:ext uri="{FF2B5EF4-FFF2-40B4-BE49-F238E27FC236}">
                  <a16:creationId xmlns:a16="http://schemas.microsoft.com/office/drawing/2014/main" id="{C9B409CE-11E5-40D1-8C9B-86614EAE2A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1" name="Rectangle 100">
              <a:extLst>
                <a:ext uri="{FF2B5EF4-FFF2-40B4-BE49-F238E27FC236}">
                  <a16:creationId xmlns:a16="http://schemas.microsoft.com/office/drawing/2014/main" id="{9E594AF5-DB50-4227-AC2F-10EE5233C41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02" name="Freeform 46">
              <a:extLst>
                <a:ext uri="{FF2B5EF4-FFF2-40B4-BE49-F238E27FC236}">
                  <a16:creationId xmlns:a16="http://schemas.microsoft.com/office/drawing/2014/main" id="{9335DCAF-74A2-4994-B5BF-1C079A40A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3" name="Freeform 47">
              <a:extLst>
                <a:ext uri="{FF2B5EF4-FFF2-40B4-BE49-F238E27FC236}">
                  <a16:creationId xmlns:a16="http://schemas.microsoft.com/office/drawing/2014/main" id="{1DC8E1A2-0C6B-4BA9-85F4-3645AED5DE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4" name="Freeform 48">
              <a:extLst>
                <a:ext uri="{FF2B5EF4-FFF2-40B4-BE49-F238E27FC236}">
                  <a16:creationId xmlns:a16="http://schemas.microsoft.com/office/drawing/2014/main" id="{28F38DE0-3BEE-441A-8212-E77DA2328A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5" name="Freeform 49">
              <a:extLst>
                <a:ext uri="{FF2B5EF4-FFF2-40B4-BE49-F238E27FC236}">
                  <a16:creationId xmlns:a16="http://schemas.microsoft.com/office/drawing/2014/main" id="{AE81208E-D239-496C-A312-506B0241B3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6" name="Freeform 50">
              <a:extLst>
                <a:ext uri="{FF2B5EF4-FFF2-40B4-BE49-F238E27FC236}">
                  <a16:creationId xmlns:a16="http://schemas.microsoft.com/office/drawing/2014/main" id="{242FE966-DDA4-4668-B8D6-C4B0D4C78E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7" name="Freeform 51">
              <a:extLst>
                <a:ext uri="{FF2B5EF4-FFF2-40B4-BE49-F238E27FC236}">
                  <a16:creationId xmlns:a16="http://schemas.microsoft.com/office/drawing/2014/main" id="{FB0A5F60-550F-4025-9DCE-6F42A7C064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8" name="Freeform 52">
              <a:extLst>
                <a:ext uri="{FF2B5EF4-FFF2-40B4-BE49-F238E27FC236}">
                  <a16:creationId xmlns:a16="http://schemas.microsoft.com/office/drawing/2014/main" id="{D7B61D18-4A61-44C9-A809-40639E8C1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09" name="Freeform 53">
              <a:extLst>
                <a:ext uri="{FF2B5EF4-FFF2-40B4-BE49-F238E27FC236}">
                  <a16:creationId xmlns:a16="http://schemas.microsoft.com/office/drawing/2014/main" id="{CB26E7EB-DC12-4BA7-B5DE-09EF2C1D0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10" name="Freeform 54">
              <a:extLst>
                <a:ext uri="{FF2B5EF4-FFF2-40B4-BE49-F238E27FC236}">
                  <a16:creationId xmlns:a16="http://schemas.microsoft.com/office/drawing/2014/main" id="{921237B4-9D85-4611-851F-5DBD71544A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11" name="Freeform 55">
              <a:extLst>
                <a:ext uri="{FF2B5EF4-FFF2-40B4-BE49-F238E27FC236}">
                  <a16:creationId xmlns:a16="http://schemas.microsoft.com/office/drawing/2014/main" id="{C91509DE-9FAA-4E84-BCC1-CDDBEA8AC0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12" name="Freeform 56">
              <a:extLst>
                <a:ext uri="{FF2B5EF4-FFF2-40B4-BE49-F238E27FC236}">
                  <a16:creationId xmlns:a16="http://schemas.microsoft.com/office/drawing/2014/main" id="{C7029B06-6A09-4E46-BA86-F3C66DBDD4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13" name="Freeform 57">
              <a:extLst>
                <a:ext uri="{FF2B5EF4-FFF2-40B4-BE49-F238E27FC236}">
                  <a16:creationId xmlns:a16="http://schemas.microsoft.com/office/drawing/2014/main" id="{FF4ACFBF-D1F2-47B1-B0EB-F08C6508BD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14" name="Freeform 58">
              <a:extLst>
                <a:ext uri="{FF2B5EF4-FFF2-40B4-BE49-F238E27FC236}">
                  <a16:creationId xmlns:a16="http://schemas.microsoft.com/office/drawing/2014/main" id="{A6FD1991-3A0E-4F63-BAD9-A98C298604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4" name="Content Placeholder 3">
            <a:extLst>
              <a:ext uri="{FF2B5EF4-FFF2-40B4-BE49-F238E27FC236}">
                <a16:creationId xmlns:a16="http://schemas.microsoft.com/office/drawing/2014/main" id="{B19304E6-0C41-1D48-FEB8-0FA42F982C9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62519" y="2249487"/>
            <a:ext cx="3084892" cy="3541714"/>
          </a:xfrm>
        </p:spPr>
        <p:txBody>
          <a:bodyPr>
            <a:normAutofit/>
          </a:bodyPr>
          <a:lstStyle/>
          <a:p>
            <a:pPr marL="0" indent="0">
              <a:lnSpc>
                <a:spcPct val="110000"/>
              </a:lnSpc>
              <a:spcBef>
                <a:spcPts val="2500"/>
              </a:spcBef>
              <a:buFont typeface="Arial" panose="020B0604020202020204" pitchFamily="34" charset="0"/>
              <a:buNone/>
            </a:pPr>
            <a:r>
              <a:rPr lang="en-US" sz="1300" b="1">
                <a:latin typeface="Arial" panose="020B0604020202020204" pitchFamily="34" charset="0"/>
                <a:cs typeface="Arial" panose="020B0604020202020204" pitchFamily="34" charset="0"/>
              </a:rPr>
              <a:t>Ranking Insurance Providers</a:t>
            </a:r>
          </a:p>
          <a:p>
            <a:pPr marL="0" lvl="1" indent="0">
              <a:lnSpc>
                <a:spcPct val="110000"/>
              </a:lnSpc>
              <a:buFont typeface="Arial" panose="020B0604020202020204" pitchFamily="34" charset="0"/>
              <a:buNone/>
            </a:pPr>
            <a:r>
              <a:rPr lang="en-US" sz="1300">
                <a:latin typeface="Arial" panose="020B0604020202020204" pitchFamily="34" charset="0"/>
                <a:cs typeface="Arial" panose="020B0604020202020204" pitchFamily="34" charset="0"/>
              </a:rPr>
              <a:t>The analysis ranks insurers by total payments and claim counts to identify major revenue sources.</a:t>
            </a:r>
          </a:p>
          <a:p>
            <a:pPr marL="0" indent="0">
              <a:lnSpc>
                <a:spcPct val="110000"/>
              </a:lnSpc>
              <a:spcBef>
                <a:spcPts val="2500"/>
              </a:spcBef>
              <a:buFont typeface="Arial" panose="020B0604020202020204" pitchFamily="34" charset="0"/>
              <a:buNone/>
            </a:pPr>
            <a:r>
              <a:rPr lang="en-US" sz="1300" b="1">
                <a:latin typeface="Arial" panose="020B0604020202020204" pitchFamily="34" charset="0"/>
                <a:cs typeface="Arial" panose="020B0604020202020204" pitchFamily="34" charset="0"/>
              </a:rPr>
              <a:t>Revenue Contribution Insights</a:t>
            </a:r>
          </a:p>
          <a:p>
            <a:pPr marL="0" lvl="1" indent="0">
              <a:lnSpc>
                <a:spcPct val="110000"/>
              </a:lnSpc>
              <a:buFont typeface="Arial" panose="020B0604020202020204" pitchFamily="34" charset="0"/>
              <a:buNone/>
            </a:pPr>
            <a:r>
              <a:rPr lang="en-US" sz="1300">
                <a:latin typeface="Arial" panose="020B0604020202020204" pitchFamily="34" charset="0"/>
                <a:cs typeface="Arial" panose="020B0604020202020204" pitchFamily="34" charset="0"/>
              </a:rPr>
              <a:t>Understanding payer mix helps hospitals manage contracts and reimbursement strategies effectively.</a:t>
            </a:r>
          </a:p>
          <a:p>
            <a:pPr marL="0" indent="0">
              <a:lnSpc>
                <a:spcPct val="110000"/>
              </a:lnSpc>
              <a:spcBef>
                <a:spcPts val="2500"/>
              </a:spcBef>
              <a:buFont typeface="Arial" panose="020B0604020202020204" pitchFamily="34" charset="0"/>
              <a:buNone/>
            </a:pPr>
            <a:r>
              <a:rPr lang="en-US" sz="1300" b="1">
                <a:latin typeface="Arial" panose="020B0604020202020204" pitchFamily="34" charset="0"/>
                <a:cs typeface="Arial" panose="020B0604020202020204" pitchFamily="34" charset="0"/>
              </a:rPr>
              <a:t>Financial Planning Support</a:t>
            </a:r>
          </a:p>
          <a:p>
            <a:pPr marL="0" lvl="1" indent="0">
              <a:lnSpc>
                <a:spcPct val="110000"/>
              </a:lnSpc>
              <a:buFont typeface="Arial" panose="020B0604020202020204" pitchFamily="34" charset="0"/>
              <a:buNone/>
            </a:pPr>
            <a:r>
              <a:rPr lang="en-US" sz="1300">
                <a:latin typeface="Arial" panose="020B0604020202020204" pitchFamily="34" charset="0"/>
                <a:cs typeface="Arial" panose="020B0604020202020204" pitchFamily="34" charset="0"/>
              </a:rPr>
              <a:t>Insights from insurer data assist in financial planning and risk management for hospitals.</a:t>
            </a:r>
          </a:p>
        </p:txBody>
      </p:sp>
    </p:spTree>
    <p:extLst>
      <p:ext uri="{BB962C8B-B14F-4D97-AF65-F5344CB8AC3E}">
        <p14:creationId xmlns:p14="http://schemas.microsoft.com/office/powerpoint/2010/main" val="530368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6"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5277BA4-6B85-BF93-EDA1-A8F8853EA552}"/>
              </a:ext>
            </a:extLst>
          </p:cNvPr>
          <p:cNvSpPr>
            <a:spLocks noGrp="1"/>
          </p:cNvSpPr>
          <p:nvPr>
            <p:ph type="title"/>
          </p:nvPr>
        </p:nvSpPr>
        <p:spPr>
          <a:xfrm>
            <a:off x="855266" y="618518"/>
            <a:ext cx="2851417" cy="1478570"/>
          </a:xfrm>
        </p:spPr>
        <p:txBody>
          <a:bodyPr>
            <a:normAutofit/>
          </a:bodyPr>
          <a:lstStyle/>
          <a:p>
            <a:r>
              <a:rPr lang="en-US" sz="3200">
                <a:solidFill>
                  <a:srgbClr val="FFFFFF"/>
                </a:solidFill>
                <a:latin typeface="Arial" panose="020B0604020202020204" pitchFamily="34" charset="0"/>
                <a:cs typeface="Arial" panose="020B0604020202020204" pitchFamily="34" charset="0"/>
              </a:rPr>
              <a:t>Aging Accounts Receivable</a:t>
            </a:r>
          </a:p>
        </p:txBody>
      </p:sp>
      <p:grpSp>
        <p:nvGrpSpPr>
          <p:cNvPr id="18" name="Group 17">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19"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0"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1"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36"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pic>
        <p:nvPicPr>
          <p:cNvPr id="5" name="Picture 4" descr="A screenshot of a computer&#10;&#10;AI-generated content may be incorrect.">
            <a:extLst>
              <a:ext uri="{FF2B5EF4-FFF2-40B4-BE49-F238E27FC236}">
                <a16:creationId xmlns:a16="http://schemas.microsoft.com/office/drawing/2014/main" id="{AABF58FE-5237-4081-D9DE-037AA00727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8819" y="643467"/>
            <a:ext cx="4889963" cy="5566562"/>
          </a:xfrm>
          <a:prstGeom prst="rect">
            <a:avLst/>
          </a:prstGeom>
        </p:spPr>
      </p:pic>
      <p:graphicFrame>
        <p:nvGraphicFramePr>
          <p:cNvPr id="4" name="Content Placeholder 3">
            <a:extLst>
              <a:ext uri="{FF2B5EF4-FFF2-40B4-BE49-F238E27FC236}">
                <a16:creationId xmlns:a16="http://schemas.microsoft.com/office/drawing/2014/main" id="{5155F740-EF8A-40FB-8497-4BAD2DFFF349}"/>
              </a:ext>
            </a:extLst>
          </p:cNvPr>
          <p:cNvGraphicFramePr>
            <a:graphicFrameLocks noGrp="1"/>
          </p:cNvGraphicFramePr>
          <p:nvPr>
            <p:ph idx="1"/>
            <p:extLst>
              <p:ext uri="{D42A27DB-BD31-4B8C-83A1-F6EECF244321}">
                <p14:modId xmlns:p14="http://schemas.microsoft.com/office/powerpoint/2010/main" val="257249299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69947" y="2249825"/>
          <a:ext cx="3485674" cy="395730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93947103"/>
      </p:ext>
    </p:extLst>
  </p:cSld>
  <p:clrMapOvr>
    <a:overrideClrMapping bg1="lt1" tx1="dk1" bg2="lt2" tx2="dk2" accent1="accent1" accent2="accent2" accent3="accent3" accent4="accent4" accent5="accent5" accent6="accent6" hlink="hlink" folHlink="folHlink"/>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6" name="Group 15">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8"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9"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40"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5"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2"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3"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4"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7" name="Group 16">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8"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p:nvSpPr>
          <p:cNvPr id="56" name="Rectangle 55">
            <a:extLst>
              <a:ext uri="{FF2B5EF4-FFF2-40B4-BE49-F238E27FC236}">
                <a16:creationId xmlns:a16="http://schemas.microsoft.com/office/drawing/2014/main" id="{9775AF3B-5284-4B97-9BB7-55C6FB369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A0F1F7ED-DA39-478F-85DA-317DE08941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59" name="Group 58">
              <a:extLst>
                <a:ext uri="{FF2B5EF4-FFF2-40B4-BE49-F238E27FC236}">
                  <a16:creationId xmlns:a16="http://schemas.microsoft.com/office/drawing/2014/main" id="{1DAE5903-52E8-4F25-8473-93EF4837763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71" name="Rectangle 5">
                <a:extLst>
                  <a:ext uri="{FF2B5EF4-FFF2-40B4-BE49-F238E27FC236}">
                    <a16:creationId xmlns:a16="http://schemas.microsoft.com/office/drawing/2014/main" id="{894835C1-32DE-4571-AD10-28D58CB8CFD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72" name="Freeform 6">
                <a:extLst>
                  <a:ext uri="{FF2B5EF4-FFF2-40B4-BE49-F238E27FC236}">
                    <a16:creationId xmlns:a16="http://schemas.microsoft.com/office/drawing/2014/main" id="{097A5B92-0B48-4251-9764-D34DF88920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3" name="Freeform 7">
                <a:extLst>
                  <a:ext uri="{FF2B5EF4-FFF2-40B4-BE49-F238E27FC236}">
                    <a16:creationId xmlns:a16="http://schemas.microsoft.com/office/drawing/2014/main" id="{E222BF19-57E7-43F3-A2B9-2398BEF966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4" name="Freeform 8">
                <a:extLst>
                  <a:ext uri="{FF2B5EF4-FFF2-40B4-BE49-F238E27FC236}">
                    <a16:creationId xmlns:a16="http://schemas.microsoft.com/office/drawing/2014/main" id="{60C8836E-B7D9-48A9-8FD9-4CC52AF44D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5" name="Freeform 9">
                <a:extLst>
                  <a:ext uri="{FF2B5EF4-FFF2-40B4-BE49-F238E27FC236}">
                    <a16:creationId xmlns:a16="http://schemas.microsoft.com/office/drawing/2014/main" id="{8504740E-456D-4FB9-9520-4317CCFA71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6" name="Freeform 10">
                <a:extLst>
                  <a:ext uri="{FF2B5EF4-FFF2-40B4-BE49-F238E27FC236}">
                    <a16:creationId xmlns:a16="http://schemas.microsoft.com/office/drawing/2014/main" id="{1563A7B4-B1D5-4F93-AFF9-2EB78655F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7" name="Freeform 11">
                <a:extLst>
                  <a:ext uri="{FF2B5EF4-FFF2-40B4-BE49-F238E27FC236}">
                    <a16:creationId xmlns:a16="http://schemas.microsoft.com/office/drawing/2014/main" id="{D139ED24-FA37-4470-8B42-D0D00EDE1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8" name="Freeform 12">
                <a:extLst>
                  <a:ext uri="{FF2B5EF4-FFF2-40B4-BE49-F238E27FC236}">
                    <a16:creationId xmlns:a16="http://schemas.microsoft.com/office/drawing/2014/main" id="{48825AA7-BB26-45C2-93A2-1AD8D9A232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9" name="Freeform 13">
                <a:extLst>
                  <a:ext uri="{FF2B5EF4-FFF2-40B4-BE49-F238E27FC236}">
                    <a16:creationId xmlns:a16="http://schemas.microsoft.com/office/drawing/2014/main" id="{A98D0B91-D4E4-402D-8234-E96987219E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0" name="Freeform 14">
                <a:extLst>
                  <a:ext uri="{FF2B5EF4-FFF2-40B4-BE49-F238E27FC236}">
                    <a16:creationId xmlns:a16="http://schemas.microsoft.com/office/drawing/2014/main" id="{94F1DB97-3769-4DA5-9F45-47132C312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1" name="Freeform 15">
                <a:extLst>
                  <a:ext uri="{FF2B5EF4-FFF2-40B4-BE49-F238E27FC236}">
                    <a16:creationId xmlns:a16="http://schemas.microsoft.com/office/drawing/2014/main" id="{A9BC86E2-B185-4D80-81B5-A8D387E67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2" name="Line 16">
                <a:extLst>
                  <a:ext uri="{FF2B5EF4-FFF2-40B4-BE49-F238E27FC236}">
                    <a16:creationId xmlns:a16="http://schemas.microsoft.com/office/drawing/2014/main" id="{FA773F49-8CD0-46DC-B986-F2DB57BD726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83" name="Freeform 17">
                <a:extLst>
                  <a:ext uri="{FF2B5EF4-FFF2-40B4-BE49-F238E27FC236}">
                    <a16:creationId xmlns:a16="http://schemas.microsoft.com/office/drawing/2014/main" id="{8C55A009-3401-4888-93C7-4ED51CBC6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4" name="Freeform 18">
                <a:extLst>
                  <a:ext uri="{FF2B5EF4-FFF2-40B4-BE49-F238E27FC236}">
                    <a16:creationId xmlns:a16="http://schemas.microsoft.com/office/drawing/2014/main" id="{10B44829-5BB5-48C5-8492-699971FE7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5" name="Freeform 19">
                <a:extLst>
                  <a:ext uri="{FF2B5EF4-FFF2-40B4-BE49-F238E27FC236}">
                    <a16:creationId xmlns:a16="http://schemas.microsoft.com/office/drawing/2014/main" id="{30C1F9A0-4FA6-4F6F-B2D0-A1BBA41DF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6" name="Freeform 20">
                <a:extLst>
                  <a:ext uri="{FF2B5EF4-FFF2-40B4-BE49-F238E27FC236}">
                    <a16:creationId xmlns:a16="http://schemas.microsoft.com/office/drawing/2014/main" id="{01BF274F-C7B8-44B4-A183-307D8619D27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7" name="Rectangle 21">
                <a:extLst>
                  <a:ext uri="{FF2B5EF4-FFF2-40B4-BE49-F238E27FC236}">
                    <a16:creationId xmlns:a16="http://schemas.microsoft.com/office/drawing/2014/main" id="{037E8930-0F22-4558-9432-F18953E32A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88" name="Freeform 22">
                <a:extLst>
                  <a:ext uri="{FF2B5EF4-FFF2-40B4-BE49-F238E27FC236}">
                    <a16:creationId xmlns:a16="http://schemas.microsoft.com/office/drawing/2014/main" id="{9AFC3429-FF29-47FF-A4A8-317A979DB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9" name="Freeform 23">
                <a:extLst>
                  <a:ext uri="{FF2B5EF4-FFF2-40B4-BE49-F238E27FC236}">
                    <a16:creationId xmlns:a16="http://schemas.microsoft.com/office/drawing/2014/main" id="{91D48543-2C05-4768-80B1-ECA6F88508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0" name="Freeform 24">
                <a:extLst>
                  <a:ext uri="{FF2B5EF4-FFF2-40B4-BE49-F238E27FC236}">
                    <a16:creationId xmlns:a16="http://schemas.microsoft.com/office/drawing/2014/main" id="{3AC527CC-154C-4370-A25B-74AC5B4A6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1" name="Freeform 25">
                <a:extLst>
                  <a:ext uri="{FF2B5EF4-FFF2-40B4-BE49-F238E27FC236}">
                    <a16:creationId xmlns:a16="http://schemas.microsoft.com/office/drawing/2014/main" id="{798B18F5-51C9-4E50-95C5-A850EF5398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2" name="Freeform 26">
                <a:extLst>
                  <a:ext uri="{FF2B5EF4-FFF2-40B4-BE49-F238E27FC236}">
                    <a16:creationId xmlns:a16="http://schemas.microsoft.com/office/drawing/2014/main" id="{15B4CF27-638C-4979-B0FD-6263E13074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3" name="Freeform 27">
                <a:extLst>
                  <a:ext uri="{FF2B5EF4-FFF2-40B4-BE49-F238E27FC236}">
                    <a16:creationId xmlns:a16="http://schemas.microsoft.com/office/drawing/2014/main" id="{236C6A22-48A2-4442-B82D-30DB49827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4" name="Freeform 28">
                <a:extLst>
                  <a:ext uri="{FF2B5EF4-FFF2-40B4-BE49-F238E27FC236}">
                    <a16:creationId xmlns:a16="http://schemas.microsoft.com/office/drawing/2014/main" id="{1BB7BCE1-0D99-412E-ABA6-81412638E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5" name="Freeform 29">
                <a:extLst>
                  <a:ext uri="{FF2B5EF4-FFF2-40B4-BE49-F238E27FC236}">
                    <a16:creationId xmlns:a16="http://schemas.microsoft.com/office/drawing/2014/main" id="{C20E57E0-0912-44F2-93DA-75E4D13F3B7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6" name="Freeform 30">
                <a:extLst>
                  <a:ext uri="{FF2B5EF4-FFF2-40B4-BE49-F238E27FC236}">
                    <a16:creationId xmlns:a16="http://schemas.microsoft.com/office/drawing/2014/main" id="{DF059390-54ED-44F4-983F-92FF36AD94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7" name="Freeform 31">
                <a:extLst>
                  <a:ext uri="{FF2B5EF4-FFF2-40B4-BE49-F238E27FC236}">
                    <a16:creationId xmlns:a16="http://schemas.microsoft.com/office/drawing/2014/main" id="{42D5E9ED-595D-443D-8CDC-D8FCD4021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60" name="Group 59">
              <a:extLst>
                <a:ext uri="{FF2B5EF4-FFF2-40B4-BE49-F238E27FC236}">
                  <a16:creationId xmlns:a16="http://schemas.microsoft.com/office/drawing/2014/main" id="{DB14A457-C54A-4F1E-91FB-0FEE49877D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61" name="Freeform 32">
                <a:extLst>
                  <a:ext uri="{FF2B5EF4-FFF2-40B4-BE49-F238E27FC236}">
                    <a16:creationId xmlns:a16="http://schemas.microsoft.com/office/drawing/2014/main" id="{791F3E2E-D393-464E-84B4-9B30D071A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2" name="Freeform 33">
                <a:extLst>
                  <a:ext uri="{FF2B5EF4-FFF2-40B4-BE49-F238E27FC236}">
                    <a16:creationId xmlns:a16="http://schemas.microsoft.com/office/drawing/2014/main" id="{EBEEAD6F-6425-4F85-A8A8-4FF19A909B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3" name="Freeform 34">
                <a:extLst>
                  <a:ext uri="{FF2B5EF4-FFF2-40B4-BE49-F238E27FC236}">
                    <a16:creationId xmlns:a16="http://schemas.microsoft.com/office/drawing/2014/main" id="{8AACA44E-9D6C-4708-8D61-D767B6620B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4" name="Freeform 35">
                <a:extLst>
                  <a:ext uri="{FF2B5EF4-FFF2-40B4-BE49-F238E27FC236}">
                    <a16:creationId xmlns:a16="http://schemas.microsoft.com/office/drawing/2014/main" id="{B6E3525F-9937-463E-872C-8EB7C62D1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5" name="Freeform 36">
                <a:extLst>
                  <a:ext uri="{FF2B5EF4-FFF2-40B4-BE49-F238E27FC236}">
                    <a16:creationId xmlns:a16="http://schemas.microsoft.com/office/drawing/2014/main" id="{BE829B0B-C602-40F1-81D1-A55332343D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6" name="Freeform 37">
                <a:extLst>
                  <a:ext uri="{FF2B5EF4-FFF2-40B4-BE49-F238E27FC236}">
                    <a16:creationId xmlns:a16="http://schemas.microsoft.com/office/drawing/2014/main" id="{92660531-24B5-4B97-A4A2-64686E235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7" name="Freeform 38">
                <a:extLst>
                  <a:ext uri="{FF2B5EF4-FFF2-40B4-BE49-F238E27FC236}">
                    <a16:creationId xmlns:a16="http://schemas.microsoft.com/office/drawing/2014/main" id="{6242D0CE-6FFD-4D17-AC26-BD3E481195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8" name="Freeform 39">
                <a:extLst>
                  <a:ext uri="{FF2B5EF4-FFF2-40B4-BE49-F238E27FC236}">
                    <a16:creationId xmlns:a16="http://schemas.microsoft.com/office/drawing/2014/main" id="{61631F37-AF37-4DB9-8D98-A08586C76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9" name="Freeform 40">
                <a:extLst>
                  <a:ext uri="{FF2B5EF4-FFF2-40B4-BE49-F238E27FC236}">
                    <a16:creationId xmlns:a16="http://schemas.microsoft.com/office/drawing/2014/main" id="{2A2597FF-2F22-40BB-A7B3-19C4DFCFFA0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0" name="Rectangle 41">
                <a:extLst>
                  <a:ext uri="{FF2B5EF4-FFF2-40B4-BE49-F238E27FC236}">
                    <a16:creationId xmlns:a16="http://schemas.microsoft.com/office/drawing/2014/main" id="{DCC8773C-0113-4046-B222-C8F4080AF3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pic>
        <p:nvPicPr>
          <p:cNvPr id="99" name="Picture 2">
            <a:extLst>
              <a:ext uri="{FF2B5EF4-FFF2-40B4-BE49-F238E27FC236}">
                <a16:creationId xmlns:a16="http://schemas.microsoft.com/office/drawing/2014/main" id="{1B17CCE2-CEEF-40CA-8C4D-0DC2DCA78A2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EE7C69E-A1F2-CA6B-02B6-11AC11837262}"/>
              </a:ext>
            </a:extLst>
          </p:cNvPr>
          <p:cNvSpPr>
            <a:spLocks noGrp="1"/>
          </p:cNvSpPr>
          <p:nvPr>
            <p:ph type="title"/>
          </p:nvPr>
        </p:nvSpPr>
        <p:spPr>
          <a:xfrm>
            <a:off x="6569957" y="618518"/>
            <a:ext cx="4747088" cy="1478570"/>
          </a:xfrm>
        </p:spPr>
        <p:txBody>
          <a:bodyPr vert="horz" lIns="91440" tIns="45720" rIns="91440" bIns="45720" rtlCol="0" anchor="ctr">
            <a:normAutofit/>
          </a:bodyPr>
          <a:lstStyle/>
          <a:p>
            <a:r>
              <a:rPr lang="en-US">
                <a:solidFill>
                  <a:srgbClr val="FFFFFF"/>
                </a:solidFill>
              </a:rPr>
              <a:t>Treatment Profitability</a:t>
            </a:r>
          </a:p>
        </p:txBody>
      </p:sp>
      <p:sp useBgFill="1">
        <p:nvSpPr>
          <p:cNvPr id="101" name="Round Diagonal Corner Rectangle 9">
            <a:extLst>
              <a:ext uri="{FF2B5EF4-FFF2-40B4-BE49-F238E27FC236}">
                <a16:creationId xmlns:a16="http://schemas.microsoft.com/office/drawing/2014/main" id="{66D4F5BA-1D71-49B2-8A7F-6B4EB94D7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50" y="808057"/>
            <a:ext cx="5286376"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
            <a:extLst>
              <a:ext uri="{FF2B5EF4-FFF2-40B4-BE49-F238E27FC236}">
                <a16:creationId xmlns:a16="http://schemas.microsoft.com/office/drawing/2014/main" id="{6AEF9B8C-DFCF-8336-95F5-D6910E09FC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950" y="1220349"/>
            <a:ext cx="5286376" cy="4412418"/>
          </a:xfrm>
          <a:prstGeom prst="rect">
            <a:avLst/>
          </a:prstGeom>
        </p:spPr>
      </p:pic>
      <p:sp>
        <p:nvSpPr>
          <p:cNvPr id="4" name="Content Placeholder 3">
            <a:extLst>
              <a:ext uri="{FF2B5EF4-FFF2-40B4-BE49-F238E27FC236}">
                <a16:creationId xmlns:a16="http://schemas.microsoft.com/office/drawing/2014/main" id="{6C141B55-F016-8F92-317E-6F6ED0BAB29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69957" y="2249487"/>
            <a:ext cx="4747087" cy="3541714"/>
          </a:xfrm>
        </p:spPr>
        <p:txBody>
          <a:bodyPr>
            <a:normAutofit/>
          </a:bodyPr>
          <a:lstStyle/>
          <a:p>
            <a:pPr marL="0" indent="0">
              <a:spcBef>
                <a:spcPts val="2500"/>
              </a:spcBef>
              <a:buFont typeface="Arial" panose="020B0604020202020204" pitchFamily="34" charset="0"/>
              <a:buNone/>
            </a:pPr>
            <a:r>
              <a:rPr lang="en-US" sz="1400" b="1">
                <a:solidFill>
                  <a:srgbClr val="FFFFFF"/>
                </a:solidFill>
                <a:latin typeface="Arial" panose="020B0604020202020204" pitchFamily="34" charset="0"/>
                <a:cs typeface="Arial" panose="020B0604020202020204" pitchFamily="34" charset="0"/>
              </a:rPr>
              <a:t>Revenue Analysis by Treatment</a:t>
            </a:r>
          </a:p>
          <a:p>
            <a:pPr marL="0" lvl="1" indent="0">
              <a:buFont typeface="Arial" panose="020B0604020202020204" pitchFamily="34" charset="0"/>
              <a:buNone/>
            </a:pPr>
            <a:r>
              <a:rPr lang="en-GB">
                <a:solidFill>
                  <a:srgbClr val="FFFFFF"/>
                </a:solidFill>
                <a:latin typeface="Arial" panose="020B0604020202020204" pitchFamily="34" charset="0"/>
                <a:cs typeface="Arial" panose="020B0604020202020204" pitchFamily="34" charset="0"/>
              </a:rPr>
              <a:t>Reviewing</a:t>
            </a:r>
            <a:r>
              <a:rPr lang="en-US">
                <a:solidFill>
                  <a:srgbClr val="FFFFFF"/>
                </a:solidFill>
                <a:latin typeface="Arial" panose="020B0604020202020204" pitchFamily="34" charset="0"/>
                <a:cs typeface="Arial" panose="020B0604020202020204" pitchFamily="34" charset="0"/>
              </a:rPr>
              <a:t> income streams from different treatments highlights the most profitable medical services offered.</a:t>
            </a:r>
          </a:p>
          <a:p>
            <a:pPr marL="0" indent="0">
              <a:spcBef>
                <a:spcPts val="2500"/>
              </a:spcBef>
              <a:buFont typeface="Arial" panose="020B0604020202020204" pitchFamily="34" charset="0"/>
              <a:buNone/>
            </a:pPr>
            <a:r>
              <a:rPr lang="en-US" sz="1400" b="1">
                <a:solidFill>
                  <a:srgbClr val="FFFFFF"/>
                </a:solidFill>
                <a:latin typeface="Arial" panose="020B0604020202020204" pitchFamily="34" charset="0"/>
                <a:cs typeface="Arial" panose="020B0604020202020204" pitchFamily="34" charset="0"/>
              </a:rPr>
              <a:t>Strategic Resource Allocation</a:t>
            </a:r>
          </a:p>
          <a:p>
            <a:pPr marL="0" lvl="1" indent="0">
              <a:buFont typeface="Arial" panose="020B0604020202020204" pitchFamily="34" charset="0"/>
              <a:buNone/>
            </a:pPr>
            <a:r>
              <a:rPr lang="en-US">
                <a:solidFill>
                  <a:srgbClr val="FFFFFF"/>
                </a:solidFill>
                <a:latin typeface="Arial" panose="020B0604020202020204" pitchFamily="34" charset="0"/>
                <a:cs typeface="Arial" panose="020B0604020202020204" pitchFamily="34" charset="0"/>
              </a:rPr>
              <a:t>Data-driven insights support better pricing, staff deployment, and equipment investment decisions.</a:t>
            </a:r>
          </a:p>
          <a:p>
            <a:pPr marL="0" indent="0">
              <a:spcBef>
                <a:spcPts val="2500"/>
              </a:spcBef>
              <a:buFont typeface="Arial" panose="020B0604020202020204" pitchFamily="34" charset="0"/>
              <a:buNone/>
            </a:pPr>
            <a:r>
              <a:rPr lang="en-GB" sz="1400" b="1">
                <a:solidFill>
                  <a:srgbClr val="FFFFFF"/>
                </a:solidFill>
                <a:latin typeface="Arial" panose="020B0604020202020204" pitchFamily="34" charset="0"/>
                <a:cs typeface="Arial" panose="020B0604020202020204" pitchFamily="34" charset="0"/>
              </a:rPr>
              <a:t>Optimising</a:t>
            </a:r>
            <a:r>
              <a:rPr lang="en-US" sz="1400" b="1">
                <a:solidFill>
                  <a:srgbClr val="FFFFFF"/>
                </a:solidFill>
                <a:latin typeface="Arial" panose="020B0604020202020204" pitchFamily="34" charset="0"/>
                <a:cs typeface="Arial" panose="020B0604020202020204" pitchFamily="34" charset="0"/>
              </a:rPr>
              <a:t> Service Mix</a:t>
            </a:r>
          </a:p>
          <a:p>
            <a:pPr marL="0" lvl="1" indent="0">
              <a:buFont typeface="Arial" panose="020B0604020202020204" pitchFamily="34" charset="0"/>
              <a:buNone/>
            </a:pPr>
            <a:r>
              <a:rPr lang="en-US">
                <a:solidFill>
                  <a:srgbClr val="FFFFFF"/>
                </a:solidFill>
                <a:latin typeface="Arial" panose="020B0604020202020204" pitchFamily="34" charset="0"/>
                <a:cs typeface="Arial" panose="020B0604020202020204" pitchFamily="34" charset="0"/>
              </a:rPr>
              <a:t>Identifying high-margin procedures helps hospitals refine services to maximize overall profitability.</a:t>
            </a:r>
          </a:p>
        </p:txBody>
      </p:sp>
    </p:spTree>
    <p:extLst>
      <p:ext uri="{BB962C8B-B14F-4D97-AF65-F5344CB8AC3E}">
        <p14:creationId xmlns:p14="http://schemas.microsoft.com/office/powerpoint/2010/main" val="133482153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7D1B1-8613-745E-E440-B24A12FCBAA4}"/>
              </a:ext>
            </a:extLst>
          </p:cNvPr>
          <p:cNvSpPr>
            <a:spLocks noGrp="1"/>
          </p:cNvSpPr>
          <p:nvPr>
            <p:ph type="title"/>
          </p:nvPr>
        </p:nvSpPr>
        <p:spPr/>
        <p:txBody>
          <a:bodyPr anchor="b">
            <a:normAutofit/>
          </a:bodyPr>
          <a:lstStyle/>
          <a:p>
            <a:r>
              <a:rPr lang="en-US"/>
              <a:t>Patient &amp; Clinical Insights</a:t>
            </a:r>
          </a:p>
        </p:txBody>
      </p:sp>
    </p:spTree>
    <p:extLst>
      <p:ext uri="{BB962C8B-B14F-4D97-AF65-F5344CB8AC3E}">
        <p14:creationId xmlns:p14="http://schemas.microsoft.com/office/powerpoint/2010/main" val="38983509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8" name="Group 17">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0"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31"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42"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7"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2"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3"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4"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5"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6"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9" name="Group 18">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0"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useBgFill="1">
        <p:nvSpPr>
          <p:cNvPr id="98" name="Rectangle 97">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99"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8304753-9D98-88F0-C4D7-AC58BD8D75B9}"/>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Patient Retention (Loyalty)</a:t>
            </a:r>
          </a:p>
        </p:txBody>
      </p:sp>
      <p:sp>
        <p:nvSpPr>
          <p:cNvPr id="4" name="Content Placeholder 3">
            <a:extLst>
              <a:ext uri="{FF2B5EF4-FFF2-40B4-BE49-F238E27FC236}">
                <a16:creationId xmlns:a16="http://schemas.microsoft.com/office/drawing/2014/main" id="{08ADFC34-687C-8BB5-99C8-2D5FB25C26E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41412" y="2249487"/>
            <a:ext cx="4459287" cy="3965046"/>
          </a:xfrm>
        </p:spPr>
        <p:txBody>
          <a:bodyPr>
            <a:normAutofit/>
          </a:bodyPr>
          <a:lstStyle/>
          <a:p>
            <a:pPr marL="0" indent="0">
              <a:spcBef>
                <a:spcPts val="2500"/>
              </a:spcBef>
              <a:buFont typeface="Arial" panose="020B0604020202020204" pitchFamily="34" charset="0"/>
              <a:buNone/>
            </a:pPr>
            <a:r>
              <a:rPr lang="en-GB" sz="1400" b="1" dirty="0">
                <a:latin typeface="Arial" panose="020B0604020202020204" pitchFamily="34" charset="0"/>
                <a:cs typeface="Arial" panose="020B0604020202020204" pitchFamily="34" charset="0"/>
              </a:rPr>
              <a:t>Targeted Care Management</a:t>
            </a:r>
          </a:p>
          <a:p>
            <a:pPr marL="0" lvl="1" indent="0">
              <a:buFont typeface="Arial" panose="020B0604020202020204" pitchFamily="34" charset="0"/>
              <a:buNone/>
            </a:pPr>
            <a:r>
              <a:rPr lang="en-GB" sz="1400" dirty="0">
                <a:latin typeface="Arial" panose="020B0604020202020204" pitchFamily="34" charset="0"/>
                <a:cs typeface="Arial" panose="020B0604020202020204" pitchFamily="34" charset="0"/>
              </a:rPr>
              <a:t>Frequent-visit patients with chronic conditions provide opportunities for personalized, targeted care management.</a:t>
            </a:r>
          </a:p>
          <a:p>
            <a:pPr marL="0" indent="0">
              <a:spcBef>
                <a:spcPts val="2500"/>
              </a:spcBef>
              <a:buFont typeface="Arial" panose="020B0604020202020204" pitchFamily="34" charset="0"/>
              <a:buNone/>
            </a:pPr>
            <a:r>
              <a:rPr lang="en-GB" sz="1400" b="1" dirty="0">
                <a:latin typeface="Arial" panose="020B0604020202020204" pitchFamily="34" charset="0"/>
                <a:cs typeface="Arial" panose="020B0604020202020204" pitchFamily="34" charset="0"/>
              </a:rPr>
              <a:t>Resource Allocation</a:t>
            </a:r>
          </a:p>
          <a:p>
            <a:pPr marL="0" lvl="1" indent="0">
              <a:buFont typeface="Arial" panose="020B0604020202020204" pitchFamily="34" charset="0"/>
              <a:buNone/>
            </a:pPr>
            <a:r>
              <a:rPr lang="en-GB" sz="1400" dirty="0">
                <a:latin typeface="Arial" panose="020B0604020202020204" pitchFamily="34" charset="0"/>
                <a:cs typeface="Arial" panose="020B0604020202020204" pitchFamily="34" charset="0"/>
              </a:rPr>
              <a:t>Identifying frequent patients helps hospitals allocate resources more effectively to improve care quality.</a:t>
            </a:r>
          </a:p>
          <a:p>
            <a:pPr marL="0" indent="0">
              <a:spcBef>
                <a:spcPts val="2500"/>
              </a:spcBef>
              <a:buFont typeface="Arial" panose="020B0604020202020204" pitchFamily="34" charset="0"/>
              <a:buNone/>
            </a:pPr>
            <a:r>
              <a:rPr lang="en-GB" sz="1400" b="1" dirty="0">
                <a:latin typeface="Arial" panose="020B0604020202020204" pitchFamily="34" charset="0"/>
                <a:cs typeface="Arial" panose="020B0604020202020204" pitchFamily="34" charset="0"/>
              </a:rPr>
              <a:t>Proactive Engagement</a:t>
            </a:r>
          </a:p>
          <a:p>
            <a:pPr marL="0" lvl="1" indent="0">
              <a:buFont typeface="Arial" panose="020B0604020202020204" pitchFamily="34" charset="0"/>
              <a:buNone/>
            </a:pPr>
            <a:r>
              <a:rPr lang="en-GB" sz="1400" dirty="0">
                <a:latin typeface="Arial" panose="020B0604020202020204" pitchFamily="34" charset="0"/>
                <a:cs typeface="Arial" panose="020B0604020202020204" pitchFamily="34" charset="0"/>
              </a:rPr>
              <a:t>Proactive patient engagement and continuity of care enhance long-term health outcomes for loyal patients.</a:t>
            </a:r>
          </a:p>
        </p:txBody>
      </p:sp>
      <p:pic>
        <p:nvPicPr>
          <p:cNvPr id="10" name="Picture 9" descr="A screenshot of a computer&#10;&#10;AI-generated content may be incorrect.">
            <a:extLst>
              <a:ext uri="{FF2B5EF4-FFF2-40B4-BE49-F238E27FC236}">
                <a16:creationId xmlns:a16="http://schemas.microsoft.com/office/drawing/2014/main" id="{2D6A6393-C359-9D2E-7E2C-425E913EF7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6896" y="784154"/>
            <a:ext cx="6402704" cy="4947544"/>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100" name="Group 99">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01"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02"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3"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4"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5"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6"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7"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8"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9"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10"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11"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12"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113"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14"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15"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16"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17"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18"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19"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0"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1"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2"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3"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4"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5"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6"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7"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spTree>
    <p:extLst>
      <p:ext uri="{BB962C8B-B14F-4D97-AF65-F5344CB8AC3E}">
        <p14:creationId xmlns:p14="http://schemas.microsoft.com/office/powerpoint/2010/main" val="465714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5" name="Group 14">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6" name="Group 15">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8"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29"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40"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3"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5"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grpSp>
          <p:nvGrpSpPr>
            <p:cNvPr id="17" name="Group 16">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8"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grpSp>
      </p:grpSp>
      <p:sp>
        <p:nvSpPr>
          <p:cNvPr id="2" name="Title 1">
            <a:extLst>
              <a:ext uri="{FF2B5EF4-FFF2-40B4-BE49-F238E27FC236}">
                <a16:creationId xmlns:a16="http://schemas.microsoft.com/office/drawing/2014/main" id="{0884D379-5C20-108E-C1A0-6EB03D509BB6}"/>
              </a:ext>
            </a:extLst>
          </p:cNvPr>
          <p:cNvSpPr>
            <a:spLocks noGrp="1"/>
          </p:cNvSpPr>
          <p:nvPr>
            <p:ph type="title"/>
          </p:nvPr>
        </p:nvSpPr>
        <p:spPr>
          <a:xfrm>
            <a:off x="1141413" y="618518"/>
            <a:ext cx="9905998" cy="1478570"/>
          </a:xfrm>
        </p:spPr>
        <p:txBody>
          <a:bodyPr vert="horz" lIns="91440" tIns="45720" rIns="91440" bIns="45720" rtlCol="0" anchor="ctr">
            <a:normAutofit/>
          </a:bodyPr>
          <a:lstStyle/>
          <a:p>
            <a:pPr algn="ctr"/>
            <a:r>
              <a:rPr lang="en-US" dirty="0"/>
              <a:t>Age Group Demographics</a:t>
            </a:r>
          </a:p>
        </p:txBody>
      </p:sp>
      <p:sp>
        <p:nvSpPr>
          <p:cNvPr id="4" name="Content Placeholder 3">
            <a:extLst>
              <a:ext uri="{FF2B5EF4-FFF2-40B4-BE49-F238E27FC236}">
                <a16:creationId xmlns:a16="http://schemas.microsoft.com/office/drawing/2014/main" id="{20D32A60-1C14-658C-83B5-882EE060B41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41412" y="2249487"/>
            <a:ext cx="4844521" cy="3541714"/>
          </a:xfrm>
        </p:spPr>
        <p:txBody>
          <a:bodyPr>
            <a:normAutofit/>
          </a:bodyPr>
          <a:lstStyle/>
          <a:p>
            <a:pPr marL="0" indent="0">
              <a:spcBef>
                <a:spcPts val="2500"/>
              </a:spcBef>
              <a:buFont typeface="Arial" panose="020B0604020202020204" pitchFamily="34" charset="0"/>
              <a:buNone/>
            </a:pPr>
            <a:r>
              <a:rPr lang="en-US" sz="1400" b="1" dirty="0">
                <a:latin typeface="Arial" panose="020B0604020202020204" pitchFamily="34" charset="0"/>
                <a:cs typeface="Arial" panose="020B0604020202020204" pitchFamily="34" charset="0"/>
              </a:rPr>
              <a:t>Patient Age Segmentation</a:t>
            </a: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Patients are </a:t>
            </a:r>
            <a:r>
              <a:rPr lang="en-GB" dirty="0">
                <a:latin typeface="Arial" panose="020B0604020202020204" pitchFamily="34" charset="0"/>
                <a:cs typeface="Arial" panose="020B0604020202020204" pitchFamily="34" charset="0"/>
              </a:rPr>
              <a:t>categorised</a:t>
            </a:r>
            <a:r>
              <a:rPr lang="en-US" dirty="0">
                <a:latin typeface="Arial" panose="020B0604020202020204" pitchFamily="34" charset="0"/>
                <a:cs typeface="Arial" panose="020B0604020202020204" pitchFamily="34" charset="0"/>
              </a:rPr>
              <a:t> into Pediatric, Adult, and Senior groups to better understand demographic needs and </a:t>
            </a:r>
            <a:r>
              <a:rPr lang="en-GB" dirty="0">
                <a:latin typeface="Arial" panose="020B0604020202020204" pitchFamily="34" charset="0"/>
                <a:cs typeface="Arial" panose="020B0604020202020204" pitchFamily="34" charset="0"/>
              </a:rPr>
              <a:t>trends</a:t>
            </a:r>
            <a:r>
              <a:rPr lang="en-US" dirty="0">
                <a:latin typeface="Arial" panose="020B0604020202020204" pitchFamily="34" charset="0"/>
                <a:cs typeface="Arial" panose="020B0604020202020204" pitchFamily="34" charset="0"/>
              </a:rPr>
              <a:t>.</a:t>
            </a:r>
          </a:p>
          <a:p>
            <a:pPr marL="0" indent="0">
              <a:spcBef>
                <a:spcPts val="2500"/>
              </a:spcBef>
              <a:buFont typeface="Arial" panose="020B0604020202020204" pitchFamily="34" charset="0"/>
              <a:buNone/>
            </a:pPr>
            <a:r>
              <a:rPr lang="en-US" sz="1400" b="1" dirty="0">
                <a:latin typeface="Arial" panose="020B0604020202020204" pitchFamily="34" charset="0"/>
                <a:cs typeface="Arial" panose="020B0604020202020204" pitchFamily="34" charset="0"/>
              </a:rPr>
              <a:t>Resource and Staff Allocation</a:t>
            </a: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Segmented demographics guide effective allocation of staff and resources tailored to each age group’s needs.</a:t>
            </a:r>
          </a:p>
          <a:p>
            <a:pPr marL="0" indent="0">
              <a:spcBef>
                <a:spcPts val="2500"/>
              </a:spcBef>
              <a:buFont typeface="Arial" panose="020B0604020202020204" pitchFamily="34" charset="0"/>
              <a:buNone/>
            </a:pPr>
            <a:r>
              <a:rPr lang="en-US" sz="1400" b="1" dirty="0">
                <a:latin typeface="Arial" panose="020B0604020202020204" pitchFamily="34" charset="0"/>
                <a:cs typeface="Arial" panose="020B0604020202020204" pitchFamily="34" charset="0"/>
              </a:rPr>
              <a:t>Strategic Clinical Planning</a:t>
            </a: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Age demographics analysis supports forecasting future healthcare demand and informs strategic clinical decisions.</a:t>
            </a:r>
          </a:p>
        </p:txBody>
      </p:sp>
      <p:pic>
        <p:nvPicPr>
          <p:cNvPr id="8" name="Picture 7" descr="A screenshot of a computer program&#10;&#10;AI-generated content may be incorrect.">
            <a:extLst>
              <a:ext uri="{FF2B5EF4-FFF2-40B4-BE49-F238E27FC236}">
                <a16:creationId xmlns:a16="http://schemas.microsoft.com/office/drawing/2014/main" id="{43E9E20B-C94B-2DFE-D6F8-F723F1393186}"/>
              </a:ext>
            </a:extLst>
          </p:cNvPr>
          <p:cNvPicPr>
            <a:picLocks noChangeAspect="1"/>
          </p:cNvPicPr>
          <p:nvPr/>
        </p:nvPicPr>
        <p:blipFill>
          <a:blip r:embed="rId5">
            <a:extLst>
              <a:ext uri="{28A0092B-C50C-407E-A947-70E740481C1C}">
                <a14:useLocalDpi xmlns:a14="http://schemas.microsoft.com/office/drawing/2010/main" val="0"/>
              </a:ext>
            </a:extLst>
          </a:blip>
          <a:srcRect r="25862" b="-2"/>
          <a:stretch>
            <a:fillRect/>
          </a:stretch>
        </p:blipFill>
        <p:spPr>
          <a:xfrm>
            <a:off x="6392335" y="2497720"/>
            <a:ext cx="4655075" cy="304789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3711623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20"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921BD18-2DB6-B2A7-CEFA-10B7C5B08EAE}"/>
              </a:ext>
            </a:extLst>
          </p:cNvPr>
          <p:cNvSpPr>
            <a:spLocks noGrp="1"/>
          </p:cNvSpPr>
          <p:nvPr>
            <p:ph type="title"/>
          </p:nvPr>
        </p:nvSpPr>
        <p:spPr>
          <a:xfrm>
            <a:off x="855266" y="618518"/>
            <a:ext cx="2851417" cy="1478570"/>
          </a:xfrm>
        </p:spPr>
        <p:txBody>
          <a:bodyPr>
            <a:normAutofit/>
          </a:bodyPr>
          <a:lstStyle/>
          <a:p>
            <a:r>
              <a:rPr lang="en-US" sz="2700">
                <a:solidFill>
                  <a:srgbClr val="FFFFFF"/>
                </a:solidFill>
                <a:latin typeface="Arial" panose="020B0604020202020204" pitchFamily="34" charset="0"/>
                <a:cs typeface="Arial" panose="020B0604020202020204" pitchFamily="34" charset="0"/>
              </a:rPr>
              <a:t>Gender Distribution</a:t>
            </a:r>
          </a:p>
        </p:txBody>
      </p:sp>
      <p:grpSp>
        <p:nvGrpSpPr>
          <p:cNvPr id="22" name="Group 21">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23"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4"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5"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0"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pic>
        <p:nvPicPr>
          <p:cNvPr id="9" name="Picture 8" descr="A screenshot of a computer program&#10;&#10;AI-generated content may be incorrect.">
            <a:extLst>
              <a:ext uri="{FF2B5EF4-FFF2-40B4-BE49-F238E27FC236}">
                <a16:creationId xmlns:a16="http://schemas.microsoft.com/office/drawing/2014/main" id="{AA01309A-1479-243F-1BC6-E07010BDF4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5401" y="1256336"/>
            <a:ext cx="8039923" cy="3778763"/>
          </a:xfrm>
          <a:prstGeom prst="rect">
            <a:avLst/>
          </a:prstGeom>
        </p:spPr>
      </p:pic>
      <p:graphicFrame>
        <p:nvGraphicFramePr>
          <p:cNvPr id="4" name="Content Placeholder 3">
            <a:extLst>
              <a:ext uri="{FF2B5EF4-FFF2-40B4-BE49-F238E27FC236}">
                <a16:creationId xmlns:a16="http://schemas.microsoft.com/office/drawing/2014/main" id="{0932124C-16F5-4500-A141-F04BA03B70E2}"/>
              </a:ext>
            </a:extLst>
          </p:cNvPr>
          <p:cNvGraphicFramePr>
            <a:graphicFrameLocks noGrp="1"/>
          </p:cNvGraphicFramePr>
          <p:nvPr>
            <p:ph idx="1"/>
            <p:extLst>
              <p:ext uri="{D42A27DB-BD31-4B8C-83A1-F6EECF244321}">
                <p14:modId xmlns:p14="http://schemas.microsoft.com/office/powerpoint/2010/main" val="80296267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844620" y="2249487"/>
          <a:ext cx="2862444" cy="395730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436692774"/>
      </p:ext>
    </p:extLst>
  </p:cSld>
  <p:clrMapOvr>
    <a:overrideClrMapping bg1="lt1" tx1="dk1" bg2="lt2" tx2="dk2" accent1="accent1" accent2="accent2" accent3="accent3" accent4="accent4" accent5="accent5" accent6="accent6" hlink="hlink" folHlink="folHlink"/>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C585E-5933-8EDA-23D1-AA6FB792526C}"/>
              </a:ext>
            </a:extLst>
          </p:cNvPr>
          <p:cNvSpPr>
            <a:spLocks noGrp="1"/>
          </p:cNvSpPr>
          <p:nvPr>
            <p:ph type="title"/>
          </p:nvPr>
        </p:nvSpPr>
        <p:spPr/>
        <p:txBody>
          <a:bodyPr anchor="b">
            <a:normAutofit/>
          </a:bodyPr>
          <a:lstStyle/>
          <a:p>
            <a:r>
              <a:rPr lang="en-US"/>
              <a:t>Strategic Planning &amp; Quality Control</a:t>
            </a:r>
          </a:p>
        </p:txBody>
      </p:sp>
    </p:spTree>
    <p:extLst>
      <p:ext uri="{BB962C8B-B14F-4D97-AF65-F5344CB8AC3E}">
        <p14:creationId xmlns:p14="http://schemas.microsoft.com/office/powerpoint/2010/main" val="9529214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6"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17" name="Group 116">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6" name="Group 15">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18"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19"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0"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1"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2"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3"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4"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5"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6"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7"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8"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29"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130"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1"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2"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3"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4"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35"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6"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7"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8"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9"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0"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1"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2"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3"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4"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7" name="Group 16">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4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p:nvSpPr>
          <p:cNvPr id="155" name="Rectangle 154">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59" name="Group 58">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156"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57"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8"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9"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0"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1"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2"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3"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4"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5"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6"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7"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168"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9"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0"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1"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2"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73"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4"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5"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6"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7"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8"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9"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0"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1"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2"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83" name="Group 182">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184"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5"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6"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7"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8"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9"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0"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1"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2"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3"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pic>
        <p:nvPicPr>
          <p:cNvPr id="194"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399F6AE-B0B5-5975-E914-37D08B9A2579}"/>
              </a:ext>
            </a:extLst>
          </p:cNvPr>
          <p:cNvSpPr>
            <a:spLocks noGrp="1"/>
          </p:cNvSpPr>
          <p:nvPr>
            <p:ph type="title"/>
          </p:nvPr>
        </p:nvSpPr>
        <p:spPr>
          <a:xfrm>
            <a:off x="8036041" y="618518"/>
            <a:ext cx="3281003" cy="1478570"/>
          </a:xfrm>
        </p:spPr>
        <p:txBody>
          <a:bodyPr vert="horz" lIns="91440" tIns="45720" rIns="91440" bIns="45720" rtlCol="0" anchor="b">
            <a:normAutofit/>
          </a:bodyPr>
          <a:lstStyle/>
          <a:p>
            <a:r>
              <a:rPr lang="en-US" sz="2800">
                <a:solidFill>
                  <a:srgbClr val="FFFFFF"/>
                </a:solidFill>
              </a:rPr>
              <a:t>Doctor–Patient Ratio</a:t>
            </a:r>
          </a:p>
        </p:txBody>
      </p:sp>
      <p:sp useBgFill="1">
        <p:nvSpPr>
          <p:cNvPr id="195"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 program">
            <a:extLst>
              <a:ext uri="{FF2B5EF4-FFF2-40B4-BE49-F238E27FC236}">
                <a16:creationId xmlns:a16="http://schemas.microsoft.com/office/drawing/2014/main" id="{52116525-CCFE-0DD6-B0F9-0D0F48E361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349" y="1524000"/>
            <a:ext cx="6752461" cy="3773690"/>
          </a:xfrm>
          <a:prstGeom prst="rect">
            <a:avLst/>
          </a:prstGeom>
        </p:spPr>
      </p:pic>
      <p:sp>
        <p:nvSpPr>
          <p:cNvPr id="4" name="Content Placeholder 3">
            <a:extLst>
              <a:ext uri="{FF2B5EF4-FFF2-40B4-BE49-F238E27FC236}">
                <a16:creationId xmlns:a16="http://schemas.microsoft.com/office/drawing/2014/main" id="{EB5C1482-5125-47AF-69F0-BBBB38642BE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36041" y="2249487"/>
            <a:ext cx="3281004" cy="3541714"/>
          </a:xfrm>
        </p:spPr>
        <p:txBody>
          <a:bodyPr>
            <a:normAutofit/>
          </a:bodyPr>
          <a:lstStyle/>
          <a:p>
            <a:pPr marL="0" indent="0">
              <a:lnSpc>
                <a:spcPct val="110000"/>
              </a:lnSpc>
              <a:spcBef>
                <a:spcPts val="2500"/>
              </a:spcBef>
              <a:buFont typeface="Arial" panose="020B0604020202020204" pitchFamily="34" charset="0"/>
              <a:buNone/>
            </a:pPr>
            <a:r>
              <a:rPr lang="en-GB" sz="1300" b="1" dirty="0">
                <a:solidFill>
                  <a:srgbClr val="FFFFFF"/>
                </a:solidFill>
                <a:latin typeface="Arial" panose="020B0604020202020204" pitchFamily="34" charset="0"/>
                <a:cs typeface="Arial" panose="020B0604020202020204" pitchFamily="34" charset="0"/>
              </a:rPr>
              <a:t>Measuring Patient Load</a:t>
            </a:r>
          </a:p>
          <a:p>
            <a:pPr marL="0" lvl="1" indent="0">
              <a:lnSpc>
                <a:spcPct val="110000"/>
              </a:lnSpc>
              <a:buFont typeface="Arial" panose="020B0604020202020204" pitchFamily="34" charset="0"/>
              <a:buNone/>
            </a:pPr>
            <a:r>
              <a:rPr lang="en-GB" sz="1300" dirty="0">
                <a:solidFill>
                  <a:srgbClr val="FFFFFF"/>
                </a:solidFill>
                <a:latin typeface="Arial" panose="020B0604020202020204" pitchFamily="34" charset="0"/>
                <a:cs typeface="Arial" panose="020B0604020202020204" pitchFamily="34" charset="0"/>
              </a:rPr>
              <a:t>Tracking unique patients per doctor by specialisation reveals workload and capacity pressures in healthcare settings.</a:t>
            </a:r>
          </a:p>
          <a:p>
            <a:pPr marL="0" indent="0">
              <a:lnSpc>
                <a:spcPct val="110000"/>
              </a:lnSpc>
              <a:spcBef>
                <a:spcPts val="2500"/>
              </a:spcBef>
              <a:buFont typeface="Arial" panose="020B0604020202020204" pitchFamily="34" charset="0"/>
              <a:buNone/>
            </a:pPr>
            <a:r>
              <a:rPr lang="en-GB" sz="1300" b="1" dirty="0">
                <a:solidFill>
                  <a:srgbClr val="FFFFFF"/>
                </a:solidFill>
                <a:latin typeface="Arial" panose="020B0604020202020204" pitchFamily="34" charset="0"/>
                <a:cs typeface="Arial" panose="020B0604020202020204" pitchFamily="34" charset="0"/>
              </a:rPr>
              <a:t>Staffing Implications</a:t>
            </a:r>
          </a:p>
          <a:p>
            <a:pPr marL="0" lvl="1" indent="0">
              <a:lnSpc>
                <a:spcPct val="110000"/>
              </a:lnSpc>
              <a:buFont typeface="Arial" panose="020B0604020202020204" pitchFamily="34" charset="0"/>
              <a:buNone/>
            </a:pPr>
            <a:r>
              <a:rPr lang="en-GB" sz="1300" dirty="0">
                <a:solidFill>
                  <a:srgbClr val="FFFFFF"/>
                </a:solidFill>
                <a:latin typeface="Arial" panose="020B0604020202020204" pitchFamily="34" charset="0"/>
                <a:cs typeface="Arial" panose="020B0604020202020204" pitchFamily="34" charset="0"/>
              </a:rPr>
              <a:t>High doctor–patient ratios may require additional hires or schedule adjustments to maintain care quality.</a:t>
            </a:r>
          </a:p>
          <a:p>
            <a:pPr marL="0" indent="0">
              <a:lnSpc>
                <a:spcPct val="110000"/>
              </a:lnSpc>
              <a:spcBef>
                <a:spcPts val="2500"/>
              </a:spcBef>
              <a:buFont typeface="Arial" panose="020B0604020202020204" pitchFamily="34" charset="0"/>
              <a:buNone/>
            </a:pPr>
            <a:r>
              <a:rPr lang="en-GB" sz="1300" b="1" dirty="0">
                <a:solidFill>
                  <a:srgbClr val="FFFFFF"/>
                </a:solidFill>
                <a:latin typeface="Arial" panose="020B0604020202020204" pitchFamily="34" charset="0"/>
                <a:cs typeface="Arial" panose="020B0604020202020204" pitchFamily="34" charset="0"/>
              </a:rPr>
              <a:t>Quality Care and Burnout Prevention</a:t>
            </a:r>
          </a:p>
          <a:p>
            <a:pPr marL="0" lvl="1" indent="0">
              <a:lnSpc>
                <a:spcPct val="110000"/>
              </a:lnSpc>
              <a:buFont typeface="Arial" panose="020B0604020202020204" pitchFamily="34" charset="0"/>
              <a:buNone/>
            </a:pPr>
            <a:r>
              <a:rPr lang="en-GB" sz="1300" dirty="0">
                <a:solidFill>
                  <a:srgbClr val="FFFFFF"/>
                </a:solidFill>
                <a:latin typeface="Arial" panose="020B0604020202020204" pitchFamily="34" charset="0"/>
                <a:cs typeface="Arial" panose="020B0604020202020204" pitchFamily="34" charset="0"/>
              </a:rPr>
              <a:t>Managing doctor–patient ratios helps prevent physician burnout and ensures consistent quality care.</a:t>
            </a:r>
          </a:p>
        </p:txBody>
      </p:sp>
    </p:spTree>
    <p:extLst>
      <p:ext uri="{BB962C8B-B14F-4D97-AF65-F5344CB8AC3E}">
        <p14:creationId xmlns:p14="http://schemas.microsoft.com/office/powerpoint/2010/main" val="273287977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6" name="Group 15">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8"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9"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40"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5"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2"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3"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4"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17" name="Group 16">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8"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useBgFill="1">
        <p:nvSpPr>
          <p:cNvPr id="56" name="Rectangle 55">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8"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2BC7CF8-8FC8-7228-164E-B93E0FC1E825}"/>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dirty="0"/>
              <a:t>Unbilled Treatments (Revenue Leakage)</a:t>
            </a:r>
          </a:p>
        </p:txBody>
      </p:sp>
      <p:sp>
        <p:nvSpPr>
          <p:cNvPr id="4" name="Content Placeholder 3">
            <a:extLst>
              <a:ext uri="{FF2B5EF4-FFF2-40B4-BE49-F238E27FC236}">
                <a16:creationId xmlns:a16="http://schemas.microsoft.com/office/drawing/2014/main" id="{4124E39C-0F63-E639-3EAD-CBB4E3508BE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41412" y="2249487"/>
            <a:ext cx="4459287" cy="3965046"/>
          </a:xfrm>
        </p:spPr>
        <p:txBody>
          <a:bodyPr>
            <a:normAutofit/>
          </a:bodyPr>
          <a:lstStyle/>
          <a:p>
            <a:pPr marL="0" indent="0">
              <a:spcBef>
                <a:spcPts val="2500"/>
              </a:spcBef>
              <a:buFont typeface="Arial" panose="020B0604020202020204" pitchFamily="34" charset="0"/>
              <a:buNone/>
            </a:pPr>
            <a:r>
              <a:rPr lang="en-US" sz="1400" b="1" dirty="0">
                <a:latin typeface="Arial" panose="020B0604020202020204" pitchFamily="34" charset="0"/>
                <a:cs typeface="Arial" panose="020B0604020202020204" pitchFamily="34" charset="0"/>
              </a:rPr>
              <a:t>Identifying Unbilled Treatments</a:t>
            </a: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Detecting treatments not billed is crucial for protecting hospital revenue and closing financial gaps.</a:t>
            </a:r>
          </a:p>
          <a:p>
            <a:pPr marL="0" indent="0">
              <a:spcBef>
                <a:spcPts val="2500"/>
              </a:spcBef>
              <a:buFont typeface="Arial" panose="020B0604020202020204" pitchFamily="34" charset="0"/>
              <a:buNone/>
            </a:pPr>
            <a:r>
              <a:rPr lang="en-US" sz="1400" b="1" dirty="0">
                <a:latin typeface="Arial" panose="020B0604020202020204" pitchFamily="34" charset="0"/>
                <a:cs typeface="Arial" panose="020B0604020202020204" pitchFamily="34" charset="0"/>
              </a:rPr>
              <a:t>Process Gaps in Billing Workflow</a:t>
            </a: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The audit query helps uncover inefficiencies in the treatment-to-billing workflow to prevent revenue loss.</a:t>
            </a:r>
          </a:p>
          <a:p>
            <a:pPr marL="0" indent="0">
              <a:spcBef>
                <a:spcPts val="2500"/>
              </a:spcBef>
              <a:buFont typeface="Arial" panose="020B0604020202020204" pitchFamily="34" charset="0"/>
              <a:buNone/>
            </a:pPr>
            <a:r>
              <a:rPr lang="en-US" sz="1400" b="1" dirty="0">
                <a:latin typeface="Arial" panose="020B0604020202020204" pitchFamily="34" charset="0"/>
                <a:cs typeface="Arial" panose="020B0604020202020204" pitchFamily="34" charset="0"/>
              </a:rPr>
              <a:t>Improving Profitability and Compliance</a:t>
            </a:r>
          </a:p>
          <a:p>
            <a:pPr marL="0" lvl="1" indent="0">
              <a:buFont typeface="Arial" panose="020B0604020202020204" pitchFamily="34" charset="0"/>
              <a:buNone/>
            </a:pPr>
            <a:r>
              <a:rPr lang="en-US" dirty="0">
                <a:latin typeface="Arial" panose="020B0604020202020204" pitchFamily="34" charset="0"/>
                <a:cs typeface="Arial" panose="020B0604020202020204" pitchFamily="34" charset="0"/>
              </a:rPr>
              <a:t>Addressing revenue leakage enhances hospital profitability and ensures regulatory compliance.</a:t>
            </a:r>
          </a:p>
        </p:txBody>
      </p:sp>
      <p:pic>
        <p:nvPicPr>
          <p:cNvPr id="8" name="Picture 7" descr="A screenshot of a computer program&#10;&#10;AI-generated content may be incorrect.">
            <a:extLst>
              <a:ext uri="{FF2B5EF4-FFF2-40B4-BE49-F238E27FC236}">
                <a16:creationId xmlns:a16="http://schemas.microsoft.com/office/drawing/2014/main" id="{18CF54F0-DA95-E35A-6424-164F43C40F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3295" y="1801813"/>
            <a:ext cx="6147230" cy="2903114"/>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60" name="Group 59">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61"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62"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3"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4"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5"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6"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7"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8"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9"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0"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1"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2"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73"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4"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5"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6"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7"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78"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9"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0"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1"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2"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3"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4"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5"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6"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7"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spTree>
    <p:extLst>
      <p:ext uri="{BB962C8B-B14F-4D97-AF65-F5344CB8AC3E}">
        <p14:creationId xmlns:p14="http://schemas.microsoft.com/office/powerpoint/2010/main" val="19978034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0" name="Group 19">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2"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33"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8"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9"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0"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44"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49"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0"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1"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2"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3"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4"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5"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6"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7"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58"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21" name="Group 20">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2"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3"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8"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sp>
        <p:nvSpPr>
          <p:cNvPr id="60" name="Rectangle 59">
            <a:extLst>
              <a:ext uri="{FF2B5EF4-FFF2-40B4-BE49-F238E27FC236}">
                <a16:creationId xmlns:a16="http://schemas.microsoft.com/office/drawing/2014/main" id="{3CBA50DB-DBC7-4B6E-B3C1-8FF1EA519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1DED8FB6-AF8D-4D98-913D-E6486FEC10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1902285" cy="6858001"/>
            <a:chOff x="0" y="0"/>
            <a:chExt cx="11902285" cy="6858001"/>
          </a:xfrm>
        </p:grpSpPr>
        <p:grpSp>
          <p:nvGrpSpPr>
            <p:cNvPr id="63" name="Group 62">
              <a:extLst>
                <a:ext uri="{FF2B5EF4-FFF2-40B4-BE49-F238E27FC236}">
                  <a16:creationId xmlns:a16="http://schemas.microsoft.com/office/drawing/2014/main" id="{0A805ED2-113B-4584-8827-567B5792F1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75" name="Rectangle 5">
                <a:extLst>
                  <a:ext uri="{FF2B5EF4-FFF2-40B4-BE49-F238E27FC236}">
                    <a16:creationId xmlns:a16="http://schemas.microsoft.com/office/drawing/2014/main" id="{C6CF21D8-CC72-4F35-A29E-3AF9E6DA1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76" name="Freeform 6">
                <a:extLst>
                  <a:ext uri="{FF2B5EF4-FFF2-40B4-BE49-F238E27FC236}">
                    <a16:creationId xmlns:a16="http://schemas.microsoft.com/office/drawing/2014/main" id="{8E60A7C3-087D-47B4-AB5A-C8B1042FD2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7" name="Freeform 7">
                <a:extLst>
                  <a:ext uri="{FF2B5EF4-FFF2-40B4-BE49-F238E27FC236}">
                    <a16:creationId xmlns:a16="http://schemas.microsoft.com/office/drawing/2014/main" id="{1885EECE-F6D9-4128-BC90-01583BF269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8" name="Freeform 8">
                <a:extLst>
                  <a:ext uri="{FF2B5EF4-FFF2-40B4-BE49-F238E27FC236}">
                    <a16:creationId xmlns:a16="http://schemas.microsoft.com/office/drawing/2014/main" id="{F44AA128-AA96-4FF2-A1C3-F9D2E7FD3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9" name="Freeform 9">
                <a:extLst>
                  <a:ext uri="{FF2B5EF4-FFF2-40B4-BE49-F238E27FC236}">
                    <a16:creationId xmlns:a16="http://schemas.microsoft.com/office/drawing/2014/main" id="{7E52DC12-230B-4892-B284-F2FE9DE16A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0" name="Freeform 10">
                <a:extLst>
                  <a:ext uri="{FF2B5EF4-FFF2-40B4-BE49-F238E27FC236}">
                    <a16:creationId xmlns:a16="http://schemas.microsoft.com/office/drawing/2014/main" id="{A68FBF9E-B81A-41D0-8A03-6CFC30811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1" name="Freeform 11">
                <a:extLst>
                  <a:ext uri="{FF2B5EF4-FFF2-40B4-BE49-F238E27FC236}">
                    <a16:creationId xmlns:a16="http://schemas.microsoft.com/office/drawing/2014/main" id="{B0047F84-8480-494F-9241-39FF17CFF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2" name="Freeform 12">
                <a:extLst>
                  <a:ext uri="{FF2B5EF4-FFF2-40B4-BE49-F238E27FC236}">
                    <a16:creationId xmlns:a16="http://schemas.microsoft.com/office/drawing/2014/main" id="{8CAF76D8-4B95-4A8E-9EE5-8CCC0A7AD2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3" name="Freeform 13">
                <a:extLst>
                  <a:ext uri="{FF2B5EF4-FFF2-40B4-BE49-F238E27FC236}">
                    <a16:creationId xmlns:a16="http://schemas.microsoft.com/office/drawing/2014/main" id="{792F82F3-05A8-4A55-8C5B-81F6678B59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4" name="Freeform 14">
                <a:extLst>
                  <a:ext uri="{FF2B5EF4-FFF2-40B4-BE49-F238E27FC236}">
                    <a16:creationId xmlns:a16="http://schemas.microsoft.com/office/drawing/2014/main" id="{B8472536-021A-4E59-BD59-DDC090A18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5" name="Freeform 15">
                <a:extLst>
                  <a:ext uri="{FF2B5EF4-FFF2-40B4-BE49-F238E27FC236}">
                    <a16:creationId xmlns:a16="http://schemas.microsoft.com/office/drawing/2014/main" id="{AEBEF646-3C12-469F-B194-A161A7A95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6" name="Line 16">
                <a:extLst>
                  <a:ext uri="{FF2B5EF4-FFF2-40B4-BE49-F238E27FC236}">
                    <a16:creationId xmlns:a16="http://schemas.microsoft.com/office/drawing/2014/main" id="{D4501159-D7AC-4307-9DFC-C8F3A94341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87" name="Freeform 17">
                <a:extLst>
                  <a:ext uri="{FF2B5EF4-FFF2-40B4-BE49-F238E27FC236}">
                    <a16:creationId xmlns:a16="http://schemas.microsoft.com/office/drawing/2014/main" id="{B5244C41-454C-47D8-A6A9-C17EC2A36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8" name="Freeform 18">
                <a:extLst>
                  <a:ext uri="{FF2B5EF4-FFF2-40B4-BE49-F238E27FC236}">
                    <a16:creationId xmlns:a16="http://schemas.microsoft.com/office/drawing/2014/main" id="{8FA883B8-99FB-4540-B573-F0674BFB1C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89" name="Freeform 19">
                <a:extLst>
                  <a:ext uri="{FF2B5EF4-FFF2-40B4-BE49-F238E27FC236}">
                    <a16:creationId xmlns:a16="http://schemas.microsoft.com/office/drawing/2014/main" id="{F1178B7C-5A00-4E5B-9010-B1477621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0" name="Freeform 20">
                <a:extLst>
                  <a:ext uri="{FF2B5EF4-FFF2-40B4-BE49-F238E27FC236}">
                    <a16:creationId xmlns:a16="http://schemas.microsoft.com/office/drawing/2014/main" id="{E359D5D8-EE2E-4714-A40A-C3A6D91F98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1" name="Rectangle 21">
                <a:extLst>
                  <a:ext uri="{FF2B5EF4-FFF2-40B4-BE49-F238E27FC236}">
                    <a16:creationId xmlns:a16="http://schemas.microsoft.com/office/drawing/2014/main" id="{8A89C2E5-F892-4666-85FB-995578FBC7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92" name="Freeform 22">
                <a:extLst>
                  <a:ext uri="{FF2B5EF4-FFF2-40B4-BE49-F238E27FC236}">
                    <a16:creationId xmlns:a16="http://schemas.microsoft.com/office/drawing/2014/main" id="{6DC6174B-0EC3-4A81-A0D1-D10DBB869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3" name="Freeform 23">
                <a:extLst>
                  <a:ext uri="{FF2B5EF4-FFF2-40B4-BE49-F238E27FC236}">
                    <a16:creationId xmlns:a16="http://schemas.microsoft.com/office/drawing/2014/main" id="{2CB96070-0553-4F79-984C-8DABB1CD5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4" name="Freeform 24">
                <a:extLst>
                  <a:ext uri="{FF2B5EF4-FFF2-40B4-BE49-F238E27FC236}">
                    <a16:creationId xmlns:a16="http://schemas.microsoft.com/office/drawing/2014/main" id="{BA23B6E2-3718-4009-B80E-9279154B19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5" name="Freeform 25">
                <a:extLst>
                  <a:ext uri="{FF2B5EF4-FFF2-40B4-BE49-F238E27FC236}">
                    <a16:creationId xmlns:a16="http://schemas.microsoft.com/office/drawing/2014/main" id="{CAFB32D5-E528-419B-80EE-1475633970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6" name="Freeform 26">
                <a:extLst>
                  <a:ext uri="{FF2B5EF4-FFF2-40B4-BE49-F238E27FC236}">
                    <a16:creationId xmlns:a16="http://schemas.microsoft.com/office/drawing/2014/main" id="{A68ADD35-4FEA-404D-B2F3-23556E6E8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7" name="Freeform 27">
                <a:extLst>
                  <a:ext uri="{FF2B5EF4-FFF2-40B4-BE49-F238E27FC236}">
                    <a16:creationId xmlns:a16="http://schemas.microsoft.com/office/drawing/2014/main" id="{89CF17CA-49E3-4B4A-836A-4FD55C67B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8" name="Freeform 28">
                <a:extLst>
                  <a:ext uri="{FF2B5EF4-FFF2-40B4-BE49-F238E27FC236}">
                    <a16:creationId xmlns:a16="http://schemas.microsoft.com/office/drawing/2014/main" id="{AB394F2E-F3E7-4CED-84A9-35C47AB287C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99" name="Freeform 29">
                <a:extLst>
                  <a:ext uri="{FF2B5EF4-FFF2-40B4-BE49-F238E27FC236}">
                    <a16:creationId xmlns:a16="http://schemas.microsoft.com/office/drawing/2014/main" id="{FF816C2F-3999-4A9F-8395-5D68ED33A41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0" name="Freeform 30">
                <a:extLst>
                  <a:ext uri="{FF2B5EF4-FFF2-40B4-BE49-F238E27FC236}">
                    <a16:creationId xmlns:a16="http://schemas.microsoft.com/office/drawing/2014/main" id="{82AD6AC6-71D5-4BD8-9185-D3062968B5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01" name="Freeform 31">
                <a:extLst>
                  <a:ext uri="{FF2B5EF4-FFF2-40B4-BE49-F238E27FC236}">
                    <a16:creationId xmlns:a16="http://schemas.microsoft.com/office/drawing/2014/main" id="{743A50C2-65CF-4F4C-B412-6149A93ACF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grpSp>
          <p:nvGrpSpPr>
            <p:cNvPr id="64" name="Group 63">
              <a:extLst>
                <a:ext uri="{FF2B5EF4-FFF2-40B4-BE49-F238E27FC236}">
                  <a16:creationId xmlns:a16="http://schemas.microsoft.com/office/drawing/2014/main" id="{6C0E7A88-FEDF-4C4F-A6B4-F7DDE9DE9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227597" y="0"/>
              <a:ext cx="674688" cy="6848476"/>
              <a:chOff x="11364912" y="0"/>
              <a:chExt cx="674688" cy="6848476"/>
            </a:xfrm>
            <a:gradFill flip="none" rotWithShape="1">
              <a:gsLst>
                <a:gs pos="0">
                  <a:schemeClr val="bg2"/>
                </a:gs>
                <a:gs pos="100000">
                  <a:schemeClr val="tx2">
                    <a:lumMod val="60000"/>
                    <a:lumOff val="40000"/>
                  </a:schemeClr>
                </a:gs>
              </a:gsLst>
              <a:lin ang="5400000" scaled="0"/>
              <a:tileRect/>
            </a:gradFill>
          </p:grpSpPr>
          <p:sp>
            <p:nvSpPr>
              <p:cNvPr id="65" name="Freeform 32">
                <a:extLst>
                  <a:ext uri="{FF2B5EF4-FFF2-40B4-BE49-F238E27FC236}">
                    <a16:creationId xmlns:a16="http://schemas.microsoft.com/office/drawing/2014/main" id="{AE94B3EE-D5C0-4BDE-B6AA-7599F048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6" name="Freeform 33">
                <a:extLst>
                  <a:ext uri="{FF2B5EF4-FFF2-40B4-BE49-F238E27FC236}">
                    <a16:creationId xmlns:a16="http://schemas.microsoft.com/office/drawing/2014/main" id="{5EF110E8-C00D-454E-8F3A-ECF2D356676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7" name="Freeform 34">
                <a:extLst>
                  <a:ext uri="{FF2B5EF4-FFF2-40B4-BE49-F238E27FC236}">
                    <a16:creationId xmlns:a16="http://schemas.microsoft.com/office/drawing/2014/main" id="{BFC5F327-6927-4F35-9AF6-C45527BB45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8" name="Freeform 35">
                <a:extLst>
                  <a:ext uri="{FF2B5EF4-FFF2-40B4-BE49-F238E27FC236}">
                    <a16:creationId xmlns:a16="http://schemas.microsoft.com/office/drawing/2014/main" id="{BF2D314D-AEDE-418D-9702-D3CDB98C3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69" name="Freeform 36">
                <a:extLst>
                  <a:ext uri="{FF2B5EF4-FFF2-40B4-BE49-F238E27FC236}">
                    <a16:creationId xmlns:a16="http://schemas.microsoft.com/office/drawing/2014/main" id="{64FD07F8-3CA6-4209-9A9E-30609FE9A3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0" name="Freeform 37">
                <a:extLst>
                  <a:ext uri="{FF2B5EF4-FFF2-40B4-BE49-F238E27FC236}">
                    <a16:creationId xmlns:a16="http://schemas.microsoft.com/office/drawing/2014/main" id="{AB0AE24D-CD49-4B57-82E0-780F62AE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1" name="Freeform 38">
                <a:extLst>
                  <a:ext uri="{FF2B5EF4-FFF2-40B4-BE49-F238E27FC236}">
                    <a16:creationId xmlns:a16="http://schemas.microsoft.com/office/drawing/2014/main" id="{66803AF8-6368-45E6-A0B7-C0C4CFFEEB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2" name="Freeform 39">
                <a:extLst>
                  <a:ext uri="{FF2B5EF4-FFF2-40B4-BE49-F238E27FC236}">
                    <a16:creationId xmlns:a16="http://schemas.microsoft.com/office/drawing/2014/main" id="{B4761E05-2792-472B-A814-9616151CF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3" name="Freeform 40">
                <a:extLst>
                  <a:ext uri="{FF2B5EF4-FFF2-40B4-BE49-F238E27FC236}">
                    <a16:creationId xmlns:a16="http://schemas.microsoft.com/office/drawing/2014/main" id="{40B6A261-9427-4E70-9564-048AD009B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74" name="Rectangle 41">
                <a:extLst>
                  <a:ext uri="{FF2B5EF4-FFF2-40B4-BE49-F238E27FC236}">
                    <a16:creationId xmlns:a16="http://schemas.microsoft.com/office/drawing/2014/main" id="{68BFDFBE-2286-4123-9436-E1DF84AF494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grpSp>
      <p:pic>
        <p:nvPicPr>
          <p:cNvPr id="103" name="Picture 2">
            <a:extLst>
              <a:ext uri="{FF2B5EF4-FFF2-40B4-BE49-F238E27FC236}">
                <a16:creationId xmlns:a16="http://schemas.microsoft.com/office/drawing/2014/main" id="{5B3DE270-418F-47A7-B311-C4D876041D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7B61A5F-4F59-F127-393E-04A8610D4D52}"/>
              </a:ext>
            </a:extLst>
          </p:cNvPr>
          <p:cNvSpPr>
            <a:spLocks noGrp="1"/>
          </p:cNvSpPr>
          <p:nvPr>
            <p:ph type="title"/>
          </p:nvPr>
        </p:nvSpPr>
        <p:spPr>
          <a:xfrm>
            <a:off x="8036041" y="618518"/>
            <a:ext cx="3281003" cy="1478570"/>
          </a:xfrm>
        </p:spPr>
        <p:txBody>
          <a:bodyPr vert="horz" lIns="91440" tIns="45720" rIns="91440" bIns="45720" rtlCol="0" anchor="b">
            <a:normAutofit/>
          </a:bodyPr>
          <a:lstStyle/>
          <a:p>
            <a:r>
              <a:rPr lang="en-US" sz="2800">
                <a:solidFill>
                  <a:srgbClr val="FFFFFF"/>
                </a:solidFill>
              </a:rPr>
              <a:t>Treatment Recurrence</a:t>
            </a:r>
          </a:p>
        </p:txBody>
      </p:sp>
      <p:sp useBgFill="1">
        <p:nvSpPr>
          <p:cNvPr id="105" name="Round Diagonal Corner Rectangle 11">
            <a:extLst>
              <a:ext uri="{FF2B5EF4-FFF2-40B4-BE49-F238E27FC236}">
                <a16:creationId xmlns:a16="http://schemas.microsoft.com/office/drawing/2014/main" id="{A1351C6B-7343-451F-AB4A-1CE294A4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screenshot of a computer">
            <a:extLst>
              <a:ext uri="{FF2B5EF4-FFF2-40B4-BE49-F238E27FC236}">
                <a16:creationId xmlns:a16="http://schemas.microsoft.com/office/drawing/2014/main" id="{653F9FA3-7BF2-B338-C2BA-5D47701C10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949" y="1393381"/>
            <a:ext cx="6752461" cy="4065777"/>
          </a:xfrm>
          <a:prstGeom prst="rect">
            <a:avLst/>
          </a:prstGeom>
        </p:spPr>
      </p:pic>
      <p:sp>
        <p:nvSpPr>
          <p:cNvPr id="4" name="Content Placeholder 3">
            <a:extLst>
              <a:ext uri="{FF2B5EF4-FFF2-40B4-BE49-F238E27FC236}">
                <a16:creationId xmlns:a16="http://schemas.microsoft.com/office/drawing/2014/main" id="{7E1B1AD3-D394-7DAA-2088-42E68F6CD9D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36041" y="2249487"/>
            <a:ext cx="3281004" cy="3541714"/>
          </a:xfrm>
        </p:spPr>
        <p:txBody>
          <a:bodyPr>
            <a:normAutofit/>
          </a:bodyPr>
          <a:lstStyle/>
          <a:p>
            <a:pPr marL="0" indent="0">
              <a:lnSpc>
                <a:spcPct val="110000"/>
              </a:lnSpc>
              <a:spcBef>
                <a:spcPts val="2500"/>
              </a:spcBef>
              <a:buFont typeface="Arial" panose="020B0604020202020204" pitchFamily="34" charset="0"/>
              <a:buNone/>
            </a:pPr>
            <a:r>
              <a:rPr lang="en-US" sz="1200" b="1" dirty="0">
                <a:solidFill>
                  <a:srgbClr val="FFFFFF"/>
                </a:solidFill>
                <a:latin typeface="Arial" panose="020B0604020202020204" pitchFamily="34" charset="0"/>
                <a:cs typeface="Arial" panose="020B0604020202020204" pitchFamily="34" charset="0"/>
              </a:rPr>
              <a:t>Measuring Treatment Recurrence</a:t>
            </a:r>
          </a:p>
          <a:p>
            <a:pPr marL="0" lvl="1" indent="0">
              <a:lnSpc>
                <a:spcPct val="110000"/>
              </a:lnSpc>
              <a:buFont typeface="Arial" panose="020B0604020202020204" pitchFamily="34" charset="0"/>
              <a:buNone/>
            </a:pPr>
            <a:r>
              <a:rPr lang="en-US" sz="1200" dirty="0">
                <a:solidFill>
                  <a:srgbClr val="FFFFFF"/>
                </a:solidFill>
                <a:latin typeface="Arial" panose="020B0604020202020204" pitchFamily="34" charset="0"/>
                <a:cs typeface="Arial" panose="020B0604020202020204" pitchFamily="34" charset="0"/>
              </a:rPr>
              <a:t>Tracking repeated treatments per patient reveals patterns in clinical effectiveness and helps identify overuse or </a:t>
            </a:r>
            <a:r>
              <a:rPr lang="en-GB" sz="1200" dirty="0">
                <a:solidFill>
                  <a:srgbClr val="FFFFFF"/>
                </a:solidFill>
                <a:latin typeface="Arial" panose="020B0604020202020204" pitchFamily="34" charset="0"/>
                <a:cs typeface="Arial" panose="020B0604020202020204" pitchFamily="34" charset="0"/>
              </a:rPr>
              <a:t>inefficiencies</a:t>
            </a:r>
            <a:r>
              <a:rPr lang="en-US" sz="1200" dirty="0">
                <a:solidFill>
                  <a:srgbClr val="FFFFFF"/>
                </a:solidFill>
                <a:latin typeface="Arial" panose="020B0604020202020204" pitchFamily="34" charset="0"/>
                <a:cs typeface="Arial" panose="020B0604020202020204" pitchFamily="34" charset="0"/>
              </a:rPr>
              <a:t>.</a:t>
            </a:r>
          </a:p>
          <a:p>
            <a:pPr marL="0" indent="0">
              <a:lnSpc>
                <a:spcPct val="110000"/>
              </a:lnSpc>
              <a:spcBef>
                <a:spcPts val="2500"/>
              </a:spcBef>
              <a:buFont typeface="Arial" panose="020B0604020202020204" pitchFamily="34" charset="0"/>
              <a:buNone/>
            </a:pPr>
            <a:r>
              <a:rPr lang="en-US" sz="1200" b="1" dirty="0">
                <a:solidFill>
                  <a:srgbClr val="FFFFFF"/>
                </a:solidFill>
                <a:latin typeface="Arial" panose="020B0604020202020204" pitchFamily="34" charset="0"/>
                <a:cs typeface="Arial" panose="020B0604020202020204" pitchFamily="34" charset="0"/>
              </a:rPr>
              <a:t>Implications of High Recurrence</a:t>
            </a:r>
          </a:p>
          <a:p>
            <a:pPr marL="0" lvl="1" indent="0">
              <a:lnSpc>
                <a:spcPct val="110000"/>
              </a:lnSpc>
              <a:buFont typeface="Arial" panose="020B0604020202020204" pitchFamily="34" charset="0"/>
              <a:buNone/>
            </a:pPr>
            <a:r>
              <a:rPr lang="en-US" sz="1200" dirty="0">
                <a:solidFill>
                  <a:srgbClr val="FFFFFF"/>
                </a:solidFill>
                <a:latin typeface="Arial" panose="020B0604020202020204" pitchFamily="34" charset="0"/>
                <a:cs typeface="Arial" panose="020B0604020202020204" pitchFamily="34" charset="0"/>
              </a:rPr>
              <a:t>High recurrence rates may indicate the need to review treatment protocols or consider alternative therapies for better outcomes.</a:t>
            </a:r>
          </a:p>
          <a:p>
            <a:pPr marL="0" indent="0">
              <a:lnSpc>
                <a:spcPct val="110000"/>
              </a:lnSpc>
              <a:spcBef>
                <a:spcPts val="2500"/>
              </a:spcBef>
              <a:buFont typeface="Arial" panose="020B0604020202020204" pitchFamily="34" charset="0"/>
              <a:buNone/>
            </a:pPr>
            <a:r>
              <a:rPr lang="en-US" sz="1200" b="1" dirty="0">
                <a:solidFill>
                  <a:srgbClr val="FFFFFF"/>
                </a:solidFill>
                <a:latin typeface="Arial" panose="020B0604020202020204" pitchFamily="34" charset="0"/>
                <a:cs typeface="Arial" panose="020B0604020202020204" pitchFamily="34" charset="0"/>
              </a:rPr>
              <a:t>Supporting Quality Improvement</a:t>
            </a:r>
          </a:p>
          <a:p>
            <a:pPr marL="0" lvl="1" indent="0">
              <a:lnSpc>
                <a:spcPct val="110000"/>
              </a:lnSpc>
              <a:buFont typeface="Arial" panose="020B0604020202020204" pitchFamily="34" charset="0"/>
              <a:buNone/>
            </a:pPr>
            <a:r>
              <a:rPr lang="en-US" sz="1200" dirty="0">
                <a:solidFill>
                  <a:srgbClr val="FFFFFF"/>
                </a:solidFill>
                <a:latin typeface="Arial" panose="020B0604020202020204" pitchFamily="34" charset="0"/>
                <a:cs typeface="Arial" panose="020B0604020202020204" pitchFamily="34" charset="0"/>
              </a:rPr>
              <a:t>Analyzing treatment recurrence data aids in quality improvement initiatives and supports long-term healthcare planning.</a:t>
            </a:r>
          </a:p>
        </p:txBody>
      </p:sp>
    </p:spTree>
    <p:extLst>
      <p:ext uri="{BB962C8B-B14F-4D97-AF65-F5344CB8AC3E}">
        <p14:creationId xmlns:p14="http://schemas.microsoft.com/office/powerpoint/2010/main" val="350960999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5CE36B-7578-4CD8-A1EE-AB0D9EA3EA56}">
  <ds:schemaRefs>
    <ds:schemaRef ds:uri="http://schemas.microsoft.com/sharepoint/v3/contenttype/forms"/>
  </ds:schemaRefs>
</ds:datastoreItem>
</file>

<file path=customXml/itemProps2.xml><?xml version="1.0" encoding="utf-8"?>
<ds:datastoreItem xmlns:ds="http://schemas.openxmlformats.org/officeDocument/2006/customXml" ds:itemID="{D1765D7D-D5CE-4522-8099-745D903F48D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9145BFBA-5402-4A2B-A3EF-0CBC5F583F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TM04033919[[fn=Circuit]]</Template>
  <TotalTime>955</TotalTime>
  <Words>1990</Words>
  <Application>Microsoft Office PowerPoint</Application>
  <PresentationFormat>Widescreen</PresentationFormat>
  <Paragraphs>201</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Tw Cen MT</vt:lpstr>
      <vt:lpstr>Circuit</vt:lpstr>
      <vt:lpstr>Hospital Management SQL Project Schema Build and Analytics</vt:lpstr>
      <vt:lpstr>Data Definition &amp; Schema Setup</vt:lpstr>
      <vt:lpstr>Initial Raw Schema</vt:lpstr>
      <vt:lpstr>SQL Script: Primary Keys</vt:lpstr>
      <vt:lpstr>Schema Progress After PKs</vt:lpstr>
      <vt:lpstr>Data Standardisation &amp; Cleaning</vt:lpstr>
      <vt:lpstr>Data Typing &amp; Foreign Keys</vt:lpstr>
      <vt:lpstr>Final ERD Diagram</vt:lpstr>
      <vt:lpstr>Data Transformation</vt:lpstr>
      <vt:lpstr>SQL Script: Type Conversion</vt:lpstr>
      <vt:lpstr>Operational Efficiency &amp; Hospital Performance</vt:lpstr>
      <vt:lpstr>Analysis Peak Busy Days</vt:lpstr>
      <vt:lpstr>Analysis Doctor Workload</vt:lpstr>
      <vt:lpstr>Analysis No-Show Impact</vt:lpstr>
      <vt:lpstr>Analysis Departmental Success</vt:lpstr>
      <vt:lpstr>Financial &amp; Insurance Performance</vt:lpstr>
      <vt:lpstr>Insurance Revenue Streams</vt:lpstr>
      <vt:lpstr>Aging Accounts Receivable</vt:lpstr>
      <vt:lpstr>Treatment Profitability</vt:lpstr>
      <vt:lpstr>Patient &amp; Clinical Insights</vt:lpstr>
      <vt:lpstr>Patient Retention (Loyalty)</vt:lpstr>
      <vt:lpstr>Age Group Demographics</vt:lpstr>
      <vt:lpstr>Gender Distribution</vt:lpstr>
      <vt:lpstr>Strategic Planning &amp; Quality Control</vt:lpstr>
      <vt:lpstr>Doctor–Patient Ratio</vt:lpstr>
      <vt:lpstr>Unbilled Treatments (Revenue Leakage)</vt:lpstr>
      <vt:lpstr>Treatment Recurrence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Smaragdi Albu (STU163285)</cp:lastModifiedBy>
  <cp:revision>10</cp:revision>
  <dcterms:created xsi:type="dcterms:W3CDTF">2025-08-21T22:55:37Z</dcterms:created>
  <dcterms:modified xsi:type="dcterms:W3CDTF">2025-12-25T14:22:09Z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